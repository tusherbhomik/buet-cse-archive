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18" r:id="rId3"/>
    <p:sldId id="319" r:id="rId4"/>
    <p:sldId id="355" r:id="rId5"/>
    <p:sldId id="356" r:id="rId6"/>
    <p:sldId id="354" r:id="rId7"/>
    <p:sldId id="370" r:id="rId8"/>
    <p:sldId id="353" r:id="rId9"/>
    <p:sldId id="321" r:id="rId10"/>
    <p:sldId id="322" r:id="rId11"/>
    <p:sldId id="360" r:id="rId12"/>
    <p:sldId id="357" r:id="rId13"/>
    <p:sldId id="323" r:id="rId14"/>
    <p:sldId id="371" r:id="rId15"/>
    <p:sldId id="358" r:id="rId16"/>
    <p:sldId id="327" r:id="rId17"/>
    <p:sldId id="328" r:id="rId18"/>
    <p:sldId id="329" r:id="rId19"/>
    <p:sldId id="359" r:id="rId20"/>
    <p:sldId id="405" r:id="rId21"/>
    <p:sldId id="373" r:id="rId22"/>
    <p:sldId id="374" r:id="rId23"/>
    <p:sldId id="375" r:id="rId24"/>
    <p:sldId id="377" r:id="rId25"/>
    <p:sldId id="379" r:id="rId26"/>
    <p:sldId id="380" r:id="rId27"/>
    <p:sldId id="382" r:id="rId28"/>
    <p:sldId id="384" r:id="rId29"/>
    <p:sldId id="386" r:id="rId30"/>
    <p:sldId id="388" r:id="rId31"/>
    <p:sldId id="389" r:id="rId32"/>
    <p:sldId id="391" r:id="rId33"/>
    <p:sldId id="392" r:id="rId34"/>
    <p:sldId id="393" r:id="rId35"/>
    <p:sldId id="406" r:id="rId36"/>
    <p:sldId id="330" r:id="rId37"/>
    <p:sldId id="361" r:id="rId38"/>
    <p:sldId id="362" r:id="rId39"/>
    <p:sldId id="331" r:id="rId40"/>
    <p:sldId id="332" r:id="rId41"/>
    <p:sldId id="335" r:id="rId42"/>
    <p:sldId id="337" r:id="rId43"/>
    <p:sldId id="407"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1267"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 Id="rId4" Type="http://schemas.openxmlformats.org/officeDocument/2006/relationships/image" Target="../media/image21.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ED5FCE-5CD6-4EC0-907C-132E2C0FCFA9}" type="datetimeFigureOut">
              <a:rPr lang="en-US" smtClean="0"/>
              <a:pPr/>
              <a:t>11/16/2021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D0100F-3381-41C7-9B6D-B30E012C79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7"/>
          <p:cNvSpPr>
            <a:spLocks noGrp="1" noChangeArrowheads="1"/>
          </p:cNvSpPr>
          <p:nvPr>
            <p:ph type="sldNum" sz="quarter" idx="5"/>
          </p:nvPr>
        </p:nvSpPr>
        <p:spPr>
          <a:noFill/>
        </p:spPr>
        <p:txBody>
          <a:bodyPr/>
          <a:lstStyle/>
          <a:p>
            <a:fld id="{77EAD998-0E8A-4BA8-B229-881B77696925}" type="slidenum">
              <a:rPr lang="en-US" smtClean="0"/>
              <a:pPr/>
              <a:t>2</a:t>
            </a:fld>
            <a:endParaRPr lang="en-US" smtClean="0"/>
          </a:p>
        </p:txBody>
      </p:sp>
      <p:sp>
        <p:nvSpPr>
          <p:cNvPr id="418819" name="Rectangle 2"/>
          <p:cNvSpPr>
            <a:spLocks noGrp="1" noRot="1" noChangeAspect="1" noChangeArrowheads="1" noTextEdit="1"/>
          </p:cNvSpPr>
          <p:nvPr>
            <p:ph type="sldImg"/>
          </p:nvPr>
        </p:nvSpPr>
        <p:spPr>
          <a:solidFill>
            <a:srgbClr val="FFFFFF"/>
          </a:solidFill>
          <a:ln/>
        </p:spPr>
      </p:sp>
      <p:sp>
        <p:nvSpPr>
          <p:cNvPr id="418820" name="Rectangle 3"/>
          <p:cNvSpPr>
            <a:spLocks noGrp="1" noChangeArrowheads="1"/>
          </p:cNvSpPr>
          <p:nvPr>
            <p:ph type="body" idx="1"/>
          </p:nvPr>
        </p:nvSpPr>
        <p:spPr>
          <a:solidFill>
            <a:srgbClr val="FFFFFF"/>
          </a:solidFill>
          <a:ln>
            <a:solidFill>
              <a:srgbClr val="000000"/>
            </a:solidFill>
          </a:ln>
        </p:spPr>
        <p:txBody>
          <a:bodyPr/>
          <a:lstStyle/>
          <a:p>
            <a:r>
              <a:rPr lang="en-US" smtClean="0"/>
              <a:t>Students should already be familiar with lists.</a:t>
            </a:r>
          </a:p>
          <a:p>
            <a:endParaRPr lang="en-US" smtClean="0"/>
          </a:p>
          <a:p>
            <a:r>
              <a:rPr lang="en-US" smtClean="0"/>
              <a:t>Chapter objective: Use algorithm analysis in a familiar context to compare implementations.</a:t>
            </a:r>
          </a:p>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7"/>
          <p:cNvSpPr>
            <a:spLocks noGrp="1" noChangeArrowheads="1"/>
          </p:cNvSpPr>
          <p:nvPr>
            <p:ph type="sldNum" sz="quarter" idx="5"/>
          </p:nvPr>
        </p:nvSpPr>
        <p:spPr>
          <a:noFill/>
        </p:spPr>
        <p:txBody>
          <a:bodyPr/>
          <a:lstStyle/>
          <a:p>
            <a:fld id="{46A53445-3691-4CAD-B399-C5EA577B90BA}" type="slidenum">
              <a:rPr lang="en-US" smtClean="0"/>
              <a:pPr/>
              <a:t>3</a:t>
            </a:fld>
            <a:endParaRPr lang="en-US" smtClean="0"/>
          </a:p>
        </p:txBody>
      </p:sp>
      <p:sp>
        <p:nvSpPr>
          <p:cNvPr id="419843" name="Rectangle 2"/>
          <p:cNvSpPr>
            <a:spLocks noGrp="1" noRot="1" noChangeAspect="1" noChangeArrowheads="1" noTextEdit="1"/>
          </p:cNvSpPr>
          <p:nvPr>
            <p:ph type="sldImg"/>
          </p:nvPr>
        </p:nvSpPr>
        <p:spPr>
          <a:solidFill>
            <a:srgbClr val="FFFFFF"/>
          </a:solidFill>
          <a:ln/>
        </p:spPr>
      </p:sp>
      <p:sp>
        <p:nvSpPr>
          <p:cNvPr id="419844" name="Rectangle 3"/>
          <p:cNvSpPr>
            <a:spLocks noGrp="1" noChangeArrowheads="1"/>
          </p:cNvSpPr>
          <p:nvPr>
            <p:ph type="body" idx="1"/>
          </p:nvPr>
        </p:nvSpPr>
        <p:spPr>
          <a:solidFill>
            <a:srgbClr val="FFFFFF"/>
          </a:solidFill>
          <a:ln>
            <a:solidFill>
              <a:srgbClr val="000000"/>
            </a:solidFill>
          </a:ln>
        </p:spPr>
        <p:txBody>
          <a:bodyPr/>
          <a:lstStyle/>
          <a:p>
            <a:r>
              <a:rPr lang="en-US" smtClean="0"/>
              <a:t>Here, 12 is the “current” node. We use a bar to its left to indicate this in the notation.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7"/>
          <p:cNvSpPr>
            <a:spLocks noGrp="1" noChangeArrowheads="1"/>
          </p:cNvSpPr>
          <p:nvPr>
            <p:ph type="sldNum" sz="quarter" idx="5"/>
          </p:nvPr>
        </p:nvSpPr>
        <p:spPr>
          <a:noFill/>
        </p:spPr>
        <p:txBody>
          <a:bodyPr/>
          <a:lstStyle/>
          <a:p>
            <a:fld id="{D6210325-500C-4049-917F-B9656931151B}" type="slidenum">
              <a:rPr lang="en-US" smtClean="0"/>
              <a:pPr/>
              <a:t>9</a:t>
            </a:fld>
            <a:endParaRPr lang="en-US" smtClean="0"/>
          </a:p>
        </p:txBody>
      </p:sp>
      <p:sp>
        <p:nvSpPr>
          <p:cNvPr id="421891" name="Rectangle 2"/>
          <p:cNvSpPr>
            <a:spLocks noGrp="1" noRot="1" noChangeAspect="1" noChangeArrowheads="1" noTextEdit="1"/>
          </p:cNvSpPr>
          <p:nvPr>
            <p:ph type="sldImg"/>
          </p:nvPr>
        </p:nvSpPr>
        <p:spPr>
          <a:solidFill>
            <a:srgbClr val="FFFFFF"/>
          </a:solidFill>
          <a:ln/>
        </p:spPr>
      </p:sp>
      <p:sp>
        <p:nvSpPr>
          <p:cNvPr id="421892"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7"/>
          <p:cNvSpPr>
            <a:spLocks noGrp="1" noChangeArrowheads="1"/>
          </p:cNvSpPr>
          <p:nvPr>
            <p:ph type="sldNum" sz="quarter" idx="5"/>
          </p:nvPr>
        </p:nvSpPr>
        <p:spPr>
          <a:noFill/>
        </p:spPr>
        <p:txBody>
          <a:bodyPr/>
          <a:lstStyle/>
          <a:p>
            <a:fld id="{1E4F2E94-D1BB-4A52-BC62-9F6EE2442705}" type="slidenum">
              <a:rPr lang="en-US" smtClean="0"/>
              <a:pPr/>
              <a:t>10</a:t>
            </a:fld>
            <a:endParaRPr lang="en-US" smtClean="0"/>
          </a:p>
        </p:txBody>
      </p:sp>
      <p:sp>
        <p:nvSpPr>
          <p:cNvPr id="422915" name="Rectangle 2"/>
          <p:cNvSpPr>
            <a:spLocks noGrp="1" noRot="1" noChangeAspect="1" noChangeArrowheads="1" noTextEdit="1"/>
          </p:cNvSpPr>
          <p:nvPr>
            <p:ph type="sldImg"/>
          </p:nvPr>
        </p:nvSpPr>
        <p:spPr>
          <a:solidFill>
            <a:srgbClr val="FFFFFF"/>
          </a:solidFill>
          <a:ln/>
        </p:spPr>
      </p:sp>
      <p:sp>
        <p:nvSpPr>
          <p:cNvPr id="42291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7"/>
          <p:cNvSpPr>
            <a:spLocks noGrp="1" noChangeArrowheads="1"/>
          </p:cNvSpPr>
          <p:nvPr>
            <p:ph type="sldNum" sz="quarter" idx="5"/>
          </p:nvPr>
        </p:nvSpPr>
        <p:spPr>
          <a:noFill/>
        </p:spPr>
        <p:txBody>
          <a:bodyPr/>
          <a:lstStyle/>
          <a:p>
            <a:fld id="{082FA6A1-8BF3-4690-B60B-55EE7B267DC6}" type="slidenum">
              <a:rPr lang="en-US" smtClean="0"/>
              <a:pPr/>
              <a:t>13</a:t>
            </a:fld>
            <a:endParaRPr lang="en-US" smtClean="0"/>
          </a:p>
        </p:txBody>
      </p:sp>
      <p:sp>
        <p:nvSpPr>
          <p:cNvPr id="423939" name="Rectangle 2"/>
          <p:cNvSpPr>
            <a:spLocks noGrp="1" noRot="1" noChangeAspect="1" noChangeArrowheads="1" noTextEdit="1"/>
          </p:cNvSpPr>
          <p:nvPr>
            <p:ph type="sldImg"/>
          </p:nvPr>
        </p:nvSpPr>
        <p:spPr>
          <a:solidFill>
            <a:srgbClr val="FFFFFF"/>
          </a:solidFill>
          <a:ln/>
        </p:spPr>
      </p:sp>
      <p:sp>
        <p:nvSpPr>
          <p:cNvPr id="423940" name="Rectangle 3"/>
          <p:cNvSpPr>
            <a:spLocks noGrp="1" noChangeArrowheads="1"/>
          </p:cNvSpPr>
          <p:nvPr>
            <p:ph type="body" idx="1"/>
          </p:nvPr>
        </p:nvSpPr>
        <p:spPr>
          <a:solidFill>
            <a:srgbClr val="FFFFFF"/>
          </a:solidFill>
          <a:ln>
            <a:solidFill>
              <a:srgbClr val="000000"/>
            </a:solidFill>
          </a:ln>
        </p:spPr>
        <p:txBody>
          <a:bodyPr/>
          <a:lstStyle/>
          <a:p>
            <a:r>
              <a:rPr lang="en-US" smtClean="0"/>
              <a:t>Push items up/down.  Cost: </a:t>
            </a:r>
            <a:r>
              <a:rPr lang="en-US" smtClean="0">
                <a:sym typeface="Symbol" pitchFamily="26" charset="2"/>
              </a:rPr>
              <a:t></a:t>
            </a:r>
            <a:r>
              <a:rPr lang="en-US" smtClean="0"/>
              <a:t>(</a:t>
            </a:r>
            <a:r>
              <a:rPr lang="en-US" i="1" smtClean="0"/>
              <a:t>n</a:t>
            </a:r>
            <a:r>
              <a:rPr lang="en-US"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7"/>
          <p:cNvSpPr>
            <a:spLocks noGrp="1" noChangeArrowheads="1"/>
          </p:cNvSpPr>
          <p:nvPr>
            <p:ph type="sldNum" sz="quarter" idx="5"/>
          </p:nvPr>
        </p:nvSpPr>
        <p:spPr>
          <a:noFill/>
        </p:spPr>
        <p:txBody>
          <a:bodyPr/>
          <a:lstStyle/>
          <a:p>
            <a:fld id="{082FA6A1-8BF3-4690-B60B-55EE7B267DC6}" type="slidenum">
              <a:rPr lang="en-US" smtClean="0"/>
              <a:pPr/>
              <a:t>14</a:t>
            </a:fld>
            <a:endParaRPr lang="en-US" smtClean="0"/>
          </a:p>
        </p:txBody>
      </p:sp>
      <p:sp>
        <p:nvSpPr>
          <p:cNvPr id="423939" name="Rectangle 2"/>
          <p:cNvSpPr>
            <a:spLocks noGrp="1" noRot="1" noChangeAspect="1" noChangeArrowheads="1" noTextEdit="1"/>
          </p:cNvSpPr>
          <p:nvPr>
            <p:ph type="sldImg"/>
          </p:nvPr>
        </p:nvSpPr>
        <p:spPr>
          <a:solidFill>
            <a:srgbClr val="FFFFFF"/>
          </a:solidFill>
          <a:ln/>
        </p:spPr>
      </p:sp>
      <p:sp>
        <p:nvSpPr>
          <p:cNvPr id="423940" name="Rectangle 3"/>
          <p:cNvSpPr>
            <a:spLocks noGrp="1" noChangeArrowheads="1"/>
          </p:cNvSpPr>
          <p:nvPr>
            <p:ph type="body" idx="1"/>
          </p:nvPr>
        </p:nvSpPr>
        <p:spPr>
          <a:solidFill>
            <a:srgbClr val="FFFFFF"/>
          </a:solidFill>
          <a:ln>
            <a:solidFill>
              <a:srgbClr val="000000"/>
            </a:solidFill>
          </a:ln>
        </p:spPr>
        <p:txBody>
          <a:bodyPr/>
          <a:lstStyle/>
          <a:p>
            <a:r>
              <a:rPr lang="en-US" smtClean="0"/>
              <a:t>Push items up/down.  Cost: </a:t>
            </a:r>
            <a:r>
              <a:rPr lang="en-US" smtClean="0">
                <a:sym typeface="Symbol" pitchFamily="26" charset="2"/>
              </a:rPr>
              <a:t></a:t>
            </a:r>
            <a:r>
              <a:rPr lang="en-US" smtClean="0"/>
              <a:t>(</a:t>
            </a:r>
            <a:r>
              <a:rPr lang="en-US" i="1" smtClean="0"/>
              <a:t>n</a:t>
            </a:r>
            <a:r>
              <a:rPr lang="en-US" smtClean="0"/>
              <a:t>).</a:t>
            </a:r>
          </a:p>
        </p:txBody>
      </p:sp>
    </p:spTree>
    <p:extLst>
      <p:ext uri="{BB962C8B-B14F-4D97-AF65-F5344CB8AC3E}">
        <p14:creationId xmlns:p14="http://schemas.microsoft.com/office/powerpoint/2010/main" val="3962435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7"/>
          <p:cNvSpPr>
            <a:spLocks noGrp="1" noChangeArrowheads="1"/>
          </p:cNvSpPr>
          <p:nvPr>
            <p:ph type="sldNum" sz="quarter" idx="5"/>
          </p:nvPr>
        </p:nvSpPr>
        <p:spPr>
          <a:noFill/>
        </p:spPr>
        <p:txBody>
          <a:bodyPr/>
          <a:lstStyle/>
          <a:p>
            <a:fld id="{570EEFC5-414E-4A6A-99C7-8056EA7CCAEB}" type="slidenum">
              <a:rPr lang="en-US" smtClean="0"/>
              <a:pPr/>
              <a:t>16</a:t>
            </a:fld>
            <a:endParaRPr lang="en-US" smtClean="0"/>
          </a:p>
        </p:txBody>
      </p:sp>
      <p:sp>
        <p:nvSpPr>
          <p:cNvPr id="428035" name="Rectangle 2"/>
          <p:cNvSpPr>
            <a:spLocks noGrp="1" noRot="1" noChangeAspect="1" noChangeArrowheads="1" noTextEdit="1"/>
          </p:cNvSpPr>
          <p:nvPr>
            <p:ph type="sldImg"/>
          </p:nvPr>
        </p:nvSpPr>
        <p:spPr>
          <a:solidFill>
            <a:srgbClr val="FFFFFF"/>
          </a:solidFill>
          <a:ln/>
        </p:spPr>
      </p:sp>
      <p:sp>
        <p:nvSpPr>
          <p:cNvPr id="42803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7"/>
          <p:cNvSpPr>
            <a:spLocks noGrp="1" noChangeArrowheads="1"/>
          </p:cNvSpPr>
          <p:nvPr>
            <p:ph type="sldNum" sz="quarter" idx="5"/>
          </p:nvPr>
        </p:nvSpPr>
        <p:spPr>
          <a:noFill/>
        </p:spPr>
        <p:txBody>
          <a:bodyPr/>
          <a:lstStyle/>
          <a:p>
            <a:fld id="{A3D38B1A-46D1-4678-B6C0-539A58B99929}" type="slidenum">
              <a:rPr lang="en-US" smtClean="0"/>
              <a:pPr/>
              <a:t>17</a:t>
            </a:fld>
            <a:endParaRPr lang="en-US" smtClean="0"/>
          </a:p>
        </p:txBody>
      </p:sp>
      <p:sp>
        <p:nvSpPr>
          <p:cNvPr id="429059" name="Rectangle 2"/>
          <p:cNvSpPr>
            <a:spLocks noGrp="1" noRot="1" noChangeAspect="1" noChangeArrowheads="1" noTextEdit="1"/>
          </p:cNvSpPr>
          <p:nvPr>
            <p:ph type="sldImg"/>
          </p:nvPr>
        </p:nvSpPr>
        <p:spPr>
          <a:solidFill>
            <a:srgbClr val="FFFFFF"/>
          </a:solidFill>
          <a:ln/>
        </p:spPr>
      </p:sp>
      <p:sp>
        <p:nvSpPr>
          <p:cNvPr id="429060"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7"/>
          <p:cNvSpPr>
            <a:spLocks noGrp="1" noChangeArrowheads="1"/>
          </p:cNvSpPr>
          <p:nvPr>
            <p:ph type="sldNum" sz="quarter" idx="5"/>
          </p:nvPr>
        </p:nvSpPr>
        <p:spPr>
          <a:noFill/>
        </p:spPr>
        <p:txBody>
          <a:bodyPr/>
          <a:lstStyle/>
          <a:p>
            <a:fld id="{40D9F114-6EC2-468B-B0CE-F30EFCE07DFB}" type="slidenum">
              <a:rPr lang="en-US" smtClean="0"/>
              <a:pPr/>
              <a:t>18</a:t>
            </a:fld>
            <a:endParaRPr lang="en-US" smtClean="0"/>
          </a:p>
        </p:txBody>
      </p:sp>
      <p:sp>
        <p:nvSpPr>
          <p:cNvPr id="430083" name="Rectangle 2"/>
          <p:cNvSpPr>
            <a:spLocks noGrp="1" noRot="1" noChangeAspect="1" noChangeArrowheads="1" noTextEdit="1"/>
          </p:cNvSpPr>
          <p:nvPr>
            <p:ph type="sldImg"/>
          </p:nvPr>
        </p:nvSpPr>
        <p:spPr>
          <a:solidFill>
            <a:srgbClr val="FFFFFF"/>
          </a:solidFill>
          <a:ln/>
        </p:spPr>
      </p:sp>
      <p:sp>
        <p:nvSpPr>
          <p:cNvPr id="430084"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p:cNvSpPr>
            <a:spLocks noGrp="1" noChangeArrowheads="1"/>
          </p:cNvSpPr>
          <p:nvPr>
            <p:ph type="sldNum" sz="quarter" idx="5"/>
          </p:nvPr>
        </p:nvSpPr>
        <p:spPr>
          <a:noFill/>
        </p:spPr>
        <p:txBody>
          <a:bodyPr/>
          <a:lstStyle/>
          <a:p>
            <a:fld id="{7C95802B-6A95-4538-BB2B-49221FA2F657}" type="slidenum">
              <a:rPr lang="en-US" smtClean="0"/>
              <a:pPr/>
              <a:t>36</a:t>
            </a:fld>
            <a:endParaRPr lang="en-US" smtClean="0"/>
          </a:p>
        </p:txBody>
      </p:sp>
      <p:sp>
        <p:nvSpPr>
          <p:cNvPr id="431107" name="Rectangle 2"/>
          <p:cNvSpPr>
            <a:spLocks noGrp="1" noRot="1" noChangeAspect="1" noChangeArrowheads="1" noTextEdit="1"/>
          </p:cNvSpPr>
          <p:nvPr>
            <p:ph type="sldImg"/>
          </p:nvPr>
        </p:nvSpPr>
        <p:spPr>
          <a:solidFill>
            <a:srgbClr val="FFFFFF"/>
          </a:solidFill>
          <a:ln/>
        </p:spPr>
      </p:sp>
      <p:sp>
        <p:nvSpPr>
          <p:cNvPr id="431108"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7"/>
          <p:cNvSpPr>
            <a:spLocks noGrp="1" noChangeArrowheads="1"/>
          </p:cNvSpPr>
          <p:nvPr>
            <p:ph type="sldNum" sz="quarter" idx="5"/>
          </p:nvPr>
        </p:nvSpPr>
        <p:spPr>
          <a:noFill/>
        </p:spPr>
        <p:txBody>
          <a:bodyPr/>
          <a:lstStyle/>
          <a:p>
            <a:fld id="{FE132F70-A97C-42B8-9EF2-56F98A9D077E}" type="slidenum">
              <a:rPr lang="en-US" smtClean="0"/>
              <a:pPr/>
              <a:t>39</a:t>
            </a:fld>
            <a:endParaRPr lang="en-US" smtClean="0"/>
          </a:p>
        </p:txBody>
      </p:sp>
      <p:sp>
        <p:nvSpPr>
          <p:cNvPr id="432131" name="Rectangle 2"/>
          <p:cNvSpPr>
            <a:spLocks noGrp="1" noRot="1" noChangeAspect="1" noChangeArrowheads="1" noTextEdit="1"/>
          </p:cNvSpPr>
          <p:nvPr>
            <p:ph type="sldImg"/>
          </p:nvPr>
        </p:nvSpPr>
        <p:spPr>
          <a:solidFill>
            <a:srgbClr val="FFFFFF"/>
          </a:solidFill>
          <a:ln/>
        </p:spPr>
      </p:sp>
      <p:sp>
        <p:nvSpPr>
          <p:cNvPr id="432132" name="Rectangle 3"/>
          <p:cNvSpPr>
            <a:spLocks noGrp="1" noChangeArrowheads="1"/>
          </p:cNvSpPr>
          <p:nvPr>
            <p:ph type="body" idx="1"/>
          </p:nvPr>
        </p:nvSpPr>
        <p:spPr>
          <a:solidFill>
            <a:srgbClr val="FFFFFF"/>
          </a:solidFill>
          <a:ln>
            <a:solidFill>
              <a:srgbClr val="000000"/>
            </a:solidFill>
          </a:ln>
        </p:spPr>
        <p:txBody>
          <a:bodyPr/>
          <a:lstStyle/>
          <a:p>
            <a:r>
              <a:rPr lang="en-US" dirty="0" smtClean="0"/>
              <a:t>Naïve approach: </a:t>
            </a:r>
            <a:r>
              <a:rPr lang="en-US" dirty="0" err="1" smtClean="0"/>
              <a:t>Curr</a:t>
            </a:r>
            <a:r>
              <a:rPr lang="en-US" dirty="0" smtClean="0"/>
              <a:t> points to first node in right partition.  We want to insert 10 at the beginning of the right partition.  No access if available to the node with value 23.  How can we do the insert?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7"/>
          <p:cNvSpPr>
            <a:spLocks noGrp="1" noChangeArrowheads="1"/>
          </p:cNvSpPr>
          <p:nvPr>
            <p:ph type="sldNum" sz="quarter" idx="5"/>
          </p:nvPr>
        </p:nvSpPr>
        <p:spPr>
          <a:noFill/>
        </p:spPr>
        <p:txBody>
          <a:bodyPr/>
          <a:lstStyle/>
          <a:p>
            <a:fld id="{F48B0410-6B7B-407F-8661-CF5A47ED93AF}" type="slidenum">
              <a:rPr lang="en-US" smtClean="0"/>
              <a:pPr/>
              <a:t>40</a:t>
            </a:fld>
            <a:endParaRPr lang="en-US" smtClean="0"/>
          </a:p>
        </p:txBody>
      </p:sp>
      <p:sp>
        <p:nvSpPr>
          <p:cNvPr id="433155" name="Rectangle 2"/>
          <p:cNvSpPr>
            <a:spLocks noGrp="1" noRot="1" noChangeAspect="1" noChangeArrowheads="1" noTextEdit="1"/>
          </p:cNvSpPr>
          <p:nvPr>
            <p:ph type="sldImg"/>
          </p:nvPr>
        </p:nvSpPr>
        <p:spPr>
          <a:solidFill>
            <a:srgbClr val="FFFFFF"/>
          </a:solidFill>
          <a:ln/>
        </p:spPr>
      </p:sp>
      <p:sp>
        <p:nvSpPr>
          <p:cNvPr id="433156" name="Rectangle 3"/>
          <p:cNvSpPr>
            <a:spLocks noGrp="1" noChangeArrowheads="1"/>
          </p:cNvSpPr>
          <p:nvPr>
            <p:ph type="body" idx="1"/>
          </p:nvPr>
        </p:nvSpPr>
        <p:spPr>
          <a:solidFill>
            <a:srgbClr val="FFFFFF"/>
          </a:solidFill>
          <a:ln>
            <a:solidFill>
              <a:srgbClr val="000000"/>
            </a:solidFill>
          </a:ln>
        </p:spPr>
        <p:txBody>
          <a:bodyPr/>
          <a:lstStyle/>
          <a:p>
            <a:r>
              <a:rPr lang="en-US" dirty="0" smtClean="0"/>
              <a:t>Alternative Implementation: </a:t>
            </a:r>
            <a:r>
              <a:rPr lang="en-US" dirty="0" err="1" smtClean="0"/>
              <a:t>Curr</a:t>
            </a:r>
            <a:r>
              <a:rPr lang="en-US" dirty="0" smtClean="0"/>
              <a:t> points to the node preceding the actual first node in the right partition.  Now we can do the insert.  Also note use of the header node.  The header node eliminates special cases in the code.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7"/>
          <p:cNvSpPr>
            <a:spLocks noGrp="1" noChangeArrowheads="1"/>
          </p:cNvSpPr>
          <p:nvPr>
            <p:ph type="sldNum" sz="quarter" idx="5"/>
          </p:nvPr>
        </p:nvSpPr>
        <p:spPr>
          <a:noFill/>
        </p:spPr>
        <p:txBody>
          <a:bodyPr/>
          <a:lstStyle/>
          <a:p>
            <a:fld id="{E33F8716-CE6B-455E-948F-92EC6FDFDA73}" type="slidenum">
              <a:rPr lang="en-US" smtClean="0"/>
              <a:pPr/>
              <a:t>41</a:t>
            </a:fld>
            <a:endParaRPr lang="en-US" smtClean="0"/>
          </a:p>
        </p:txBody>
      </p:sp>
      <p:sp>
        <p:nvSpPr>
          <p:cNvPr id="436227" name="Rectangle 2"/>
          <p:cNvSpPr>
            <a:spLocks noGrp="1" noRot="1" noChangeAspect="1" noChangeArrowheads="1" noTextEdit="1"/>
          </p:cNvSpPr>
          <p:nvPr>
            <p:ph type="sldImg"/>
          </p:nvPr>
        </p:nvSpPr>
        <p:spPr>
          <a:solidFill>
            <a:srgbClr val="FFFFFF"/>
          </a:solidFill>
          <a:ln/>
        </p:spPr>
      </p:sp>
      <p:sp>
        <p:nvSpPr>
          <p:cNvPr id="436228"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p:cNvSpPr>
            <a:spLocks noGrp="1" noChangeArrowheads="1"/>
          </p:cNvSpPr>
          <p:nvPr>
            <p:ph type="sldNum" sz="quarter" idx="5"/>
          </p:nvPr>
        </p:nvSpPr>
        <p:spPr>
          <a:noFill/>
        </p:spPr>
        <p:txBody>
          <a:bodyPr/>
          <a:lstStyle/>
          <a:p>
            <a:fld id="{D36F4D12-67DC-4596-A340-2DA87907154B}" type="slidenum">
              <a:rPr lang="en-US" smtClean="0"/>
              <a:pPr/>
              <a:t>42</a:t>
            </a:fld>
            <a:endParaRPr lang="en-US" smtClean="0"/>
          </a:p>
        </p:txBody>
      </p:sp>
      <p:sp>
        <p:nvSpPr>
          <p:cNvPr id="438275" name="Rectangle 2"/>
          <p:cNvSpPr>
            <a:spLocks noGrp="1" noRot="1" noChangeAspect="1" noChangeArrowheads="1" noTextEdit="1"/>
          </p:cNvSpPr>
          <p:nvPr>
            <p:ph type="sldImg"/>
          </p:nvPr>
        </p:nvSpPr>
        <p:spPr>
          <a:solidFill>
            <a:srgbClr val="FFFFFF"/>
          </a:solidFill>
          <a:ln/>
        </p:spPr>
      </p:sp>
      <p:sp>
        <p:nvSpPr>
          <p:cNvPr id="43827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2/29/2016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2/29/2016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2/29/2016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2/29/2016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2/29/2016</a:t>
            </a:r>
            <a:endParaRPr lang="en-US"/>
          </a:p>
        </p:txBody>
      </p:sp>
      <p:sp>
        <p:nvSpPr>
          <p:cNvPr id="8" name="Footer Placeholder 7"/>
          <p:cNvSpPr>
            <a:spLocks noGrp="1"/>
          </p:cNvSpPr>
          <p:nvPr>
            <p:ph type="ftr" sz="quarter" idx="11"/>
          </p:nvPr>
        </p:nvSpPr>
        <p:spPr/>
        <p:txBody>
          <a:bodyPr/>
          <a:lstStyle/>
          <a:p>
            <a:r>
              <a:rPr lang="en-US" smtClean="0"/>
              <a:t>Course Teacher: Prof. Sohel Rahman</a:t>
            </a:r>
            <a:endParaRPr lang="en-US"/>
          </a:p>
        </p:txBody>
      </p:sp>
      <p:sp>
        <p:nvSpPr>
          <p:cNvPr id="9" name="Slide Number Placeholder 8"/>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2/29/2016</a:t>
            </a:r>
            <a:endParaRPr lang="en-US"/>
          </a:p>
        </p:txBody>
      </p:sp>
      <p:sp>
        <p:nvSpPr>
          <p:cNvPr id="4" name="Footer Placeholder 3"/>
          <p:cNvSpPr>
            <a:spLocks noGrp="1"/>
          </p:cNvSpPr>
          <p:nvPr>
            <p:ph type="ftr" sz="quarter" idx="11"/>
          </p:nvPr>
        </p:nvSpPr>
        <p:spPr/>
        <p:txBody>
          <a:bodyPr/>
          <a:lstStyle/>
          <a:p>
            <a:r>
              <a:rPr lang="en-US" smtClean="0"/>
              <a:t>Course Teacher: Prof. Sohel Rahman</a:t>
            </a:r>
            <a:endParaRPr lang="en-US"/>
          </a:p>
        </p:txBody>
      </p:sp>
      <p:sp>
        <p:nvSpPr>
          <p:cNvPr id="5" name="Slide Number Placeholder 4"/>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2/29/2016</a:t>
            </a:r>
            <a:endParaRPr lang="en-US"/>
          </a:p>
        </p:txBody>
      </p:sp>
      <p:sp>
        <p:nvSpPr>
          <p:cNvPr id="3" name="Footer Placeholder 2"/>
          <p:cNvSpPr>
            <a:spLocks noGrp="1"/>
          </p:cNvSpPr>
          <p:nvPr>
            <p:ph type="ftr" sz="quarter" idx="11"/>
          </p:nvPr>
        </p:nvSpPr>
        <p:spPr/>
        <p:txBody>
          <a:bodyPr/>
          <a:lstStyle/>
          <a:p>
            <a:r>
              <a:rPr lang="en-US" smtClean="0"/>
              <a:t>Course Teacher: Prof. Sohel Rahman</a:t>
            </a:r>
            <a:endParaRPr lang="en-US"/>
          </a:p>
        </p:txBody>
      </p:sp>
      <p:sp>
        <p:nvSpPr>
          <p:cNvPr id="4" name="Slide Number Placeholder 3"/>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2/29/2016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2/29/2016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2/29/2016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2/29/2016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993D3EC-A54F-4015-B37A-DAFE3575B37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2/29/2016</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Course Teacher: Prof. Sohel Rahman</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93D3EC-A54F-4015-B37A-DAFE3575B37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5.png"/><Relationship Id="rId5" Type="http://schemas.openxmlformats.org/officeDocument/2006/relationships/oleObject" Target="../embeddings/oleObject5.bin"/><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9.png"/><Relationship Id="rId5" Type="http://schemas.openxmlformats.org/officeDocument/2006/relationships/oleObject" Target="../embeddings/oleObject8.bin"/><Relationship Id="rId10" Type="http://schemas.openxmlformats.org/officeDocument/2006/relationships/image" Target="../media/image21.png"/><Relationship Id="rId4" Type="http://schemas.openxmlformats.org/officeDocument/2006/relationships/image" Target="../media/image18.png"/><Relationship Id="rId9" Type="http://schemas.openxmlformats.org/officeDocument/2006/relationships/oleObject" Target="../embeddings/oleObject10.bin"/></Relationships>
</file>

<file path=ppt/slides/_rels/slide3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23.png"/><Relationship Id="rId5" Type="http://schemas.openxmlformats.org/officeDocument/2006/relationships/oleObject" Target="../embeddings/oleObject12.bin"/><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7.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CSE 203: Data Structures</a:t>
            </a:r>
            <a:endParaRPr lang="en-US" dirty="0"/>
          </a:p>
        </p:txBody>
      </p:sp>
      <p:sp>
        <p:nvSpPr>
          <p:cNvPr id="3" name="Subtitle 2"/>
          <p:cNvSpPr>
            <a:spLocks noGrp="1"/>
          </p:cNvSpPr>
          <p:nvPr>
            <p:ph type="subTitle" idx="1"/>
          </p:nvPr>
        </p:nvSpPr>
        <p:spPr/>
        <p:txBody>
          <a:bodyPr/>
          <a:lstStyle/>
          <a:p>
            <a:r>
              <a:rPr lang="en-US" dirty="0" smtClean="0"/>
              <a:t>Elementary Data Structures- </a:t>
            </a:r>
            <a:r>
              <a:rPr lang="en-US" dirty="0" smtClean="0"/>
              <a:t>List</a:t>
            </a:r>
          </a:p>
          <a:p>
            <a:r>
              <a:rPr lang="en-US" smtClean="0"/>
              <a:t>Part - I</a:t>
            </a:r>
            <a:endParaRPr lang="en-US" dirty="0"/>
          </a:p>
        </p:txBody>
      </p:sp>
      <p:sp>
        <p:nvSpPr>
          <p:cNvPr id="5" name="Slide Number Placeholder 4"/>
          <p:cNvSpPr>
            <a:spLocks noGrp="1"/>
          </p:cNvSpPr>
          <p:nvPr>
            <p:ph type="sldNum" sz="quarter" idx="12"/>
          </p:nvPr>
        </p:nvSpPr>
        <p:spPr/>
        <p:txBody>
          <a:bodyPr/>
          <a:lstStyle/>
          <a:p>
            <a:fld id="{5993D3EC-A54F-4015-B37A-DAFE3575B373}"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p:cNvSpPr>
            <a:spLocks noGrp="1"/>
          </p:cNvSpPr>
          <p:nvPr>
            <p:ph type="sldNum" sz="quarter" idx="12"/>
          </p:nvPr>
        </p:nvSpPr>
        <p:spPr>
          <a:noFill/>
        </p:spPr>
        <p:txBody>
          <a:bodyPr/>
          <a:lstStyle/>
          <a:p>
            <a:fld id="{88060D14-5AB7-44F3-B394-1312FEDE516D}" type="slidenum">
              <a:rPr lang="en-US" smtClean="0"/>
              <a:pPr/>
              <a:t>2</a:t>
            </a:fld>
            <a:endParaRPr lang="en-US" smtClean="0"/>
          </a:p>
        </p:txBody>
      </p:sp>
      <p:sp>
        <p:nvSpPr>
          <p:cNvPr id="808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Lists</a:t>
            </a:r>
          </a:p>
        </p:txBody>
      </p:sp>
      <p:sp>
        <p:nvSpPr>
          <p:cNvPr id="80900" name="Rectangle 3"/>
          <p:cNvSpPr>
            <a:spLocks noGrp="1" noChangeArrowheads="1"/>
          </p:cNvSpPr>
          <p:nvPr>
            <p:ph type="body" idx="1"/>
          </p:nvPr>
        </p:nvSpPr>
        <p:spPr>
          <a:xfrm>
            <a:off x="455613" y="1600200"/>
            <a:ext cx="8226425" cy="4572000"/>
          </a:xfrm>
        </p:spPr>
        <p:txBody>
          <a:bodyPr>
            <a:normAutofit lnSpcReduction="10000"/>
          </a:bodyPr>
          <a:lstStyle/>
          <a:p>
            <a:pPr>
              <a:lnSpc>
                <a:spcPct val="90000"/>
              </a:lnSpc>
              <a:buFontTx/>
              <a:buNone/>
            </a:pPr>
            <a:r>
              <a:rPr lang="en-US" dirty="0" smtClean="0">
                <a:latin typeface="Helvetica" pitchFamily="26" charset="0"/>
              </a:rPr>
              <a:t>A list is a finite, ordered </a:t>
            </a:r>
            <a:r>
              <a:rPr lang="en-US" u="sng" dirty="0" smtClean="0">
                <a:latin typeface="Helvetica" pitchFamily="26" charset="0"/>
              </a:rPr>
              <a:t>sequence</a:t>
            </a:r>
            <a:r>
              <a:rPr lang="en-US" dirty="0" smtClean="0">
                <a:latin typeface="Helvetica" pitchFamily="26" charset="0"/>
              </a:rPr>
              <a:t> of data items known as </a:t>
            </a:r>
            <a:r>
              <a:rPr lang="en-US" b="1" dirty="0" smtClean="0">
                <a:latin typeface="Helvetica" pitchFamily="26" charset="0"/>
              </a:rPr>
              <a:t>elements</a:t>
            </a:r>
            <a:r>
              <a:rPr lang="en-US" dirty="0" smtClean="0">
                <a:latin typeface="Helvetica" pitchFamily="26" charset="0"/>
              </a:rPr>
              <a:t>.</a:t>
            </a:r>
          </a:p>
          <a:p>
            <a:pPr>
              <a:lnSpc>
                <a:spcPct val="40000"/>
              </a:lnSpc>
              <a:buFontTx/>
              <a:buNone/>
            </a:pPr>
            <a:endParaRPr lang="en-US" dirty="0" smtClean="0">
              <a:latin typeface="Helvetica" pitchFamily="26" charset="0"/>
            </a:endParaRPr>
          </a:p>
          <a:p>
            <a:pPr>
              <a:lnSpc>
                <a:spcPct val="90000"/>
              </a:lnSpc>
              <a:buFontTx/>
              <a:buNone/>
            </a:pPr>
            <a:r>
              <a:rPr lang="en-US" dirty="0" smtClean="0">
                <a:latin typeface="Helvetica" pitchFamily="26" charset="0"/>
              </a:rPr>
              <a:t>Important concept: List elements have a </a:t>
            </a:r>
            <a:r>
              <a:rPr lang="en-US" u="sng" dirty="0" smtClean="0">
                <a:latin typeface="Helvetica" pitchFamily="26" charset="0"/>
              </a:rPr>
              <a:t>position</a:t>
            </a:r>
            <a:r>
              <a:rPr lang="en-US" dirty="0" smtClean="0">
                <a:latin typeface="Helvetica" pitchFamily="26" charset="0"/>
              </a:rPr>
              <a:t>.</a:t>
            </a:r>
          </a:p>
          <a:p>
            <a:pPr>
              <a:lnSpc>
                <a:spcPct val="50000"/>
              </a:lnSpc>
              <a:buFontTx/>
              <a:buNone/>
            </a:pPr>
            <a:endParaRPr lang="en-US" dirty="0" smtClean="0">
              <a:latin typeface="Helvetica" pitchFamily="26" charset="0"/>
            </a:endParaRPr>
          </a:p>
          <a:p>
            <a:pPr>
              <a:buFontTx/>
              <a:buNone/>
            </a:pPr>
            <a:endParaRPr lang="en-US" dirty="0" smtClean="0">
              <a:latin typeface="Helvetica" pitchFamily="26" charset="0"/>
            </a:endParaRPr>
          </a:p>
          <a:p>
            <a:pPr>
              <a:buFontTx/>
              <a:buNone/>
            </a:pPr>
            <a:r>
              <a:rPr lang="en-US" dirty="0" smtClean="0">
                <a:latin typeface="Helvetica" pitchFamily="26" charset="0"/>
              </a:rPr>
              <a:t>Notation: &lt;</a:t>
            </a:r>
            <a:r>
              <a:rPr lang="en-US" i="1" dirty="0" smtClean="0">
                <a:latin typeface="Helvetica" pitchFamily="26" charset="0"/>
              </a:rPr>
              <a:t>a</a:t>
            </a:r>
            <a:r>
              <a:rPr lang="en-US" baseline="-25000" dirty="0" smtClean="0">
                <a:latin typeface="Helvetica" pitchFamily="26" charset="0"/>
              </a:rPr>
              <a:t>0</a:t>
            </a:r>
            <a:r>
              <a:rPr lang="en-US" dirty="0" smtClean="0">
                <a:latin typeface="Helvetica" pitchFamily="26" charset="0"/>
              </a:rPr>
              <a:t>, </a:t>
            </a:r>
            <a:r>
              <a:rPr lang="en-US" i="1" dirty="0" smtClean="0">
                <a:latin typeface="Helvetica" pitchFamily="26" charset="0"/>
              </a:rPr>
              <a:t>a</a:t>
            </a:r>
            <a:r>
              <a:rPr lang="en-US" baseline="-25000" dirty="0" smtClean="0">
                <a:latin typeface="Helvetica" pitchFamily="26" charset="0"/>
              </a:rPr>
              <a:t>1</a:t>
            </a:r>
            <a:r>
              <a:rPr lang="en-US" dirty="0" smtClean="0">
                <a:latin typeface="Helvetica" pitchFamily="26" charset="0"/>
              </a:rPr>
              <a:t>, …, </a:t>
            </a:r>
            <a:r>
              <a:rPr lang="en-US" i="1" dirty="0" smtClean="0">
                <a:latin typeface="Helvetica" pitchFamily="26" charset="0"/>
              </a:rPr>
              <a:t>a</a:t>
            </a:r>
            <a:r>
              <a:rPr lang="en-US" i="1" baseline="-25000" dirty="0" smtClean="0">
                <a:latin typeface="Helvetica" pitchFamily="26" charset="0"/>
              </a:rPr>
              <a:t>n</a:t>
            </a:r>
            <a:r>
              <a:rPr lang="en-US" baseline="-25000" dirty="0" smtClean="0">
                <a:latin typeface="Helvetica" pitchFamily="26" charset="0"/>
              </a:rPr>
              <a:t>-1</a:t>
            </a:r>
            <a:r>
              <a:rPr lang="en-US" dirty="0" smtClean="0">
                <a:latin typeface="Helvetica" pitchFamily="26" charset="0"/>
              </a:rPr>
              <a:t>&gt;</a:t>
            </a:r>
          </a:p>
          <a:p>
            <a:pPr>
              <a:lnSpc>
                <a:spcPct val="50000"/>
              </a:lnSpc>
              <a:buFontTx/>
              <a:buNone/>
            </a:pPr>
            <a:endParaRPr lang="en-US" dirty="0" smtClean="0">
              <a:latin typeface="Helvetica" pitchFamily="26" charset="0"/>
            </a:endParaRPr>
          </a:p>
          <a:p>
            <a:pPr>
              <a:buFontTx/>
              <a:buNone/>
            </a:pPr>
            <a:r>
              <a:rPr lang="en-US" dirty="0" smtClean="0">
                <a:latin typeface="Helvetica" pitchFamily="26" charset="0"/>
              </a:rPr>
              <a:t>What operations should we implement?</a:t>
            </a:r>
          </a:p>
        </p:txBody>
      </p:sp>
      <p:sp>
        <p:nvSpPr>
          <p:cNvPr id="2" name="TextBox 1"/>
          <p:cNvSpPr txBox="1"/>
          <p:nvPr/>
        </p:nvSpPr>
        <p:spPr>
          <a:xfrm>
            <a:off x="5212080" y="3429000"/>
            <a:ext cx="3886200" cy="175432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smtClean="0"/>
              <a:t>Empty list: no elements (&lt;&gt;)</a:t>
            </a:r>
          </a:p>
          <a:p>
            <a:r>
              <a:rPr lang="en-US" dirty="0" smtClean="0"/>
              <a:t>Length of the list: number of elements</a:t>
            </a:r>
          </a:p>
          <a:p>
            <a:r>
              <a:rPr lang="en-US" dirty="0" smtClean="0"/>
              <a:t>head: beginning of the list</a:t>
            </a:r>
          </a:p>
          <a:p>
            <a:r>
              <a:rPr lang="en-US" dirty="0" smtClean="0"/>
              <a:t>tail: end of the list</a:t>
            </a:r>
          </a:p>
          <a:p>
            <a:r>
              <a:rPr lang="en-US" dirty="0" smtClean="0"/>
              <a:t>Element position: k &gt;=0 is the position of element </a:t>
            </a:r>
            <a:r>
              <a:rPr lang="en-US" dirty="0" err="1" smtClean="0"/>
              <a:t>a_k</a:t>
            </a:r>
            <a:r>
              <a:rPr lang="en-US" dirty="0"/>
              <a:t>.</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5"/>
          <p:cNvSpPr>
            <a:spLocks noGrp="1"/>
          </p:cNvSpPr>
          <p:nvPr>
            <p:ph type="sldNum" sz="quarter" idx="12"/>
          </p:nvPr>
        </p:nvSpPr>
        <p:spPr>
          <a:noFill/>
        </p:spPr>
        <p:txBody>
          <a:bodyPr/>
          <a:lstStyle/>
          <a:p>
            <a:fld id="{C8EB78C9-47F3-4249-9656-78154043E18B}" type="slidenum">
              <a:rPr lang="en-US" smtClean="0"/>
              <a:pPr/>
              <a:t>3</a:t>
            </a:fld>
            <a:endParaRPr lang="en-US" smtClean="0"/>
          </a:p>
        </p:txBody>
      </p:sp>
      <p:sp>
        <p:nvSpPr>
          <p:cNvPr id="81923"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List Implementation Concepts</a:t>
            </a:r>
          </a:p>
        </p:txBody>
      </p:sp>
      <p:sp>
        <p:nvSpPr>
          <p:cNvPr id="81924"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dirty="0" smtClean="0">
                <a:latin typeface="Helvetica" pitchFamily="26" charset="0"/>
              </a:rPr>
              <a:t>Our list implementation will support the concept of a </a:t>
            </a:r>
            <a:r>
              <a:rPr lang="en-US" u="sng" dirty="0" smtClean="0">
                <a:latin typeface="Helvetica" pitchFamily="26" charset="0"/>
              </a:rPr>
              <a:t>current position</a:t>
            </a:r>
            <a:r>
              <a:rPr lang="en-US" dirty="0" smtClean="0">
                <a:latin typeface="Helvetica" pitchFamily="26" charset="0"/>
              </a:rPr>
              <a:t>.</a:t>
            </a:r>
          </a:p>
          <a:p>
            <a:pPr>
              <a:lnSpc>
                <a:spcPct val="50000"/>
              </a:lnSpc>
              <a:buFontTx/>
              <a:buNone/>
            </a:pPr>
            <a:endParaRPr lang="en-US" dirty="0" smtClean="0">
              <a:latin typeface="Helvetica" pitchFamily="26" charset="0"/>
            </a:endParaRPr>
          </a:p>
          <a:p>
            <a:pPr>
              <a:lnSpc>
                <a:spcPct val="90000"/>
              </a:lnSpc>
              <a:buFontTx/>
              <a:buNone/>
            </a:pPr>
            <a:r>
              <a:rPr lang="en-US" dirty="0" smtClean="0">
                <a:latin typeface="Helvetica" pitchFamily="26" charset="0"/>
              </a:rPr>
              <a:t>Operations will act relative to the current position.</a:t>
            </a:r>
          </a:p>
          <a:p>
            <a:pPr>
              <a:lnSpc>
                <a:spcPct val="50000"/>
              </a:lnSpc>
              <a:buFontTx/>
              <a:buNone/>
            </a:pPr>
            <a:endParaRPr lang="en-US" dirty="0" smtClean="0">
              <a:latin typeface="Helvetica" pitchFamily="26" charset="0"/>
            </a:endParaRPr>
          </a:p>
          <a:p>
            <a:pPr>
              <a:lnSpc>
                <a:spcPct val="90000"/>
              </a:lnSpc>
              <a:buFontTx/>
              <a:buNone/>
            </a:pPr>
            <a:r>
              <a:rPr lang="en-US" dirty="0" smtClean="0">
                <a:latin typeface="Helvetica" pitchFamily="26" charset="0"/>
              </a:rPr>
              <a:t>&lt;20, 23 | 12, 15&gt;</a:t>
            </a:r>
          </a:p>
        </p:txBody>
      </p:sp>
      <p:sp>
        <p:nvSpPr>
          <p:cNvPr id="2" name="TextBox 1"/>
          <p:cNvSpPr txBox="1"/>
          <p:nvPr/>
        </p:nvSpPr>
        <p:spPr>
          <a:xfrm>
            <a:off x="3886200" y="4724400"/>
            <a:ext cx="5071260" cy="646331"/>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dirty="0" smtClean="0"/>
              <a:t>Potentially n+1 current positions</a:t>
            </a:r>
          </a:p>
          <a:p>
            <a:r>
              <a:rPr lang="en-US" dirty="0" smtClean="0"/>
              <a:t>(as we may want to insert at the beginning and end)</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ADT: Possible Operations</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4</a:t>
            </a:fld>
            <a:endParaRPr lang="en-US"/>
          </a:p>
        </p:txBody>
      </p:sp>
      <p:sp>
        <p:nvSpPr>
          <p:cNvPr id="7"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r>
              <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rPr>
              <a:t>	Operations at the </a:t>
            </a:r>
            <a:r>
              <a:rPr kumimoji="0" lang="en-US" altLang="en-US" sz="2000" b="0" i="1"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k</a:t>
            </a:r>
            <a:r>
              <a:rPr kumimoji="0" lang="en-US" altLang="en-US" sz="2000" b="0" i="0" u="none" strike="noStrike" kern="1200" cap="none" spc="0" normalizeH="0" baseline="30000" noProof="0" dirty="0" err="1" smtClean="0">
                <a:ln>
                  <a:noFill/>
                </a:ln>
                <a:solidFill>
                  <a:schemeClr val="tx1"/>
                </a:solidFill>
                <a:effectLst/>
                <a:uLnTx/>
                <a:uFillTx/>
                <a:latin typeface="Arial" charset="0"/>
                <a:ea typeface="+mn-ea"/>
                <a:cs typeface="Arial" charset="0"/>
              </a:rPr>
              <a:t>th</a:t>
            </a:r>
            <a:r>
              <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rPr>
              <a:t> entry of the list include:</a:t>
            </a:r>
          </a:p>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742950" marR="0" lvl="1" indent="-285750" algn="l" defTabSz="914400" rtl="0" eaLnBrk="1" fontAlgn="auto" latinLnBrk="0" hangingPunct="1">
              <a:lnSpc>
                <a:spcPct val="100000"/>
              </a:lnSpc>
              <a:spcBef>
                <a:spcPct val="20000"/>
              </a:spcBef>
              <a:spcAft>
                <a:spcPts val="0"/>
              </a:spcAft>
              <a:buClrTx/>
              <a:buSzTx/>
              <a:buFont typeface="Arial" charset="0"/>
              <a:buNone/>
              <a:tabLst/>
              <a:defRPr/>
            </a:pPr>
            <a:r>
              <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rPr>
              <a:t>	   Access to the object                              Erasing an object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742950" marR="0" lvl="1" indent="-285750" algn="l" defTabSz="914400" rtl="0" eaLnBrk="1" fontAlgn="auto" latinLnBrk="0" hangingPunct="1">
              <a:lnSpc>
                <a:spcPct val="100000"/>
              </a:lnSpc>
              <a:spcBef>
                <a:spcPct val="20000"/>
              </a:spcBef>
              <a:spcAft>
                <a:spcPts val="0"/>
              </a:spcAft>
              <a:buClrTx/>
              <a:buSzTx/>
              <a:buFont typeface="Arial" charset="0"/>
              <a:buNone/>
              <a:tabLst/>
              <a:defRPr/>
            </a:pPr>
            <a:endPar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742950" marR="0" lvl="1" indent="-285750" algn="l" defTabSz="914400" rtl="0" eaLnBrk="1" fontAlgn="auto" latinLnBrk="0" hangingPunct="1">
              <a:lnSpc>
                <a:spcPct val="100000"/>
              </a:lnSpc>
              <a:spcBef>
                <a:spcPct val="20000"/>
              </a:spcBef>
              <a:spcAft>
                <a:spcPts val="0"/>
              </a:spcAft>
              <a:buClrTx/>
              <a:buSzTx/>
              <a:buFont typeface="Arial" charset="0"/>
              <a:buNone/>
              <a:tabLst/>
              <a:defRPr/>
            </a:pPr>
            <a:endPar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742950" marR="0" lvl="1" indent="-285750" algn="l" defTabSz="914400" rtl="0" eaLnBrk="1" fontAlgn="auto" latinLnBrk="0" hangingPunct="1">
              <a:lnSpc>
                <a:spcPct val="100000"/>
              </a:lnSpc>
              <a:spcBef>
                <a:spcPct val="20000"/>
              </a:spcBef>
              <a:spcAft>
                <a:spcPts val="0"/>
              </a:spcAft>
              <a:buClrTx/>
              <a:buSzTx/>
              <a:buFont typeface="Arial" charset="0"/>
              <a:buNone/>
              <a:tabLst/>
              <a:defRPr/>
            </a:pPr>
            <a:r>
              <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rPr>
              <a:t>	Insertion of a new object                       Replacement of the object</a:t>
            </a:r>
          </a:p>
        </p:txBody>
      </p:sp>
      <p:pic>
        <p:nvPicPr>
          <p:cNvPr id="8" name="Picture 4" descr="C:\Users\dwharder\Desktop\r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150" y="2713038"/>
            <a:ext cx="1365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C:\Users\dwharder\Desktop\r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150" y="4043363"/>
            <a:ext cx="136525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C:\Users\dwharder\Desktop\r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400" y="2713038"/>
            <a:ext cx="136525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C:\Users\dwharder\Desktop\r4.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7400" y="4117975"/>
            <a:ext cx="13652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ADT: Possible Operations</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5</a:t>
            </a:fld>
            <a:endParaRPr lang="en-US"/>
          </a:p>
        </p:txBody>
      </p:sp>
      <p:sp>
        <p:nvSpPr>
          <p:cNvPr id="7"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r>
              <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rPr>
              <a:t>	Given access to the </a:t>
            </a:r>
            <a:r>
              <a:rPr kumimoji="0" lang="en-US" altLang="en-US" sz="2000" b="0" i="1"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k</a:t>
            </a:r>
            <a:r>
              <a:rPr kumimoji="0" lang="en-US" altLang="en-US" sz="2000" b="0" i="0" u="none" strike="noStrike" kern="1200" cap="none" spc="0" normalizeH="0" baseline="30000" noProof="0" dirty="0" err="1" smtClean="0">
                <a:ln>
                  <a:noFill/>
                </a:ln>
                <a:solidFill>
                  <a:schemeClr val="tx1"/>
                </a:solidFill>
                <a:effectLst/>
                <a:uLnTx/>
                <a:uFillTx/>
                <a:latin typeface="Arial" charset="0"/>
                <a:ea typeface="+mn-ea"/>
                <a:cs typeface="Arial" charset="0"/>
              </a:rPr>
              <a:t>th</a:t>
            </a:r>
            <a:r>
              <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rPr>
              <a:t> object, gain access to either the previous or next object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r>
              <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rPr>
              <a:t>	Given two abstract lists, we may want to</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rPr>
              <a:t>Concatenate the two lists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en-US" b="0" i="0" u="none" strike="noStrike" kern="1200" cap="none" spc="0" normalizeH="0" baseline="0" noProof="0" dirty="0" smtClean="0">
                <a:ln>
                  <a:noFill/>
                </a:ln>
                <a:solidFill>
                  <a:schemeClr val="tx1"/>
                </a:solidFill>
                <a:effectLst/>
                <a:uLnTx/>
                <a:uFillTx/>
                <a:latin typeface="Arial" charset="0"/>
                <a:ea typeface="+mn-ea"/>
                <a:cs typeface="Arial" charset="0"/>
              </a:rPr>
              <a:t>Determine if one is a sub-list of the other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3200" b="0" i="0" u="none" strike="noStrike" kern="1200" cap="none" spc="0" normalizeH="0" baseline="0" noProof="0" dirty="0" smtClean="0">
              <a:ln>
                <a:noFill/>
              </a:ln>
              <a:solidFill>
                <a:schemeClr val="bg2"/>
              </a:solidFill>
              <a:effectLst/>
              <a:uLnTx/>
              <a:uFillTx/>
              <a:latin typeface="Arial" charset="0"/>
              <a:ea typeface="+mn-ea"/>
              <a:cs typeface="Arial" charset="0"/>
            </a:endParaRPr>
          </a:p>
        </p:txBody>
      </p:sp>
      <p:pic>
        <p:nvPicPr>
          <p:cNvPr id="8" name="Picture 8" descr="C:\Users\dwharder\Desktop\r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6188" y="2571750"/>
            <a:ext cx="13652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ADT</a:t>
            </a:r>
            <a:endParaRPr lang="en-US" dirty="0"/>
          </a:p>
        </p:txBody>
      </p:sp>
      <p:sp>
        <p:nvSpPr>
          <p:cNvPr id="3" name="Content Placeholder 2"/>
          <p:cNvSpPr>
            <a:spLocks noGrp="1"/>
          </p:cNvSpPr>
          <p:nvPr>
            <p:ph idx="1"/>
          </p:nvPr>
        </p:nvSpPr>
        <p:spPr/>
        <p:txBody>
          <a:bodyPr>
            <a:normAutofit fontScale="85000" lnSpcReduction="20000"/>
          </a:bodyPr>
          <a:lstStyle/>
          <a:p>
            <a:pPr marL="514350" indent="-514350">
              <a:lnSpc>
                <a:spcPct val="90000"/>
              </a:lnSpc>
              <a:spcBef>
                <a:spcPts val="400"/>
              </a:spcBef>
              <a:buFontTx/>
              <a:buAutoNum type="arabicPeriod"/>
            </a:pPr>
            <a:r>
              <a:rPr lang="en-US" b="1" dirty="0" smtClean="0">
                <a:latin typeface="Courier New" pitchFamily="26" charset="0"/>
              </a:rPr>
              <a:t>clear(); </a:t>
            </a:r>
          </a:p>
          <a:p>
            <a:pPr marL="514350" indent="-514350">
              <a:lnSpc>
                <a:spcPct val="90000"/>
              </a:lnSpc>
              <a:spcBef>
                <a:spcPts val="400"/>
              </a:spcBef>
              <a:buFontTx/>
              <a:buAutoNum type="arabicPeriod"/>
            </a:pPr>
            <a:r>
              <a:rPr lang="en-US" b="1" dirty="0" smtClean="0">
                <a:latin typeface="Courier New" pitchFamily="26" charset="0"/>
              </a:rPr>
              <a:t>insert(item);</a:t>
            </a:r>
          </a:p>
          <a:p>
            <a:pPr marL="514350" indent="-514350">
              <a:lnSpc>
                <a:spcPct val="90000"/>
              </a:lnSpc>
              <a:spcBef>
                <a:spcPts val="400"/>
              </a:spcBef>
              <a:buFontTx/>
              <a:buAutoNum type="arabicPeriod"/>
            </a:pPr>
            <a:r>
              <a:rPr lang="en-US" b="1" dirty="0" smtClean="0">
                <a:latin typeface="Courier New" pitchFamily="26" charset="0"/>
              </a:rPr>
              <a:t>append(item);</a:t>
            </a:r>
          </a:p>
          <a:p>
            <a:pPr marL="514350" indent="-514350">
              <a:lnSpc>
                <a:spcPct val="90000"/>
              </a:lnSpc>
              <a:spcBef>
                <a:spcPts val="400"/>
              </a:spcBef>
              <a:buFontTx/>
              <a:buAutoNum type="arabicPeriod"/>
            </a:pPr>
            <a:r>
              <a:rPr lang="en-US" b="1" dirty="0" smtClean="0">
                <a:latin typeface="Courier New" pitchFamily="26" charset="0"/>
              </a:rPr>
              <a:t>remove();</a:t>
            </a:r>
          </a:p>
          <a:p>
            <a:pPr marL="514350" indent="-514350">
              <a:lnSpc>
                <a:spcPct val="90000"/>
              </a:lnSpc>
              <a:spcBef>
                <a:spcPts val="400"/>
              </a:spcBef>
              <a:buFontTx/>
              <a:buAutoNum type="arabicPeriod"/>
            </a:pPr>
            <a:r>
              <a:rPr lang="en-US" b="1" dirty="0" err="1" smtClean="0">
                <a:latin typeface="Courier New" pitchFamily="26" charset="0"/>
              </a:rPr>
              <a:t>moveToStart</a:t>
            </a:r>
            <a:r>
              <a:rPr lang="en-US" b="1" dirty="0" smtClean="0">
                <a:latin typeface="Courier New" pitchFamily="26" charset="0"/>
              </a:rPr>
              <a:t>();</a:t>
            </a:r>
          </a:p>
          <a:p>
            <a:pPr marL="514350" indent="-514350">
              <a:lnSpc>
                <a:spcPct val="90000"/>
              </a:lnSpc>
              <a:spcBef>
                <a:spcPts val="400"/>
              </a:spcBef>
              <a:buFontTx/>
              <a:buAutoNum type="arabicPeriod"/>
            </a:pPr>
            <a:r>
              <a:rPr lang="en-US" b="1" dirty="0" err="1" smtClean="0">
                <a:latin typeface="Courier New" pitchFamily="26" charset="0"/>
              </a:rPr>
              <a:t>moveToEnd</a:t>
            </a:r>
            <a:r>
              <a:rPr lang="en-US" b="1" dirty="0" smtClean="0">
                <a:latin typeface="Courier New" pitchFamily="26" charset="0"/>
              </a:rPr>
              <a:t>();</a:t>
            </a:r>
          </a:p>
          <a:p>
            <a:pPr marL="514350" indent="-514350">
              <a:lnSpc>
                <a:spcPct val="90000"/>
              </a:lnSpc>
              <a:spcBef>
                <a:spcPts val="400"/>
              </a:spcBef>
              <a:buFontTx/>
              <a:buAutoNum type="arabicPeriod"/>
            </a:pPr>
            <a:r>
              <a:rPr lang="en-US" b="1" dirty="0" err="1" smtClean="0">
                <a:latin typeface="Courier New" pitchFamily="26" charset="0"/>
              </a:rPr>
              <a:t>prev</a:t>
            </a:r>
            <a:r>
              <a:rPr lang="en-US" b="1" dirty="0" smtClean="0">
                <a:latin typeface="Courier New" pitchFamily="26" charset="0"/>
              </a:rPr>
              <a:t>();</a:t>
            </a:r>
          </a:p>
          <a:p>
            <a:pPr marL="514350" indent="-514350">
              <a:lnSpc>
                <a:spcPct val="90000"/>
              </a:lnSpc>
              <a:spcBef>
                <a:spcPts val="400"/>
              </a:spcBef>
              <a:buFontTx/>
              <a:buAutoNum type="arabicPeriod"/>
            </a:pPr>
            <a:r>
              <a:rPr lang="en-US" b="1" dirty="0" smtClean="0">
                <a:latin typeface="Courier New" pitchFamily="26" charset="0"/>
              </a:rPr>
              <a:t>next();</a:t>
            </a:r>
          </a:p>
          <a:p>
            <a:pPr marL="514350" indent="-514350">
              <a:lnSpc>
                <a:spcPct val="90000"/>
              </a:lnSpc>
              <a:spcBef>
                <a:spcPts val="400"/>
              </a:spcBef>
              <a:buFontTx/>
              <a:buAutoNum type="arabicPeriod"/>
            </a:pPr>
            <a:r>
              <a:rPr lang="en-US" b="1" dirty="0" smtClean="0">
                <a:latin typeface="Courier New" pitchFamily="26" charset="0"/>
              </a:rPr>
              <a:t>length();</a:t>
            </a:r>
          </a:p>
          <a:p>
            <a:pPr marL="514350" indent="-514350">
              <a:lnSpc>
                <a:spcPct val="90000"/>
              </a:lnSpc>
              <a:spcBef>
                <a:spcPts val="400"/>
              </a:spcBef>
              <a:buFontTx/>
              <a:buAutoNum type="arabicPeriod"/>
            </a:pPr>
            <a:r>
              <a:rPr lang="en-US" b="1" dirty="0" err="1" smtClean="0">
                <a:latin typeface="Courier New" pitchFamily="26" charset="0"/>
              </a:rPr>
              <a:t>currPos</a:t>
            </a:r>
            <a:r>
              <a:rPr lang="en-US" b="1" dirty="0" smtClean="0">
                <a:latin typeface="Courier New" pitchFamily="26" charset="0"/>
              </a:rPr>
              <a:t>();</a:t>
            </a:r>
          </a:p>
          <a:p>
            <a:pPr marL="514350" indent="-514350">
              <a:lnSpc>
                <a:spcPct val="90000"/>
              </a:lnSpc>
              <a:spcBef>
                <a:spcPts val="400"/>
              </a:spcBef>
              <a:buFontTx/>
              <a:buAutoNum type="arabicPeriod"/>
            </a:pPr>
            <a:r>
              <a:rPr lang="en-US" b="1" dirty="0" err="1" smtClean="0">
                <a:latin typeface="Courier New" pitchFamily="26" charset="0"/>
              </a:rPr>
              <a:t>moveToPos</a:t>
            </a:r>
            <a:r>
              <a:rPr lang="en-US" b="1" dirty="0" smtClean="0">
                <a:latin typeface="Courier New" pitchFamily="26" charset="0"/>
              </a:rPr>
              <a:t>(</a:t>
            </a:r>
            <a:r>
              <a:rPr lang="en-US" b="1" dirty="0" err="1" smtClean="0">
                <a:latin typeface="Courier New" pitchFamily="26" charset="0"/>
              </a:rPr>
              <a:t>int</a:t>
            </a:r>
            <a:r>
              <a:rPr lang="en-US" b="1" dirty="0" smtClean="0">
                <a:latin typeface="Courier New" pitchFamily="26" charset="0"/>
              </a:rPr>
              <a:t> pos);</a:t>
            </a:r>
          </a:p>
          <a:p>
            <a:pPr marL="514350" indent="-514350">
              <a:lnSpc>
                <a:spcPct val="90000"/>
              </a:lnSpc>
              <a:spcBef>
                <a:spcPts val="400"/>
              </a:spcBef>
              <a:buFontTx/>
              <a:buAutoNum type="arabicPeriod"/>
            </a:pPr>
            <a:r>
              <a:rPr lang="en-US" b="1" dirty="0" err="1" smtClean="0">
                <a:latin typeface="Courier New" pitchFamily="26" charset="0"/>
              </a:rPr>
              <a:t>getValue</a:t>
            </a:r>
            <a:r>
              <a:rPr lang="en-US" b="1" dirty="0" smtClean="0">
                <a:latin typeface="Courier New" pitchFamily="26" charset="0"/>
              </a:rPr>
              <a:t>();</a:t>
            </a:r>
          </a:p>
          <a:p>
            <a:pPr>
              <a:lnSpc>
                <a:spcPct val="90000"/>
              </a:lnSpc>
              <a:spcBef>
                <a:spcPts val="400"/>
              </a:spcBef>
              <a:buFontTx/>
              <a:buNone/>
            </a:pP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ADT</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7</a:t>
            </a:fld>
            <a:endParaRPr lang="en-US"/>
          </a:p>
        </p:txBody>
      </p:sp>
      <p:graphicFrame>
        <p:nvGraphicFramePr>
          <p:cNvPr id="17" name="Object 16"/>
          <p:cNvGraphicFramePr>
            <a:graphicFrameLocks noChangeAspect="1"/>
          </p:cNvGraphicFramePr>
          <p:nvPr>
            <p:extLst>
              <p:ext uri="{D42A27DB-BD31-4B8C-83A1-F6EECF244321}">
                <p14:modId xmlns:p14="http://schemas.microsoft.com/office/powerpoint/2010/main" val="3160883927"/>
              </p:ext>
            </p:extLst>
          </p:nvPr>
        </p:nvGraphicFramePr>
        <p:xfrm>
          <a:off x="685800" y="1365647"/>
          <a:ext cx="8291105" cy="4990703"/>
        </p:xfrm>
        <a:graphic>
          <a:graphicData uri="http://schemas.openxmlformats.org/presentationml/2006/ole">
            <mc:AlternateContent xmlns:mc="http://schemas.openxmlformats.org/markup-compatibility/2006">
              <mc:Choice xmlns:v="urn:schemas-microsoft-com:vml" Requires="v">
                <p:oleObj spid="_x0000_s60430" name="Worksheet" r:id="rId3" imgW="4267148" imgH="2567826" progId="Excel.Sheet.12">
                  <p:embed/>
                </p:oleObj>
              </mc:Choice>
              <mc:Fallback>
                <p:oleObj name="Worksheet" r:id="rId3" imgW="4267148" imgH="2567826" progId="Excel.Sheet.12">
                  <p:embed/>
                  <p:pic>
                    <p:nvPicPr>
                      <p:cNvPr id="0" name=""/>
                      <p:cNvPicPr/>
                      <p:nvPr/>
                    </p:nvPicPr>
                    <p:blipFill>
                      <a:blip r:embed="rId4"/>
                      <a:stretch>
                        <a:fillRect/>
                      </a:stretch>
                    </p:blipFill>
                    <p:spPr>
                      <a:xfrm>
                        <a:off x="685800" y="1365647"/>
                        <a:ext cx="8291105" cy="4990703"/>
                      </a:xfrm>
                      <a:prstGeom prst="rect">
                        <a:avLst/>
                      </a:prstGeom>
                    </p:spPr>
                  </p:pic>
                </p:oleObj>
              </mc:Fallback>
            </mc:AlternateContent>
          </a:graphicData>
        </a:graphic>
      </p:graphicFrame>
    </p:spTree>
    <p:extLst>
      <p:ext uri="{BB962C8B-B14F-4D97-AF65-F5344CB8AC3E}">
        <p14:creationId xmlns:p14="http://schemas.microsoft.com/office/powerpoint/2010/main" val="40303087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993D3EC-A54F-4015-B37A-DAFE3575B373}" type="slidenum">
              <a:rPr lang="en-US" smtClean="0"/>
              <a:pPr/>
              <a:t>8</a:t>
            </a:fld>
            <a:endParaRPr lang="en-US"/>
          </a:p>
        </p:txBody>
      </p:sp>
      <p:sp>
        <p:nvSpPr>
          <p:cNvPr id="9" name="TextBox 8"/>
          <p:cNvSpPr txBox="1"/>
          <p:nvPr/>
        </p:nvSpPr>
        <p:spPr>
          <a:xfrm>
            <a:off x="6172200" y="1066800"/>
            <a:ext cx="2362200" cy="1754326"/>
          </a:xfrm>
          <a:prstGeom prst="rect">
            <a:avLst/>
          </a:prstGeom>
          <a:noFill/>
        </p:spPr>
        <p:txBody>
          <a:bodyPr wrap="square" rtlCol="0">
            <a:spAutoFit/>
          </a:bodyPr>
          <a:lstStyle/>
          <a:p>
            <a:r>
              <a:rPr lang="en-US" dirty="0" smtClean="0"/>
              <a:t>Template is a powerful and convenient C++ feature. Hopefully, you will learn it and then use it to implement list as it is shown here.</a:t>
            </a:r>
            <a:endParaRPr lang="en-US" dirty="0"/>
          </a:p>
        </p:txBody>
      </p:sp>
      <p:graphicFrame>
        <p:nvGraphicFramePr>
          <p:cNvPr id="10" name="Object 9"/>
          <p:cNvGraphicFramePr>
            <a:graphicFrameLocks noChangeAspect="1"/>
          </p:cNvGraphicFramePr>
          <p:nvPr>
            <p:extLst>
              <p:ext uri="{D42A27DB-BD31-4B8C-83A1-F6EECF244321}">
                <p14:modId xmlns:p14="http://schemas.microsoft.com/office/powerpoint/2010/main" val="3742527253"/>
              </p:ext>
            </p:extLst>
          </p:nvPr>
        </p:nvGraphicFramePr>
        <p:xfrm>
          <a:off x="3683000" y="2971800"/>
          <a:ext cx="1778000" cy="733425"/>
        </p:xfrm>
        <a:graphic>
          <a:graphicData uri="http://schemas.openxmlformats.org/presentationml/2006/ole">
            <mc:AlternateContent xmlns:mc="http://schemas.openxmlformats.org/markup-compatibility/2006">
              <mc:Choice xmlns:v="urn:schemas-microsoft-com:vml" Requires="v">
                <p:oleObj spid="_x0000_s1049" name="Packager Shell Object" showAsIcon="1" r:id="rId3" imgW="1778400" imgH="732960" progId="Package">
                  <p:embed/>
                </p:oleObj>
              </mc:Choice>
              <mc:Fallback>
                <p:oleObj name="Packager Shell Object" showAsIcon="1" r:id="rId3" imgW="1778400" imgH="732960" progId="Package">
                  <p:embed/>
                  <p:pic>
                    <p:nvPicPr>
                      <p:cNvPr id="0" name="Picture 4"/>
                      <p:cNvPicPr>
                        <a:picLocks noChangeAspect="1" noChangeArrowheads="1"/>
                      </p:cNvPicPr>
                      <p:nvPr/>
                    </p:nvPicPr>
                    <p:blipFill>
                      <a:blip r:embed="rId4"/>
                      <a:srcRect/>
                      <a:stretch>
                        <a:fillRect/>
                      </a:stretch>
                    </p:blipFill>
                    <p:spPr bwMode="auto">
                      <a:xfrm>
                        <a:off x="3683000" y="2971800"/>
                        <a:ext cx="177800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5"/>
          <p:cNvSpPr>
            <a:spLocks noGrp="1"/>
          </p:cNvSpPr>
          <p:nvPr>
            <p:ph type="sldNum" sz="quarter" idx="12"/>
          </p:nvPr>
        </p:nvSpPr>
        <p:spPr>
          <a:noFill/>
        </p:spPr>
        <p:txBody>
          <a:bodyPr/>
          <a:lstStyle/>
          <a:p>
            <a:fld id="{FA1263E5-F9FA-49AD-B36F-9B2F0CA58271}" type="slidenum">
              <a:rPr lang="en-US" smtClean="0"/>
              <a:pPr/>
              <a:t>9</a:t>
            </a:fld>
            <a:endParaRPr lang="en-US" smtClean="0"/>
          </a:p>
        </p:txBody>
      </p:sp>
      <p:sp>
        <p:nvSpPr>
          <p:cNvPr id="83971"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List ADT Examples</a:t>
            </a:r>
          </a:p>
        </p:txBody>
      </p:sp>
      <p:sp>
        <p:nvSpPr>
          <p:cNvPr id="83972" name="Rectangle 3"/>
          <p:cNvSpPr>
            <a:spLocks noGrp="1" noChangeArrowheads="1"/>
          </p:cNvSpPr>
          <p:nvPr>
            <p:ph type="body" idx="1"/>
          </p:nvPr>
        </p:nvSpPr>
        <p:spPr>
          <a:xfrm>
            <a:off x="228600" y="1600200"/>
            <a:ext cx="8610600" cy="4572000"/>
          </a:xfrm>
        </p:spPr>
        <p:txBody>
          <a:bodyPr>
            <a:normAutofit lnSpcReduction="10000"/>
          </a:bodyPr>
          <a:lstStyle/>
          <a:p>
            <a:pPr>
              <a:lnSpc>
                <a:spcPct val="90000"/>
              </a:lnSpc>
              <a:buFontTx/>
              <a:buNone/>
            </a:pPr>
            <a:r>
              <a:rPr lang="en-US" smtClean="0">
                <a:latin typeface="Helvetica" pitchFamily="26" charset="0"/>
              </a:rPr>
              <a:t>List: &lt;12 | 32, 15&gt;</a:t>
            </a:r>
          </a:p>
          <a:p>
            <a:pPr>
              <a:lnSpc>
                <a:spcPct val="30000"/>
              </a:lnSpc>
              <a:buFontTx/>
              <a:buNone/>
            </a:pPr>
            <a:endParaRPr lang="en-US" smtClean="0">
              <a:latin typeface="Helvetica" pitchFamily="26" charset="0"/>
            </a:endParaRPr>
          </a:p>
          <a:p>
            <a:pPr>
              <a:lnSpc>
                <a:spcPct val="90000"/>
              </a:lnSpc>
              <a:buFontTx/>
              <a:buNone/>
            </a:pPr>
            <a:r>
              <a:rPr lang="en-US" sz="2400" b="1" smtClean="0">
                <a:latin typeface="Courier New" pitchFamily="26" charset="0"/>
              </a:rPr>
              <a:t>L.insert(99);</a:t>
            </a:r>
          </a:p>
          <a:p>
            <a:pPr>
              <a:lnSpc>
                <a:spcPct val="40000"/>
              </a:lnSpc>
              <a:buFontTx/>
              <a:buNone/>
            </a:pPr>
            <a:endParaRPr lang="en-US" sz="2400" smtClean="0">
              <a:latin typeface="Courier New" pitchFamily="26" charset="0"/>
            </a:endParaRPr>
          </a:p>
          <a:p>
            <a:pPr>
              <a:lnSpc>
                <a:spcPct val="90000"/>
              </a:lnSpc>
              <a:buFontTx/>
              <a:buNone/>
            </a:pPr>
            <a:r>
              <a:rPr lang="en-US" smtClean="0">
                <a:latin typeface="Helvetica" pitchFamily="26" charset="0"/>
              </a:rPr>
              <a:t>Result: &lt;12 | 99, 32, 15&gt;</a:t>
            </a:r>
          </a:p>
          <a:p>
            <a:pPr>
              <a:lnSpc>
                <a:spcPct val="40000"/>
              </a:lnSpc>
              <a:buFontTx/>
              <a:buNone/>
            </a:pPr>
            <a:endParaRPr lang="en-US" smtClean="0">
              <a:latin typeface="Helvetica" pitchFamily="26" charset="0"/>
            </a:endParaRPr>
          </a:p>
          <a:p>
            <a:pPr>
              <a:lnSpc>
                <a:spcPct val="90000"/>
              </a:lnSpc>
              <a:buFontTx/>
              <a:buNone/>
            </a:pPr>
            <a:r>
              <a:rPr lang="en-US" smtClean="0">
                <a:latin typeface="Helvetica" pitchFamily="26" charset="0"/>
              </a:rPr>
              <a:t>Iterate through the whole list:</a:t>
            </a:r>
          </a:p>
          <a:p>
            <a:pPr>
              <a:lnSpc>
                <a:spcPct val="30000"/>
              </a:lnSpc>
              <a:buFontTx/>
              <a:buNone/>
            </a:pPr>
            <a:endParaRPr lang="en-US" smtClean="0">
              <a:latin typeface="Helvetica" pitchFamily="26" charset="0"/>
            </a:endParaRPr>
          </a:p>
          <a:p>
            <a:pPr>
              <a:lnSpc>
                <a:spcPct val="90000"/>
              </a:lnSpc>
              <a:buFontTx/>
              <a:buNone/>
            </a:pPr>
            <a:r>
              <a:rPr lang="en-US" sz="2400" b="1" smtClean="0">
                <a:latin typeface="Courier New" pitchFamily="26" charset="0"/>
              </a:rPr>
              <a:t>for (L.moveToStart(); L.currPos()&lt;L.length();  </a:t>
            </a:r>
          </a:p>
          <a:p>
            <a:pPr>
              <a:lnSpc>
                <a:spcPct val="90000"/>
              </a:lnSpc>
              <a:buFontTx/>
              <a:buNone/>
            </a:pPr>
            <a:r>
              <a:rPr lang="en-US" sz="2400" b="1" smtClean="0">
                <a:latin typeface="Courier New" pitchFamily="26" charset="0"/>
              </a:rPr>
              <a:t>     L.next()) {</a:t>
            </a:r>
          </a:p>
          <a:p>
            <a:pPr>
              <a:lnSpc>
                <a:spcPct val="90000"/>
              </a:lnSpc>
              <a:buFontTx/>
              <a:buNone/>
            </a:pPr>
            <a:r>
              <a:rPr lang="en-US" sz="2400" b="1" smtClean="0">
                <a:latin typeface="Courier New" pitchFamily="26" charset="0"/>
              </a:rPr>
              <a:t>  it = L.getValue();</a:t>
            </a:r>
          </a:p>
          <a:p>
            <a:pPr>
              <a:lnSpc>
                <a:spcPct val="90000"/>
              </a:lnSpc>
              <a:buFontTx/>
              <a:buNone/>
            </a:pPr>
            <a:r>
              <a:rPr lang="en-US" sz="2400" b="1" smtClean="0">
                <a:latin typeface="Courier New" pitchFamily="26" charset="0"/>
              </a:rPr>
              <a:t>  doSomething(it);</a:t>
            </a:r>
          </a:p>
          <a:p>
            <a:pPr>
              <a:lnSpc>
                <a:spcPct val="90000"/>
              </a:lnSpc>
              <a:buFontTx/>
              <a:buNone/>
            </a:pPr>
            <a:r>
              <a:rPr lang="en-US" sz="2400" b="1" smtClean="0">
                <a:latin typeface="Courier New" pitchFamily="26" charset="0"/>
              </a:rPr>
              <a:t>}</a:t>
            </a:r>
          </a:p>
          <a:p>
            <a:pPr>
              <a:lnSpc>
                <a:spcPct val="90000"/>
              </a:lnSpc>
              <a:buFontTx/>
              <a:buNone/>
            </a:pPr>
            <a:endParaRPr lang="en-US" sz="2400" smtClean="0">
              <a:latin typeface="Courier New" pitchFamily="2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p:cNvSpPr>
            <a:spLocks noGrp="1"/>
          </p:cNvSpPr>
          <p:nvPr>
            <p:ph type="sldNum" sz="quarter" idx="12"/>
          </p:nvPr>
        </p:nvSpPr>
        <p:spPr>
          <a:noFill/>
        </p:spPr>
        <p:txBody>
          <a:bodyPr/>
          <a:lstStyle/>
          <a:p>
            <a:fld id="{A063F33D-C6E0-4056-A286-12FCE8FC38BE}" type="slidenum">
              <a:rPr lang="en-US" smtClean="0"/>
              <a:pPr/>
              <a:t>10</a:t>
            </a:fld>
            <a:endParaRPr lang="en-US" smtClean="0"/>
          </a:p>
        </p:txBody>
      </p:sp>
      <p:sp>
        <p:nvSpPr>
          <p:cNvPr id="84995"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List Find Function</a:t>
            </a:r>
          </a:p>
        </p:txBody>
      </p:sp>
      <p:sp>
        <p:nvSpPr>
          <p:cNvPr id="84996" name="Rectangle 3"/>
          <p:cNvSpPr>
            <a:spLocks noGrp="1" noChangeArrowheads="1"/>
          </p:cNvSpPr>
          <p:nvPr>
            <p:ph type="body" idx="1"/>
          </p:nvPr>
        </p:nvSpPr>
        <p:spPr>
          <a:xfrm>
            <a:off x="455613" y="1600200"/>
            <a:ext cx="8459787" cy="4572000"/>
          </a:xfrm>
        </p:spPr>
        <p:txBody>
          <a:bodyPr/>
          <a:lstStyle/>
          <a:p>
            <a:pPr>
              <a:lnSpc>
                <a:spcPct val="90000"/>
              </a:lnSpc>
              <a:buFontTx/>
              <a:buNone/>
            </a:pPr>
            <a:r>
              <a:rPr lang="en-US" sz="2400" b="1" dirty="0" smtClean="0">
                <a:latin typeface="Courier New" pitchFamily="26" charset="0"/>
              </a:rPr>
              <a:t>/** @return True if k is in list L,</a:t>
            </a:r>
          </a:p>
          <a:p>
            <a:pPr>
              <a:lnSpc>
                <a:spcPct val="90000"/>
              </a:lnSpc>
              <a:buFontTx/>
              <a:buNone/>
            </a:pPr>
            <a:r>
              <a:rPr lang="en-US" sz="2400" b="1" dirty="0" smtClean="0">
                <a:latin typeface="Courier New" pitchFamily="26" charset="0"/>
              </a:rPr>
              <a:t>    false otherwise */</a:t>
            </a:r>
          </a:p>
          <a:p>
            <a:pPr>
              <a:lnSpc>
                <a:spcPct val="90000"/>
              </a:lnSpc>
              <a:buFontTx/>
              <a:buNone/>
            </a:pPr>
            <a:r>
              <a:rPr lang="en-US" sz="2400" b="1" dirty="0" smtClean="0">
                <a:latin typeface="Courier New" pitchFamily="26" charset="0"/>
              </a:rPr>
              <a:t>public static </a:t>
            </a:r>
            <a:r>
              <a:rPr lang="en-US" sz="2400" b="1" dirty="0" err="1" smtClean="0">
                <a:latin typeface="Courier New" pitchFamily="26" charset="0"/>
              </a:rPr>
              <a:t>boolean</a:t>
            </a:r>
            <a:endParaRPr lang="en-US" sz="2400" b="1" dirty="0" smtClean="0">
              <a:latin typeface="Courier New" pitchFamily="26" charset="0"/>
            </a:endParaRPr>
          </a:p>
          <a:p>
            <a:pPr>
              <a:lnSpc>
                <a:spcPct val="90000"/>
              </a:lnSpc>
              <a:buFontTx/>
              <a:buNone/>
            </a:pPr>
            <a:r>
              <a:rPr lang="en-US" sz="2400" b="1" dirty="0" smtClean="0">
                <a:latin typeface="Courier New" pitchFamily="26" charset="0"/>
              </a:rPr>
              <a:t>find(List&lt;</a:t>
            </a:r>
            <a:r>
              <a:rPr lang="en-US" sz="2400" b="1" dirty="0" err="1" smtClean="0">
                <a:latin typeface="Courier New" pitchFamily="26" charset="0"/>
              </a:rPr>
              <a:t>int</a:t>
            </a:r>
            <a:r>
              <a:rPr lang="en-US" sz="2400" b="1" dirty="0" smtClean="0">
                <a:latin typeface="Courier New" pitchFamily="26" charset="0"/>
              </a:rPr>
              <a:t>&gt; L, </a:t>
            </a:r>
            <a:r>
              <a:rPr lang="en-US" sz="2400" b="1" dirty="0" err="1" smtClean="0">
                <a:latin typeface="Courier New" pitchFamily="26" charset="0"/>
              </a:rPr>
              <a:t>int</a:t>
            </a:r>
            <a:r>
              <a:rPr lang="en-US" sz="2400" b="1" dirty="0" smtClean="0">
                <a:latin typeface="Courier New" pitchFamily="26" charset="0"/>
              </a:rPr>
              <a:t> k) {</a:t>
            </a:r>
          </a:p>
          <a:p>
            <a:pPr>
              <a:lnSpc>
                <a:spcPct val="90000"/>
              </a:lnSpc>
              <a:buFontTx/>
              <a:buNone/>
            </a:pPr>
            <a:r>
              <a:rPr lang="en-US" sz="2400" b="1" dirty="0" smtClean="0">
                <a:latin typeface="Courier New" pitchFamily="26" charset="0"/>
              </a:rPr>
              <a:t>  for (</a:t>
            </a:r>
            <a:r>
              <a:rPr lang="en-US" sz="2400" b="1" dirty="0" err="1" smtClean="0">
                <a:latin typeface="Courier New" pitchFamily="26" charset="0"/>
              </a:rPr>
              <a:t>L.moveToStart</a:t>
            </a:r>
            <a:r>
              <a:rPr lang="en-US" sz="2400" b="1" dirty="0" smtClean="0">
                <a:latin typeface="Courier New" pitchFamily="26" charset="0"/>
              </a:rPr>
              <a:t>();         				  </a:t>
            </a:r>
            <a:r>
              <a:rPr lang="en-US" sz="2400" b="1" dirty="0" err="1" smtClean="0">
                <a:latin typeface="Courier New" pitchFamily="26" charset="0"/>
              </a:rPr>
              <a:t>L.currPos</a:t>
            </a:r>
            <a:r>
              <a:rPr lang="en-US" sz="2400" b="1" dirty="0" smtClean="0">
                <a:latin typeface="Courier New" pitchFamily="26" charset="0"/>
              </a:rPr>
              <a:t>()&lt;</a:t>
            </a:r>
            <a:r>
              <a:rPr lang="en-US" sz="2400" b="1" dirty="0" err="1" smtClean="0">
                <a:latin typeface="Courier New" pitchFamily="26" charset="0"/>
              </a:rPr>
              <a:t>L.length</a:t>
            </a:r>
            <a:r>
              <a:rPr lang="en-US" sz="2400" b="1" dirty="0" smtClean="0">
                <a:latin typeface="Courier New" pitchFamily="26" charset="0"/>
              </a:rPr>
              <a:t>(); </a:t>
            </a:r>
            <a:r>
              <a:rPr lang="en-US" sz="2400" b="1" dirty="0" err="1" smtClean="0">
                <a:latin typeface="Courier New" pitchFamily="26" charset="0"/>
              </a:rPr>
              <a:t>L.next</a:t>
            </a:r>
            <a:r>
              <a:rPr lang="en-US" sz="2400" b="1" dirty="0" smtClean="0">
                <a:latin typeface="Courier New" pitchFamily="26" charset="0"/>
              </a:rPr>
              <a:t>())</a:t>
            </a:r>
          </a:p>
          <a:p>
            <a:pPr>
              <a:lnSpc>
                <a:spcPct val="90000"/>
              </a:lnSpc>
              <a:buFontTx/>
              <a:buNone/>
            </a:pPr>
            <a:r>
              <a:rPr lang="en-US" sz="2400" b="1" dirty="0" smtClean="0">
                <a:latin typeface="Courier New" pitchFamily="26" charset="0"/>
              </a:rPr>
              <a:t>    if (k == </a:t>
            </a:r>
            <a:r>
              <a:rPr lang="en-US" sz="2400" b="1" dirty="0" err="1" smtClean="0">
                <a:latin typeface="Courier New" pitchFamily="26" charset="0"/>
              </a:rPr>
              <a:t>L.getValue</a:t>
            </a:r>
            <a:r>
              <a:rPr lang="en-US" sz="2400" b="1" dirty="0" smtClean="0">
                <a:latin typeface="Courier New" pitchFamily="26" charset="0"/>
              </a:rPr>
              <a:t>()) return true;</a:t>
            </a:r>
          </a:p>
          <a:p>
            <a:pPr>
              <a:lnSpc>
                <a:spcPct val="90000"/>
              </a:lnSpc>
              <a:buFontTx/>
              <a:buNone/>
            </a:pPr>
            <a:r>
              <a:rPr lang="en-US" sz="2400" b="1" dirty="0" smtClean="0">
                <a:latin typeface="Courier New" pitchFamily="26" charset="0"/>
              </a:rPr>
              <a:t>  return false;           // k not found</a:t>
            </a:r>
          </a:p>
          <a:p>
            <a:pPr>
              <a:lnSpc>
                <a:spcPct val="90000"/>
              </a:lnSpc>
              <a:buFontTx/>
              <a:buNone/>
            </a:pPr>
            <a:r>
              <a:rPr lang="en-US" sz="2400" b="1" dirty="0" smtClean="0">
                <a:latin typeface="Courier New" pitchFamily="26" charset="0"/>
              </a:rPr>
              <a:t>}</a:t>
            </a:r>
          </a:p>
          <a:p>
            <a:pPr>
              <a:lnSpc>
                <a:spcPct val="90000"/>
              </a:lnSpc>
              <a:buFontTx/>
              <a:buNone/>
            </a:pPr>
            <a:endParaRPr lang="en-US" sz="2400" dirty="0" smtClean="0">
              <a:latin typeface="Courier New" pitchFamily="26"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14600"/>
            <a:ext cx="8229600" cy="1143000"/>
          </a:xfrm>
        </p:spPr>
        <p:txBody>
          <a:bodyPr/>
          <a:lstStyle/>
          <a:p>
            <a:r>
              <a:rPr lang="en-US" dirty="0" smtClean="0"/>
              <a:t>Array Based Implementation</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Based Implementation</a:t>
            </a:r>
            <a:endParaRPr lang="en-US" dirty="0"/>
          </a:p>
        </p:txBody>
      </p:sp>
      <p:sp>
        <p:nvSpPr>
          <p:cNvPr id="3" name="Content Placeholder 2"/>
          <p:cNvSpPr>
            <a:spLocks noGrp="1"/>
          </p:cNvSpPr>
          <p:nvPr>
            <p:ph idx="1"/>
          </p:nvPr>
        </p:nvSpPr>
        <p:spPr/>
        <p:txBody>
          <a:bodyPr/>
          <a:lstStyle/>
          <a:p>
            <a:r>
              <a:rPr lang="en-US" dirty="0" smtClean="0"/>
              <a:t>What will be running time of</a:t>
            </a:r>
          </a:p>
          <a:p>
            <a:pPr lvl="1"/>
            <a:r>
              <a:rPr lang="en-US" dirty="0" smtClean="0"/>
              <a:t>Append?</a:t>
            </a:r>
          </a:p>
          <a:p>
            <a:pPr lvl="1"/>
            <a:r>
              <a:rPr lang="en-US" dirty="0" smtClean="0"/>
              <a:t>Insert?</a:t>
            </a:r>
          </a:p>
          <a:p>
            <a:pPr lvl="1"/>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p:cNvSpPr>
            <a:spLocks noGrp="1"/>
          </p:cNvSpPr>
          <p:nvPr>
            <p:ph type="sldNum" sz="quarter" idx="12"/>
          </p:nvPr>
        </p:nvSpPr>
        <p:spPr>
          <a:noFill/>
        </p:spPr>
        <p:txBody>
          <a:bodyPr/>
          <a:lstStyle/>
          <a:p>
            <a:fld id="{65C1ABFB-8DA6-4BD4-84B3-3EE09C521669}" type="slidenum">
              <a:rPr lang="en-US" smtClean="0"/>
              <a:pPr/>
              <a:t>13</a:t>
            </a:fld>
            <a:endParaRPr lang="en-US" smtClean="0"/>
          </a:p>
        </p:txBody>
      </p:sp>
      <p:sp>
        <p:nvSpPr>
          <p:cNvPr id="86019"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Array-Based List: Insert</a:t>
            </a:r>
          </a:p>
        </p:txBody>
      </p:sp>
      <p:sp>
        <p:nvSpPr>
          <p:cNvPr id="86020" name="Rectangle 3"/>
          <p:cNvSpPr>
            <a:spLocks noGrp="1" noChangeArrowheads="1"/>
          </p:cNvSpPr>
          <p:nvPr>
            <p:ph type="body" idx="1"/>
          </p:nvPr>
        </p:nvSpPr>
        <p:spPr>
          <a:xfrm>
            <a:off x="455613" y="1600200"/>
            <a:ext cx="8226425" cy="4572000"/>
          </a:xfrm>
        </p:spPr>
        <p:txBody>
          <a:bodyPr/>
          <a:lstStyle/>
          <a:p>
            <a:pPr>
              <a:lnSpc>
                <a:spcPct val="90000"/>
              </a:lnSpc>
              <a:buFontTx/>
              <a:buNone/>
            </a:pPr>
            <a:endParaRPr lang="en-US" smtClean="0">
              <a:latin typeface="Helvetica" pitchFamily="26" charset="0"/>
            </a:endParaRPr>
          </a:p>
        </p:txBody>
      </p:sp>
      <p:pic>
        <p:nvPicPr>
          <p:cNvPr id="86021" name="Picture 4" descr="ShiftLis"/>
          <p:cNvPicPr>
            <a:picLocks noChangeAspect="1" noChangeArrowheads="1"/>
          </p:cNvPicPr>
          <p:nvPr/>
        </p:nvPicPr>
        <p:blipFill>
          <a:blip r:embed="rId3" cstate="print"/>
          <a:srcRect l="1610" t="2377" r="4292" b="2377"/>
          <a:stretch>
            <a:fillRect/>
          </a:stretch>
        </p:blipFill>
        <p:spPr bwMode="auto">
          <a:xfrm>
            <a:off x="381000" y="1600200"/>
            <a:ext cx="8458200" cy="3863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p:cNvSpPr>
            <a:spLocks noGrp="1"/>
          </p:cNvSpPr>
          <p:nvPr>
            <p:ph type="sldNum" sz="quarter" idx="12"/>
          </p:nvPr>
        </p:nvSpPr>
        <p:spPr>
          <a:noFill/>
        </p:spPr>
        <p:txBody>
          <a:bodyPr/>
          <a:lstStyle/>
          <a:p>
            <a:fld id="{65C1ABFB-8DA6-4BD4-84B3-3EE09C521669}" type="slidenum">
              <a:rPr lang="en-US" smtClean="0"/>
              <a:pPr/>
              <a:t>14</a:t>
            </a:fld>
            <a:endParaRPr lang="en-US" smtClean="0"/>
          </a:p>
        </p:txBody>
      </p:sp>
      <p:sp>
        <p:nvSpPr>
          <p:cNvPr id="86019"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Array-Based List: Remove</a:t>
            </a:r>
          </a:p>
        </p:txBody>
      </p:sp>
      <p:pic>
        <p:nvPicPr>
          <p:cNvPr id="2" name="Picture 1"/>
          <p:cNvPicPr>
            <a:picLocks noChangeAspect="1"/>
          </p:cNvPicPr>
          <p:nvPr/>
        </p:nvPicPr>
        <p:blipFill>
          <a:blip r:embed="rId3"/>
          <a:stretch>
            <a:fillRect/>
          </a:stretch>
        </p:blipFill>
        <p:spPr>
          <a:xfrm>
            <a:off x="342900" y="1495425"/>
            <a:ext cx="8458200" cy="3867150"/>
          </a:xfrm>
          <a:prstGeom prst="rect">
            <a:avLst/>
          </a:prstGeom>
        </p:spPr>
      </p:pic>
    </p:spTree>
    <p:extLst>
      <p:ext uri="{BB962C8B-B14F-4D97-AF65-F5344CB8AC3E}">
        <p14:creationId xmlns:p14="http://schemas.microsoft.com/office/powerpoint/2010/main" val="37120972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Array Based Implementation of List in C++</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15</a:t>
            </a:fld>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333389935"/>
              </p:ext>
            </p:extLst>
          </p:nvPr>
        </p:nvGraphicFramePr>
        <p:xfrm>
          <a:off x="3429000" y="3062288"/>
          <a:ext cx="2286000" cy="733425"/>
        </p:xfrm>
        <a:graphic>
          <a:graphicData uri="http://schemas.openxmlformats.org/presentationml/2006/ole">
            <mc:AlternateContent xmlns:mc="http://schemas.openxmlformats.org/markup-compatibility/2006">
              <mc:Choice xmlns:v="urn:schemas-microsoft-com:vml" Requires="v">
                <p:oleObj spid="_x0000_s23576" name="Packager Shell Object" showAsIcon="1" r:id="rId3" imgW="2285280" imgH="732960" progId="Package">
                  <p:embed/>
                </p:oleObj>
              </mc:Choice>
              <mc:Fallback>
                <p:oleObj name="Packager Shell Object" showAsIcon="1" r:id="rId3" imgW="2285280" imgH="732960" progId="Package">
                  <p:embed/>
                  <p:pic>
                    <p:nvPicPr>
                      <p:cNvPr id="0" name="Picture 2"/>
                      <p:cNvPicPr>
                        <a:picLocks noChangeAspect="1" noChangeArrowheads="1"/>
                      </p:cNvPicPr>
                      <p:nvPr/>
                    </p:nvPicPr>
                    <p:blipFill>
                      <a:blip r:embed="rId4"/>
                      <a:srcRect/>
                      <a:stretch>
                        <a:fillRect/>
                      </a:stretch>
                    </p:blipFill>
                    <p:spPr bwMode="auto">
                      <a:xfrm>
                        <a:off x="3429000" y="3062288"/>
                        <a:ext cx="228600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p:cNvSpPr>
            <a:spLocks noGrp="1"/>
          </p:cNvSpPr>
          <p:nvPr>
            <p:ph type="sldNum" sz="quarter" idx="12"/>
          </p:nvPr>
        </p:nvSpPr>
        <p:spPr>
          <a:noFill/>
        </p:spPr>
        <p:txBody>
          <a:bodyPr/>
          <a:lstStyle/>
          <a:p>
            <a:fld id="{0BECA977-3BDB-4368-80BB-AEFB2BE7E312}" type="slidenum">
              <a:rPr lang="en-US" smtClean="0"/>
              <a:pPr/>
              <a:t>16</a:t>
            </a:fld>
            <a:endParaRPr lang="en-US" smtClean="0"/>
          </a:p>
        </p:txBody>
      </p:sp>
      <p:sp>
        <p:nvSpPr>
          <p:cNvPr id="90115"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Insert</a:t>
            </a:r>
          </a:p>
        </p:txBody>
      </p:sp>
      <p:sp>
        <p:nvSpPr>
          <p:cNvPr id="90116"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sz="2400" b="1" dirty="0" smtClean="0">
                <a:latin typeface="Courier New" pitchFamily="26" charset="0"/>
              </a:rPr>
              <a:t>/** Insert "it" at current position */</a:t>
            </a:r>
          </a:p>
          <a:p>
            <a:pPr>
              <a:lnSpc>
                <a:spcPct val="90000"/>
              </a:lnSpc>
              <a:buFontTx/>
              <a:buNone/>
            </a:pPr>
            <a:r>
              <a:rPr lang="en-US" sz="2400" b="1" dirty="0" smtClean="0">
                <a:latin typeface="Courier New" pitchFamily="26" charset="0"/>
              </a:rPr>
              <a:t>public void insert(E it) {</a:t>
            </a:r>
          </a:p>
          <a:p>
            <a:pPr>
              <a:lnSpc>
                <a:spcPct val="90000"/>
              </a:lnSpc>
              <a:buFontTx/>
              <a:buNone/>
            </a:pPr>
            <a:r>
              <a:rPr lang="en-US" sz="2400" b="1" dirty="0" smtClean="0">
                <a:latin typeface="Courier New" pitchFamily="26" charset="0"/>
              </a:rPr>
              <a:t>  assert </a:t>
            </a:r>
            <a:r>
              <a:rPr lang="en-US" sz="2400" b="1" dirty="0" err="1" smtClean="0">
                <a:latin typeface="Courier New" pitchFamily="26" charset="0"/>
              </a:rPr>
              <a:t>listSize</a:t>
            </a:r>
            <a:r>
              <a:rPr lang="en-US" sz="2400" b="1" dirty="0" smtClean="0">
                <a:latin typeface="Courier New" pitchFamily="26" charset="0"/>
              </a:rPr>
              <a:t> &lt; </a:t>
            </a:r>
            <a:r>
              <a:rPr lang="en-US" sz="2400" b="1" dirty="0" err="1" smtClean="0">
                <a:latin typeface="Courier New" pitchFamily="26" charset="0"/>
              </a:rPr>
              <a:t>maxSize</a:t>
            </a:r>
            <a:r>
              <a:rPr lang="en-US" sz="2400" b="1" dirty="0" smtClean="0">
                <a:latin typeface="Courier New" pitchFamily="26" charset="0"/>
              </a:rPr>
              <a:t> :</a:t>
            </a:r>
          </a:p>
          <a:p>
            <a:pPr>
              <a:lnSpc>
                <a:spcPct val="90000"/>
              </a:lnSpc>
              <a:buFontTx/>
              <a:buNone/>
            </a:pPr>
            <a:r>
              <a:rPr lang="en-US" sz="2400" b="1" dirty="0" smtClean="0">
                <a:latin typeface="Courier New" pitchFamily="26" charset="0"/>
              </a:rPr>
              <a:t>         "List capacity exceeded";</a:t>
            </a:r>
          </a:p>
          <a:p>
            <a:pPr>
              <a:lnSpc>
                <a:spcPct val="90000"/>
              </a:lnSpc>
              <a:buFontTx/>
              <a:buNone/>
            </a:pPr>
            <a:r>
              <a:rPr lang="en-US" sz="2400" b="1" dirty="0" smtClean="0">
                <a:latin typeface="Courier New" pitchFamily="26" charset="0"/>
              </a:rPr>
              <a:t>  for (</a:t>
            </a:r>
            <a:r>
              <a:rPr lang="en-US" sz="2400" b="1" dirty="0" err="1" smtClean="0">
                <a:latin typeface="Courier New" pitchFamily="26" charset="0"/>
              </a:rPr>
              <a:t>int</a:t>
            </a:r>
            <a:r>
              <a:rPr lang="en-US" sz="2400" b="1" dirty="0" smtClean="0">
                <a:latin typeface="Courier New" pitchFamily="26" charset="0"/>
              </a:rPr>
              <a:t> </a:t>
            </a:r>
            <a:r>
              <a:rPr lang="en-US" sz="2400" b="1" dirty="0" err="1" smtClean="0">
                <a:latin typeface="Courier New" pitchFamily="26" charset="0"/>
              </a:rPr>
              <a:t>i</a:t>
            </a:r>
            <a:r>
              <a:rPr lang="en-US" sz="2400" b="1" dirty="0" smtClean="0">
                <a:latin typeface="Courier New" pitchFamily="26" charset="0"/>
              </a:rPr>
              <a:t>=</a:t>
            </a:r>
            <a:r>
              <a:rPr lang="en-US" sz="2400" b="1" dirty="0" err="1" smtClean="0">
                <a:latin typeface="Courier New" pitchFamily="26" charset="0"/>
              </a:rPr>
              <a:t>listSize</a:t>
            </a:r>
            <a:r>
              <a:rPr lang="en-US" sz="2400" b="1" dirty="0" smtClean="0">
                <a:latin typeface="Courier New" pitchFamily="26" charset="0"/>
              </a:rPr>
              <a:t>; </a:t>
            </a:r>
            <a:r>
              <a:rPr lang="en-US" sz="2400" b="1" dirty="0" err="1" smtClean="0">
                <a:latin typeface="Courier New" pitchFamily="26" charset="0"/>
              </a:rPr>
              <a:t>i</a:t>
            </a:r>
            <a:r>
              <a:rPr lang="en-US" sz="2400" b="1" dirty="0" smtClean="0">
                <a:latin typeface="Courier New" pitchFamily="26" charset="0"/>
              </a:rPr>
              <a:t>&gt;</a:t>
            </a:r>
            <a:r>
              <a:rPr lang="en-US" sz="2400" b="1" dirty="0" err="1" smtClean="0">
                <a:latin typeface="Courier New" pitchFamily="26" charset="0"/>
              </a:rPr>
              <a:t>curr</a:t>
            </a:r>
            <a:r>
              <a:rPr lang="en-US" sz="2400" b="1" dirty="0" smtClean="0">
                <a:latin typeface="Courier New" pitchFamily="26" charset="0"/>
              </a:rPr>
              <a:t>; </a:t>
            </a:r>
            <a:r>
              <a:rPr lang="en-US" sz="2400" b="1" dirty="0" err="1" smtClean="0">
                <a:latin typeface="Courier New" pitchFamily="26" charset="0"/>
              </a:rPr>
              <a:t>i</a:t>
            </a:r>
            <a:r>
              <a:rPr lang="en-US" sz="2400" b="1" dirty="0" smtClean="0">
                <a:latin typeface="Courier New" pitchFamily="26" charset="0"/>
              </a:rPr>
              <a:t>--)</a:t>
            </a:r>
          </a:p>
          <a:p>
            <a:pPr>
              <a:lnSpc>
                <a:spcPct val="90000"/>
              </a:lnSpc>
              <a:buFontTx/>
              <a:buNone/>
            </a:pPr>
            <a:r>
              <a:rPr lang="en-US" sz="2400" b="1" dirty="0" smtClean="0">
                <a:latin typeface="Courier New" pitchFamily="26" charset="0"/>
              </a:rPr>
              <a:t>    </a:t>
            </a:r>
            <a:r>
              <a:rPr lang="en-US" sz="2400" b="1" dirty="0" err="1" smtClean="0">
                <a:latin typeface="Courier New" pitchFamily="26" charset="0"/>
              </a:rPr>
              <a:t>listArray</a:t>
            </a:r>
            <a:r>
              <a:rPr lang="en-US" sz="2400" b="1" dirty="0" smtClean="0">
                <a:latin typeface="Courier New" pitchFamily="26" charset="0"/>
              </a:rPr>
              <a:t>[</a:t>
            </a:r>
            <a:r>
              <a:rPr lang="en-US" sz="2400" b="1" dirty="0" err="1" smtClean="0">
                <a:latin typeface="Courier New" pitchFamily="26" charset="0"/>
              </a:rPr>
              <a:t>i</a:t>
            </a:r>
            <a:r>
              <a:rPr lang="en-US" sz="2400" b="1" dirty="0" smtClean="0">
                <a:latin typeface="Courier New" pitchFamily="26" charset="0"/>
              </a:rPr>
              <a:t>] = </a:t>
            </a:r>
            <a:r>
              <a:rPr lang="en-US" sz="2400" b="1" dirty="0" err="1" smtClean="0">
                <a:latin typeface="Courier New" pitchFamily="26" charset="0"/>
              </a:rPr>
              <a:t>listArray</a:t>
            </a:r>
            <a:r>
              <a:rPr lang="en-US" sz="2400" b="1" dirty="0" smtClean="0">
                <a:latin typeface="Courier New" pitchFamily="26" charset="0"/>
              </a:rPr>
              <a:t>[i-1];</a:t>
            </a:r>
          </a:p>
          <a:p>
            <a:pPr>
              <a:lnSpc>
                <a:spcPct val="90000"/>
              </a:lnSpc>
              <a:buFontTx/>
              <a:buNone/>
            </a:pPr>
            <a:r>
              <a:rPr lang="en-US" sz="2400" b="1" dirty="0" smtClean="0">
                <a:latin typeface="Courier New" pitchFamily="26" charset="0"/>
              </a:rPr>
              <a:t>  </a:t>
            </a:r>
            <a:r>
              <a:rPr lang="en-US" sz="2400" b="1" dirty="0" err="1" smtClean="0">
                <a:latin typeface="Courier New" pitchFamily="26" charset="0"/>
              </a:rPr>
              <a:t>listArray</a:t>
            </a:r>
            <a:r>
              <a:rPr lang="en-US" sz="2400" b="1" dirty="0" smtClean="0">
                <a:latin typeface="Courier New" pitchFamily="26" charset="0"/>
              </a:rPr>
              <a:t>[</a:t>
            </a:r>
            <a:r>
              <a:rPr lang="en-US" sz="2400" b="1" dirty="0" err="1" smtClean="0">
                <a:latin typeface="Courier New" pitchFamily="26" charset="0"/>
              </a:rPr>
              <a:t>curr</a:t>
            </a:r>
            <a:r>
              <a:rPr lang="en-US" sz="2400" b="1" dirty="0" smtClean="0">
                <a:latin typeface="Courier New" pitchFamily="26" charset="0"/>
              </a:rPr>
              <a:t>] = it;</a:t>
            </a:r>
          </a:p>
          <a:p>
            <a:pPr>
              <a:lnSpc>
                <a:spcPct val="90000"/>
              </a:lnSpc>
              <a:buFontTx/>
              <a:buNone/>
            </a:pPr>
            <a:r>
              <a:rPr lang="en-US" sz="2400" b="1" dirty="0" smtClean="0">
                <a:latin typeface="Courier New" pitchFamily="26" charset="0"/>
              </a:rPr>
              <a:t>  </a:t>
            </a:r>
            <a:r>
              <a:rPr lang="en-US" sz="2400" b="1" dirty="0" err="1" smtClean="0">
                <a:latin typeface="Courier New" pitchFamily="26" charset="0"/>
              </a:rPr>
              <a:t>listSize</a:t>
            </a:r>
            <a:r>
              <a:rPr lang="en-US" sz="2400" b="1" dirty="0" smtClean="0">
                <a:latin typeface="Courier New" pitchFamily="26" charset="0"/>
              </a:rPr>
              <a:t>++;</a:t>
            </a:r>
          </a:p>
          <a:p>
            <a:pPr>
              <a:lnSpc>
                <a:spcPct val="90000"/>
              </a:lnSpc>
              <a:buFontTx/>
              <a:buNone/>
            </a:pPr>
            <a:r>
              <a:rPr lang="en-US" sz="2400" b="1" dirty="0" smtClean="0">
                <a:latin typeface="Courier New" pitchFamily="26" charset="0"/>
              </a:rPr>
              <a:t>}</a:t>
            </a:r>
          </a:p>
          <a:p>
            <a:pPr>
              <a:lnSpc>
                <a:spcPct val="90000"/>
              </a:lnSpc>
              <a:buFontTx/>
              <a:buNone/>
            </a:pPr>
            <a:endParaRPr lang="en-US" sz="2400" b="1" dirty="0" smtClean="0">
              <a:latin typeface="Courier New" pitchFamily="26" charset="0"/>
            </a:endParaRPr>
          </a:p>
          <a:p>
            <a:pPr>
              <a:lnSpc>
                <a:spcPct val="90000"/>
              </a:lnSpc>
              <a:buFontTx/>
              <a:buNone/>
            </a:pPr>
            <a:r>
              <a:rPr lang="en-US" sz="2400" b="1" dirty="0" smtClean="0">
                <a:latin typeface="Courier New" pitchFamily="26" charset="0"/>
              </a:rPr>
              <a:t>Runtime?</a:t>
            </a:r>
          </a:p>
          <a:p>
            <a:pPr>
              <a:lnSpc>
                <a:spcPct val="90000"/>
              </a:lnSpc>
              <a:buFontTx/>
              <a:buNone/>
            </a:pPr>
            <a:endParaRPr lang="en-US" sz="2400" dirty="0" smtClean="0">
              <a:latin typeface="Courier New" pitchFamily="26"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5"/>
          <p:cNvSpPr>
            <a:spLocks noGrp="1"/>
          </p:cNvSpPr>
          <p:nvPr>
            <p:ph type="sldNum" sz="quarter" idx="12"/>
          </p:nvPr>
        </p:nvSpPr>
        <p:spPr>
          <a:noFill/>
        </p:spPr>
        <p:txBody>
          <a:bodyPr/>
          <a:lstStyle/>
          <a:p>
            <a:fld id="{8CADB63B-01DC-4C35-B325-6DA064693511}" type="slidenum">
              <a:rPr lang="en-US" smtClean="0"/>
              <a:pPr/>
              <a:t>17</a:t>
            </a:fld>
            <a:endParaRPr lang="en-US" smtClean="0"/>
          </a:p>
        </p:txBody>
      </p:sp>
      <p:sp>
        <p:nvSpPr>
          <p:cNvPr id="9113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Append</a:t>
            </a:r>
          </a:p>
        </p:txBody>
      </p:sp>
      <p:sp>
        <p:nvSpPr>
          <p:cNvPr id="91140" name="Rectangle 3"/>
          <p:cNvSpPr>
            <a:spLocks noGrp="1" noChangeArrowheads="1"/>
          </p:cNvSpPr>
          <p:nvPr>
            <p:ph type="body" idx="1"/>
          </p:nvPr>
        </p:nvSpPr>
        <p:spPr>
          <a:xfrm>
            <a:off x="455613" y="1600200"/>
            <a:ext cx="8226425" cy="4572000"/>
          </a:xfrm>
        </p:spPr>
        <p:txBody>
          <a:bodyPr/>
          <a:lstStyle/>
          <a:p>
            <a:pPr>
              <a:lnSpc>
                <a:spcPct val="60000"/>
              </a:lnSpc>
              <a:buFontTx/>
              <a:buNone/>
            </a:pPr>
            <a:r>
              <a:rPr lang="en-US" sz="2400" b="1" dirty="0" smtClean="0">
                <a:latin typeface="Courier New" pitchFamily="26" charset="0"/>
              </a:rPr>
              <a:t>public void append(E it) { // Append "it"</a:t>
            </a:r>
          </a:p>
          <a:p>
            <a:pPr>
              <a:lnSpc>
                <a:spcPct val="60000"/>
              </a:lnSpc>
              <a:buFontTx/>
              <a:buNone/>
            </a:pPr>
            <a:r>
              <a:rPr lang="en-US" sz="2400" b="1" dirty="0" smtClean="0">
                <a:latin typeface="Courier New" pitchFamily="26" charset="0"/>
              </a:rPr>
              <a:t>  assert </a:t>
            </a:r>
            <a:r>
              <a:rPr lang="en-US" sz="2400" b="1" dirty="0" err="1" smtClean="0">
                <a:latin typeface="Courier New" pitchFamily="26" charset="0"/>
              </a:rPr>
              <a:t>listSize</a:t>
            </a:r>
            <a:r>
              <a:rPr lang="en-US" sz="2400" b="1" dirty="0" smtClean="0">
                <a:latin typeface="Courier New" pitchFamily="26" charset="0"/>
              </a:rPr>
              <a:t> &lt; </a:t>
            </a:r>
            <a:r>
              <a:rPr lang="en-US" sz="2400" b="1" dirty="0" err="1" smtClean="0">
                <a:latin typeface="Courier New" pitchFamily="26" charset="0"/>
              </a:rPr>
              <a:t>maxSize</a:t>
            </a:r>
            <a:r>
              <a:rPr lang="en-US" sz="2400" b="1" dirty="0" smtClean="0">
                <a:latin typeface="Courier New" pitchFamily="26" charset="0"/>
              </a:rPr>
              <a:t> : </a:t>
            </a:r>
          </a:p>
          <a:p>
            <a:pPr>
              <a:lnSpc>
                <a:spcPct val="60000"/>
              </a:lnSpc>
              <a:buFontTx/>
              <a:buNone/>
            </a:pPr>
            <a:r>
              <a:rPr lang="en-US" sz="2400" b="1" dirty="0" smtClean="0">
                <a:latin typeface="Courier New" pitchFamily="26" charset="0"/>
              </a:rPr>
              <a:t>         "List capacity exceeded";</a:t>
            </a:r>
          </a:p>
          <a:p>
            <a:pPr>
              <a:lnSpc>
                <a:spcPct val="60000"/>
              </a:lnSpc>
              <a:buFontTx/>
              <a:buNone/>
            </a:pPr>
            <a:r>
              <a:rPr lang="en-US" sz="2400" b="1" dirty="0" smtClean="0">
                <a:latin typeface="Courier New" pitchFamily="26" charset="0"/>
              </a:rPr>
              <a:t>  </a:t>
            </a:r>
            <a:r>
              <a:rPr lang="en-US" sz="2400" b="1" dirty="0" err="1" smtClean="0">
                <a:latin typeface="Courier New" pitchFamily="26" charset="0"/>
              </a:rPr>
              <a:t>listArray</a:t>
            </a:r>
            <a:r>
              <a:rPr lang="en-US" sz="2400" b="1" dirty="0" smtClean="0">
                <a:latin typeface="Courier New" pitchFamily="26" charset="0"/>
              </a:rPr>
              <a:t>[</a:t>
            </a:r>
            <a:r>
              <a:rPr lang="en-US" sz="2400" b="1" dirty="0" err="1" smtClean="0">
                <a:latin typeface="Courier New" pitchFamily="26" charset="0"/>
              </a:rPr>
              <a:t>listSize</a:t>
            </a:r>
            <a:r>
              <a:rPr lang="en-US" sz="2400" b="1" dirty="0" smtClean="0">
                <a:latin typeface="Courier New" pitchFamily="26" charset="0"/>
              </a:rPr>
              <a:t>++] = it;</a:t>
            </a:r>
          </a:p>
          <a:p>
            <a:pPr>
              <a:lnSpc>
                <a:spcPct val="60000"/>
              </a:lnSpc>
              <a:buFontTx/>
              <a:buNone/>
            </a:pPr>
            <a:r>
              <a:rPr lang="en-US" sz="2400" b="1" dirty="0" smtClean="0">
                <a:latin typeface="Courier New" pitchFamily="26" charset="0"/>
              </a:rPr>
              <a:t>}</a:t>
            </a:r>
          </a:p>
          <a:p>
            <a:pPr>
              <a:lnSpc>
                <a:spcPct val="60000"/>
              </a:lnSpc>
              <a:buFontTx/>
              <a:buNone/>
            </a:pPr>
            <a:endParaRPr lang="en-US" sz="2400" b="1" dirty="0" smtClean="0">
              <a:latin typeface="Courier New" pitchFamily="26" charset="0"/>
            </a:endParaRPr>
          </a:p>
          <a:p>
            <a:pPr>
              <a:lnSpc>
                <a:spcPct val="60000"/>
              </a:lnSpc>
              <a:buNone/>
            </a:pPr>
            <a:r>
              <a:rPr lang="en-US" sz="2400" b="1" dirty="0" smtClean="0">
                <a:latin typeface="Courier New" pitchFamily="26" charset="0"/>
              </a:rPr>
              <a:t>Runtime?</a:t>
            </a:r>
          </a:p>
          <a:p>
            <a:pPr>
              <a:lnSpc>
                <a:spcPct val="60000"/>
              </a:lnSpc>
              <a:buFontTx/>
              <a:buNone/>
            </a:pPr>
            <a:endParaRPr lang="en-US" sz="2400" b="1" dirty="0" smtClean="0">
              <a:latin typeface="Courier New" pitchFamily="26" charset="0"/>
            </a:endParaRPr>
          </a:p>
          <a:p>
            <a:pPr>
              <a:lnSpc>
                <a:spcPct val="60000"/>
              </a:lnSpc>
              <a:buFontTx/>
              <a:buNone/>
            </a:pPr>
            <a:endParaRPr lang="en-US" sz="2400" dirty="0" smtClean="0">
              <a:latin typeface="Courier New" pitchFamily="26"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p:cNvSpPr>
            <a:spLocks noGrp="1"/>
          </p:cNvSpPr>
          <p:nvPr>
            <p:ph type="sldNum" sz="quarter" idx="12"/>
          </p:nvPr>
        </p:nvSpPr>
        <p:spPr>
          <a:noFill/>
        </p:spPr>
        <p:txBody>
          <a:bodyPr/>
          <a:lstStyle/>
          <a:p>
            <a:fld id="{2A4D528F-B9BC-4414-87BD-73D7D5244EE6}" type="slidenum">
              <a:rPr lang="en-US" smtClean="0"/>
              <a:pPr/>
              <a:t>18</a:t>
            </a:fld>
            <a:endParaRPr lang="en-US" smtClean="0"/>
          </a:p>
        </p:txBody>
      </p:sp>
      <p:sp>
        <p:nvSpPr>
          <p:cNvPr id="92163"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Remove</a:t>
            </a:r>
          </a:p>
        </p:txBody>
      </p:sp>
      <p:sp>
        <p:nvSpPr>
          <p:cNvPr id="92164" name="Rectangle 3"/>
          <p:cNvSpPr>
            <a:spLocks noGrp="1" noChangeArrowheads="1"/>
          </p:cNvSpPr>
          <p:nvPr>
            <p:ph type="body" idx="1"/>
          </p:nvPr>
        </p:nvSpPr>
        <p:spPr>
          <a:xfrm>
            <a:off x="304800" y="1600200"/>
            <a:ext cx="8534400" cy="4572000"/>
          </a:xfrm>
        </p:spPr>
        <p:txBody>
          <a:bodyPr/>
          <a:lstStyle/>
          <a:p>
            <a:pPr>
              <a:lnSpc>
                <a:spcPct val="70000"/>
              </a:lnSpc>
              <a:buFontTx/>
              <a:buNone/>
            </a:pPr>
            <a:r>
              <a:rPr lang="en-US" sz="2400" b="1" dirty="0" smtClean="0">
                <a:latin typeface="Courier New" pitchFamily="26" charset="0"/>
              </a:rPr>
              <a:t>/** Remove and return the current element */</a:t>
            </a:r>
          </a:p>
          <a:p>
            <a:pPr>
              <a:lnSpc>
                <a:spcPct val="70000"/>
              </a:lnSpc>
              <a:buFontTx/>
              <a:buNone/>
            </a:pPr>
            <a:r>
              <a:rPr lang="en-US" sz="2400" b="1" dirty="0" smtClean="0">
                <a:latin typeface="Courier New" pitchFamily="26" charset="0"/>
              </a:rPr>
              <a:t>public E remove() {</a:t>
            </a:r>
          </a:p>
          <a:p>
            <a:pPr>
              <a:lnSpc>
                <a:spcPct val="70000"/>
              </a:lnSpc>
              <a:buFontTx/>
              <a:buNone/>
            </a:pPr>
            <a:r>
              <a:rPr lang="en-US" sz="2400" b="1" dirty="0" smtClean="0">
                <a:latin typeface="Courier New" pitchFamily="26" charset="0"/>
              </a:rPr>
              <a:t>  if ((</a:t>
            </a:r>
            <a:r>
              <a:rPr lang="en-US" sz="2400" b="1" dirty="0" err="1" smtClean="0">
                <a:latin typeface="Courier New" pitchFamily="26" charset="0"/>
              </a:rPr>
              <a:t>curr</a:t>
            </a:r>
            <a:r>
              <a:rPr lang="en-US" sz="2400" b="1" dirty="0" smtClean="0">
                <a:latin typeface="Courier New" pitchFamily="26" charset="0"/>
              </a:rPr>
              <a:t> &lt; 0) || (</a:t>
            </a:r>
            <a:r>
              <a:rPr lang="en-US" sz="2400" b="1" dirty="0" err="1" smtClean="0">
                <a:latin typeface="Courier New" pitchFamily="26" charset="0"/>
              </a:rPr>
              <a:t>curr</a:t>
            </a:r>
            <a:r>
              <a:rPr lang="en-US" sz="2400" b="1" dirty="0" smtClean="0">
                <a:latin typeface="Courier New" pitchFamily="26" charset="0"/>
              </a:rPr>
              <a:t> &gt;= </a:t>
            </a:r>
            <a:r>
              <a:rPr lang="en-US" sz="2400" b="1" dirty="0" err="1" smtClean="0">
                <a:latin typeface="Courier New" pitchFamily="26" charset="0"/>
              </a:rPr>
              <a:t>listSize</a:t>
            </a:r>
            <a:r>
              <a:rPr lang="en-US" sz="2400" b="1" dirty="0" smtClean="0">
                <a:latin typeface="Courier New" pitchFamily="26" charset="0"/>
              </a:rPr>
              <a:t>)) </a:t>
            </a:r>
          </a:p>
          <a:p>
            <a:pPr>
              <a:lnSpc>
                <a:spcPct val="70000"/>
              </a:lnSpc>
              <a:buFontTx/>
              <a:buNone/>
            </a:pPr>
            <a:r>
              <a:rPr lang="en-US" sz="2400" b="1" dirty="0" smtClean="0">
                <a:latin typeface="Courier New" pitchFamily="26" charset="0"/>
              </a:rPr>
              <a:t>    return null;</a:t>
            </a:r>
          </a:p>
          <a:p>
            <a:pPr>
              <a:lnSpc>
                <a:spcPct val="70000"/>
              </a:lnSpc>
              <a:buFontTx/>
              <a:buNone/>
            </a:pPr>
            <a:r>
              <a:rPr lang="en-US" sz="2400" b="1" dirty="0" smtClean="0">
                <a:latin typeface="Courier New" pitchFamily="26" charset="0"/>
              </a:rPr>
              <a:t>  E it = </a:t>
            </a:r>
            <a:r>
              <a:rPr lang="en-US" sz="2400" b="1" dirty="0" err="1" smtClean="0">
                <a:latin typeface="Courier New" pitchFamily="26" charset="0"/>
              </a:rPr>
              <a:t>listArray</a:t>
            </a:r>
            <a:r>
              <a:rPr lang="en-US" sz="2400" b="1" dirty="0" smtClean="0">
                <a:latin typeface="Courier New" pitchFamily="26" charset="0"/>
              </a:rPr>
              <a:t>[</a:t>
            </a:r>
            <a:r>
              <a:rPr lang="en-US" sz="2400" b="1" dirty="0" err="1" smtClean="0">
                <a:latin typeface="Courier New" pitchFamily="26" charset="0"/>
              </a:rPr>
              <a:t>curr</a:t>
            </a:r>
            <a:r>
              <a:rPr lang="en-US" sz="2400" b="1" dirty="0" smtClean="0">
                <a:latin typeface="Courier New" pitchFamily="26" charset="0"/>
              </a:rPr>
              <a:t>];</a:t>
            </a:r>
          </a:p>
          <a:p>
            <a:pPr>
              <a:lnSpc>
                <a:spcPct val="70000"/>
              </a:lnSpc>
              <a:buFontTx/>
              <a:buNone/>
            </a:pPr>
            <a:r>
              <a:rPr lang="en-US" sz="2400" b="1" dirty="0" smtClean="0">
                <a:latin typeface="Courier New" pitchFamily="26" charset="0"/>
              </a:rPr>
              <a:t>  for(</a:t>
            </a:r>
            <a:r>
              <a:rPr lang="en-US" sz="2400" b="1" dirty="0" err="1" smtClean="0">
                <a:latin typeface="Courier New" pitchFamily="26" charset="0"/>
              </a:rPr>
              <a:t>int</a:t>
            </a:r>
            <a:r>
              <a:rPr lang="en-US" sz="2400" b="1" dirty="0" smtClean="0">
                <a:latin typeface="Courier New" pitchFamily="26" charset="0"/>
              </a:rPr>
              <a:t> </a:t>
            </a:r>
            <a:r>
              <a:rPr lang="en-US" sz="2400" b="1" dirty="0" err="1" smtClean="0">
                <a:latin typeface="Courier New" pitchFamily="26" charset="0"/>
              </a:rPr>
              <a:t>i</a:t>
            </a:r>
            <a:r>
              <a:rPr lang="en-US" sz="2400" b="1" dirty="0" smtClean="0">
                <a:latin typeface="Courier New" pitchFamily="26" charset="0"/>
              </a:rPr>
              <a:t>=</a:t>
            </a:r>
            <a:r>
              <a:rPr lang="en-US" sz="2400" b="1" dirty="0" err="1" smtClean="0">
                <a:latin typeface="Courier New" pitchFamily="26" charset="0"/>
              </a:rPr>
              <a:t>curr</a:t>
            </a:r>
            <a:r>
              <a:rPr lang="en-US" sz="2400" b="1" dirty="0" smtClean="0">
                <a:latin typeface="Courier New" pitchFamily="26" charset="0"/>
              </a:rPr>
              <a:t>; </a:t>
            </a:r>
            <a:r>
              <a:rPr lang="en-US" sz="2400" b="1" dirty="0" err="1" smtClean="0">
                <a:latin typeface="Courier New" pitchFamily="26" charset="0"/>
              </a:rPr>
              <a:t>i</a:t>
            </a:r>
            <a:r>
              <a:rPr lang="en-US" sz="2400" b="1" dirty="0" smtClean="0">
                <a:latin typeface="Courier New" pitchFamily="26" charset="0"/>
              </a:rPr>
              <a:t>&lt;listSize-1; </a:t>
            </a:r>
            <a:r>
              <a:rPr lang="en-US" sz="2400" b="1" dirty="0" err="1" smtClean="0">
                <a:latin typeface="Courier New" pitchFamily="26" charset="0"/>
              </a:rPr>
              <a:t>i</a:t>
            </a:r>
            <a:r>
              <a:rPr lang="en-US" sz="2400" b="1" dirty="0" smtClean="0">
                <a:latin typeface="Courier New" pitchFamily="26" charset="0"/>
              </a:rPr>
              <a:t>++)</a:t>
            </a:r>
          </a:p>
          <a:p>
            <a:pPr>
              <a:lnSpc>
                <a:spcPct val="70000"/>
              </a:lnSpc>
              <a:buFontTx/>
              <a:buNone/>
            </a:pPr>
            <a:r>
              <a:rPr lang="en-US" sz="2400" b="1" dirty="0" smtClean="0">
                <a:latin typeface="Courier New" pitchFamily="26" charset="0"/>
              </a:rPr>
              <a:t>    </a:t>
            </a:r>
            <a:r>
              <a:rPr lang="en-US" sz="2400" b="1" dirty="0" err="1" smtClean="0">
                <a:latin typeface="Courier New" pitchFamily="26" charset="0"/>
              </a:rPr>
              <a:t>listArray</a:t>
            </a:r>
            <a:r>
              <a:rPr lang="en-US" sz="2400" b="1" dirty="0" smtClean="0">
                <a:latin typeface="Courier New" pitchFamily="26" charset="0"/>
              </a:rPr>
              <a:t>[</a:t>
            </a:r>
            <a:r>
              <a:rPr lang="en-US" sz="2400" b="1" dirty="0" err="1" smtClean="0">
                <a:latin typeface="Courier New" pitchFamily="26" charset="0"/>
              </a:rPr>
              <a:t>i</a:t>
            </a:r>
            <a:r>
              <a:rPr lang="en-US" sz="2400" b="1" dirty="0" smtClean="0">
                <a:latin typeface="Courier New" pitchFamily="26" charset="0"/>
              </a:rPr>
              <a:t>] = </a:t>
            </a:r>
            <a:r>
              <a:rPr lang="en-US" sz="2400" b="1" dirty="0" err="1" smtClean="0">
                <a:latin typeface="Courier New" pitchFamily="26" charset="0"/>
              </a:rPr>
              <a:t>listArray</a:t>
            </a:r>
            <a:r>
              <a:rPr lang="en-US" sz="2400" b="1" dirty="0" smtClean="0">
                <a:latin typeface="Courier New" pitchFamily="26" charset="0"/>
              </a:rPr>
              <a:t>[i+1];</a:t>
            </a:r>
          </a:p>
          <a:p>
            <a:pPr>
              <a:lnSpc>
                <a:spcPct val="70000"/>
              </a:lnSpc>
              <a:buFontTx/>
              <a:buNone/>
            </a:pPr>
            <a:r>
              <a:rPr lang="en-US" sz="2400" b="1" dirty="0" smtClean="0">
                <a:latin typeface="Courier New" pitchFamily="26" charset="0"/>
              </a:rPr>
              <a:t>  </a:t>
            </a:r>
            <a:r>
              <a:rPr lang="en-US" sz="2400" b="1" dirty="0" err="1" smtClean="0">
                <a:latin typeface="Courier New" pitchFamily="26" charset="0"/>
              </a:rPr>
              <a:t>listSize</a:t>
            </a:r>
            <a:r>
              <a:rPr lang="en-US" sz="2400" b="1" dirty="0" smtClean="0">
                <a:latin typeface="Courier New" pitchFamily="26" charset="0"/>
              </a:rPr>
              <a:t>--;</a:t>
            </a:r>
          </a:p>
          <a:p>
            <a:pPr>
              <a:lnSpc>
                <a:spcPct val="70000"/>
              </a:lnSpc>
              <a:buFontTx/>
              <a:buNone/>
            </a:pPr>
            <a:r>
              <a:rPr lang="en-US" sz="2400" b="1" dirty="0" smtClean="0">
                <a:latin typeface="Courier New" pitchFamily="26" charset="0"/>
              </a:rPr>
              <a:t>  return it;</a:t>
            </a:r>
          </a:p>
          <a:p>
            <a:pPr>
              <a:lnSpc>
                <a:spcPct val="70000"/>
              </a:lnSpc>
              <a:buFontTx/>
              <a:buNone/>
            </a:pPr>
            <a:r>
              <a:rPr lang="en-US" sz="2400" b="1" dirty="0" smtClean="0">
                <a:latin typeface="Courier New" pitchFamily="26" charset="0"/>
              </a:rPr>
              <a:t>}</a:t>
            </a:r>
          </a:p>
          <a:p>
            <a:pPr>
              <a:lnSpc>
                <a:spcPct val="70000"/>
              </a:lnSpc>
              <a:buFontTx/>
              <a:buNone/>
            </a:pPr>
            <a:endParaRPr lang="en-US" sz="2400" b="1" dirty="0" smtClean="0">
              <a:latin typeface="Courier New" pitchFamily="26" charset="0"/>
            </a:endParaRPr>
          </a:p>
          <a:p>
            <a:pPr>
              <a:lnSpc>
                <a:spcPct val="70000"/>
              </a:lnSpc>
              <a:buNone/>
            </a:pPr>
            <a:r>
              <a:rPr lang="en-US" sz="2400" b="1" dirty="0" smtClean="0">
                <a:latin typeface="Courier New" pitchFamily="26" charset="0"/>
              </a:rPr>
              <a:t>Runtime?</a:t>
            </a:r>
          </a:p>
          <a:p>
            <a:pPr>
              <a:lnSpc>
                <a:spcPct val="70000"/>
              </a:lnSpc>
              <a:buFontTx/>
              <a:buNone/>
            </a:pPr>
            <a:endParaRPr lang="en-US" sz="2400" b="1" dirty="0" smtClean="0">
              <a:latin typeface="Courier New" pitchFamily="26"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2200"/>
            <a:ext cx="8229600" cy="1143000"/>
          </a:xfrm>
        </p:spPr>
        <p:txBody>
          <a:bodyPr/>
          <a:lstStyle/>
          <a:p>
            <a:r>
              <a:rPr lang="en-US" dirty="0" smtClean="0"/>
              <a:t>Linked List Based Implementation</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2200"/>
            <a:ext cx="8229600" cy="1143000"/>
          </a:xfrm>
        </p:spPr>
        <p:txBody>
          <a:bodyPr/>
          <a:lstStyle/>
          <a:p>
            <a:r>
              <a:rPr lang="en-US" dirty="0" smtClean="0"/>
              <a:t>Linked List Concept…</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20</a:t>
            </a:fld>
            <a:endParaRPr lang="en-US"/>
          </a:p>
        </p:txBody>
      </p:sp>
    </p:spTree>
    <p:extLst>
      <p:ext uri="{BB962C8B-B14F-4D97-AF65-F5344CB8AC3E}">
        <p14:creationId xmlns:p14="http://schemas.microsoft.com/office/powerpoint/2010/main" val="36063529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idx="4294967295"/>
          </p:nvPr>
        </p:nvSpPr>
        <p:spPr/>
        <p:txBody>
          <a:bodyPr/>
          <a:lstStyle/>
          <a:p>
            <a:r>
              <a:rPr lang="en-US" altLang="en-US" smtClean="0"/>
              <a:t>Linked List</a:t>
            </a:r>
          </a:p>
        </p:txBody>
      </p:sp>
      <p:sp>
        <p:nvSpPr>
          <p:cNvPr id="157699" name="Rectangle 3"/>
          <p:cNvSpPr>
            <a:spLocks noGrp="1" noChangeArrowheads="1"/>
          </p:cNvSpPr>
          <p:nvPr>
            <p:ph type="body" sz="half" idx="4294967295"/>
          </p:nvPr>
        </p:nvSpPr>
        <p:spPr>
          <a:xfrm>
            <a:off x="517525" y="1098550"/>
            <a:ext cx="8078788" cy="2546350"/>
          </a:xfrm>
        </p:spPr>
        <p:txBody>
          <a:bodyPr>
            <a:normAutofit fontScale="92500" lnSpcReduction="20000"/>
          </a:bodyPr>
          <a:lstStyle/>
          <a:p>
            <a:r>
              <a:rPr lang="en-US" altLang="en-US" sz="2200" smtClean="0"/>
              <a:t>A linked list is a linear collection of data elements (called nodes), where the linear order is given by means of pointers.</a:t>
            </a:r>
          </a:p>
          <a:p>
            <a:r>
              <a:rPr lang="en-US" altLang="en-US" sz="2200" smtClean="0"/>
              <a:t>Each node is divided into 2 parts:</a:t>
            </a:r>
          </a:p>
          <a:p>
            <a:pPr lvl="1">
              <a:buFont typeface="Wingdings" panose="05000000000000000000" pitchFamily="2" charset="2"/>
              <a:buChar char="§"/>
            </a:pPr>
            <a:r>
              <a:rPr lang="en-US" altLang="en-US" smtClean="0"/>
              <a:t>1</a:t>
            </a:r>
            <a:r>
              <a:rPr lang="en-US" altLang="en-US" baseline="30000" smtClean="0"/>
              <a:t>st</a:t>
            </a:r>
            <a:r>
              <a:rPr lang="en-US" altLang="en-US" smtClean="0"/>
              <a:t> part contains the information of the element.</a:t>
            </a:r>
          </a:p>
          <a:p>
            <a:pPr lvl="1">
              <a:buFont typeface="Wingdings" panose="05000000000000000000" pitchFamily="2" charset="2"/>
              <a:buChar char="§"/>
            </a:pPr>
            <a:r>
              <a:rPr lang="en-US" altLang="en-US" smtClean="0"/>
              <a:t>2</a:t>
            </a:r>
            <a:r>
              <a:rPr lang="en-US" altLang="en-US" baseline="30000" smtClean="0"/>
              <a:t>nd</a:t>
            </a:r>
            <a:r>
              <a:rPr lang="en-US" altLang="en-US" smtClean="0"/>
              <a:t> part is called the </a:t>
            </a:r>
            <a:r>
              <a:rPr lang="en-US" altLang="en-US" smtClean="0">
                <a:solidFill>
                  <a:srgbClr val="990000"/>
                </a:solidFill>
              </a:rPr>
              <a:t>link field</a:t>
            </a:r>
            <a:r>
              <a:rPr lang="en-US" altLang="en-US" smtClean="0"/>
              <a:t> or </a:t>
            </a:r>
            <a:r>
              <a:rPr lang="en-US" altLang="en-US" smtClean="0">
                <a:solidFill>
                  <a:srgbClr val="990000"/>
                </a:solidFill>
              </a:rPr>
              <a:t>next pointer field </a:t>
            </a:r>
            <a:r>
              <a:rPr lang="en-US" altLang="en-US" smtClean="0"/>
              <a:t>which contains the address of the next node in the list.</a:t>
            </a:r>
          </a:p>
        </p:txBody>
      </p:sp>
      <p:sp>
        <p:nvSpPr>
          <p:cNvPr id="157700" name="Text Box 4"/>
          <p:cNvSpPr txBox="1">
            <a:spLocks noChangeArrowheads="1"/>
          </p:cNvSpPr>
          <p:nvPr/>
        </p:nvSpPr>
        <p:spPr bwMode="auto">
          <a:xfrm>
            <a:off x="468313" y="3940175"/>
            <a:ext cx="2962275"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200" dirty="0" err="1">
                <a:latin typeface="Helvetica" panose="020B0604020202020204" pitchFamily="34" charset="0"/>
              </a:rPr>
              <a:t>struct</a:t>
            </a:r>
            <a:r>
              <a:rPr lang="en-US" altLang="en-US" sz="2200" dirty="0">
                <a:latin typeface="Helvetica" panose="020B0604020202020204" pitchFamily="34" charset="0"/>
              </a:rPr>
              <a:t> node {</a:t>
            </a:r>
          </a:p>
          <a:p>
            <a:pPr algn="l" eaLnBrk="0" hangingPunct="0">
              <a:spcBef>
                <a:spcPct val="50000"/>
              </a:spcBef>
            </a:pPr>
            <a:r>
              <a:rPr lang="en-US" altLang="en-US" sz="2200" dirty="0">
                <a:latin typeface="Helvetica" panose="020B0604020202020204" pitchFamily="34" charset="0"/>
              </a:rPr>
              <a:t>     </a:t>
            </a:r>
            <a:r>
              <a:rPr lang="en-US" altLang="en-US" sz="2200" dirty="0" err="1">
                <a:latin typeface="Helvetica" panose="020B0604020202020204" pitchFamily="34" charset="0"/>
              </a:rPr>
              <a:t>int</a:t>
            </a:r>
            <a:r>
              <a:rPr lang="en-US" altLang="en-US" sz="2200" dirty="0">
                <a:latin typeface="Helvetica" panose="020B0604020202020204" pitchFamily="34" charset="0"/>
              </a:rPr>
              <a:t> value;</a:t>
            </a:r>
          </a:p>
          <a:p>
            <a:pPr algn="l" eaLnBrk="0" hangingPunct="0">
              <a:spcBef>
                <a:spcPct val="50000"/>
              </a:spcBef>
            </a:pPr>
            <a:r>
              <a:rPr lang="en-US" altLang="en-US" sz="2200" dirty="0">
                <a:latin typeface="Helvetica" panose="020B0604020202020204" pitchFamily="34" charset="0"/>
              </a:rPr>
              <a:t>     </a:t>
            </a:r>
            <a:r>
              <a:rPr lang="en-US" altLang="en-US" sz="2200" dirty="0" err="1">
                <a:latin typeface="Helvetica" panose="020B0604020202020204" pitchFamily="34" charset="0"/>
              </a:rPr>
              <a:t>struct</a:t>
            </a:r>
            <a:r>
              <a:rPr lang="en-US" altLang="en-US" sz="2200" dirty="0">
                <a:latin typeface="Helvetica" panose="020B0604020202020204" pitchFamily="34" charset="0"/>
              </a:rPr>
              <a:t> node *next;</a:t>
            </a:r>
          </a:p>
          <a:p>
            <a:pPr algn="l" eaLnBrk="0" hangingPunct="0">
              <a:spcBef>
                <a:spcPct val="50000"/>
              </a:spcBef>
            </a:pPr>
            <a:r>
              <a:rPr lang="en-US" altLang="en-US" sz="2200" dirty="0">
                <a:latin typeface="Helvetica" panose="020B0604020202020204" pitchFamily="34" charset="0"/>
              </a:rPr>
              <a:t>}</a:t>
            </a:r>
          </a:p>
        </p:txBody>
      </p:sp>
      <p:graphicFrame>
        <p:nvGraphicFramePr>
          <p:cNvPr id="157701" name="Group 5"/>
          <p:cNvGraphicFramePr>
            <a:graphicFrameLocks noGrp="1"/>
          </p:cNvGraphicFramePr>
          <p:nvPr/>
        </p:nvGraphicFramePr>
        <p:xfrm>
          <a:off x="3419475" y="4292600"/>
          <a:ext cx="1063625" cy="481013"/>
        </p:xfrm>
        <a:graphic>
          <a:graphicData uri="http://schemas.openxmlformats.org/drawingml/2006/table">
            <a:tbl>
              <a:tblPr/>
              <a:tblGrid>
                <a:gridCol w="558800">
                  <a:extLst>
                    <a:ext uri="{9D8B030D-6E8A-4147-A177-3AD203B41FA5}">
                      <a16:colId xmlns:a16="http://schemas.microsoft.com/office/drawing/2014/main" val="4162964625"/>
                    </a:ext>
                  </a:extLst>
                </a:gridCol>
                <a:gridCol w="504825">
                  <a:extLst>
                    <a:ext uri="{9D8B030D-6E8A-4147-A177-3AD203B41FA5}">
                      <a16:colId xmlns:a16="http://schemas.microsoft.com/office/drawing/2014/main" val="3062162646"/>
                    </a:ext>
                  </a:extLst>
                </a:gridCol>
              </a:tblGrid>
              <a:tr h="4810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r>
                        <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5748069"/>
                  </a:ext>
                </a:extLst>
              </a:tr>
            </a:tbl>
          </a:graphicData>
        </a:graphic>
      </p:graphicFrame>
      <p:graphicFrame>
        <p:nvGraphicFramePr>
          <p:cNvPr id="157709" name="Group 13"/>
          <p:cNvGraphicFramePr>
            <a:graphicFrameLocks noGrp="1"/>
          </p:cNvGraphicFramePr>
          <p:nvPr/>
        </p:nvGraphicFramePr>
        <p:xfrm>
          <a:off x="4800600" y="4324350"/>
          <a:ext cx="1063625" cy="481013"/>
        </p:xfrm>
        <a:graphic>
          <a:graphicData uri="http://schemas.openxmlformats.org/drawingml/2006/table">
            <a:tbl>
              <a:tblPr/>
              <a:tblGrid>
                <a:gridCol w="558800">
                  <a:extLst>
                    <a:ext uri="{9D8B030D-6E8A-4147-A177-3AD203B41FA5}">
                      <a16:colId xmlns:a16="http://schemas.microsoft.com/office/drawing/2014/main" val="2244551185"/>
                    </a:ext>
                  </a:extLst>
                </a:gridCol>
                <a:gridCol w="504825">
                  <a:extLst>
                    <a:ext uri="{9D8B030D-6E8A-4147-A177-3AD203B41FA5}">
                      <a16:colId xmlns:a16="http://schemas.microsoft.com/office/drawing/2014/main" val="2002383648"/>
                    </a:ext>
                  </a:extLst>
                </a:gridCol>
              </a:tblGrid>
              <a:tr h="4810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r>
                        <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9583560"/>
                  </a:ext>
                </a:extLst>
              </a:tr>
            </a:tbl>
          </a:graphicData>
        </a:graphic>
      </p:graphicFrame>
      <p:graphicFrame>
        <p:nvGraphicFramePr>
          <p:cNvPr id="157717" name="Group 21"/>
          <p:cNvGraphicFramePr>
            <a:graphicFrameLocks noGrp="1"/>
          </p:cNvGraphicFramePr>
          <p:nvPr/>
        </p:nvGraphicFramePr>
        <p:xfrm>
          <a:off x="6200775" y="4308475"/>
          <a:ext cx="1063625" cy="481013"/>
        </p:xfrm>
        <a:graphic>
          <a:graphicData uri="http://schemas.openxmlformats.org/drawingml/2006/table">
            <a:tbl>
              <a:tblPr/>
              <a:tblGrid>
                <a:gridCol w="558800">
                  <a:extLst>
                    <a:ext uri="{9D8B030D-6E8A-4147-A177-3AD203B41FA5}">
                      <a16:colId xmlns:a16="http://schemas.microsoft.com/office/drawing/2014/main" val="363743675"/>
                    </a:ext>
                  </a:extLst>
                </a:gridCol>
                <a:gridCol w="504825">
                  <a:extLst>
                    <a:ext uri="{9D8B030D-6E8A-4147-A177-3AD203B41FA5}">
                      <a16:colId xmlns:a16="http://schemas.microsoft.com/office/drawing/2014/main" val="1346842637"/>
                    </a:ext>
                  </a:extLst>
                </a:gridCol>
              </a:tblGrid>
              <a:tr h="4810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r>
                        <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6095601"/>
                  </a:ext>
                </a:extLst>
              </a:tr>
            </a:tbl>
          </a:graphicData>
        </a:graphic>
      </p:graphicFrame>
      <p:graphicFrame>
        <p:nvGraphicFramePr>
          <p:cNvPr id="157725" name="Group 29"/>
          <p:cNvGraphicFramePr>
            <a:graphicFrameLocks noGrp="1"/>
          </p:cNvGraphicFramePr>
          <p:nvPr/>
        </p:nvGraphicFramePr>
        <p:xfrm>
          <a:off x="7532688" y="4292600"/>
          <a:ext cx="1063625" cy="481013"/>
        </p:xfrm>
        <a:graphic>
          <a:graphicData uri="http://schemas.openxmlformats.org/drawingml/2006/table">
            <a:tbl>
              <a:tblPr/>
              <a:tblGrid>
                <a:gridCol w="558800">
                  <a:extLst>
                    <a:ext uri="{9D8B030D-6E8A-4147-A177-3AD203B41FA5}">
                      <a16:colId xmlns:a16="http://schemas.microsoft.com/office/drawing/2014/main" val="1048095923"/>
                    </a:ext>
                  </a:extLst>
                </a:gridCol>
                <a:gridCol w="504825">
                  <a:extLst>
                    <a:ext uri="{9D8B030D-6E8A-4147-A177-3AD203B41FA5}">
                      <a16:colId xmlns:a16="http://schemas.microsoft.com/office/drawing/2014/main" val="3750834851"/>
                    </a:ext>
                  </a:extLst>
                </a:gridCol>
              </a:tblGrid>
              <a:tr h="4810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r>
                        <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7626261"/>
                  </a:ext>
                </a:extLst>
              </a:tr>
            </a:tbl>
          </a:graphicData>
        </a:graphic>
      </p:graphicFrame>
      <p:sp>
        <p:nvSpPr>
          <p:cNvPr id="157733" name="Line 37"/>
          <p:cNvSpPr>
            <a:spLocks noChangeShapeType="1"/>
          </p:cNvSpPr>
          <p:nvPr/>
        </p:nvSpPr>
        <p:spPr bwMode="auto">
          <a:xfrm flipV="1">
            <a:off x="7034213" y="4518025"/>
            <a:ext cx="481012" cy="238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734" name="Line 38"/>
          <p:cNvSpPr>
            <a:spLocks noChangeShapeType="1"/>
          </p:cNvSpPr>
          <p:nvPr/>
        </p:nvSpPr>
        <p:spPr bwMode="auto">
          <a:xfrm>
            <a:off x="5565775" y="4541838"/>
            <a:ext cx="6016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735" name="Line 39"/>
          <p:cNvSpPr>
            <a:spLocks noChangeShapeType="1"/>
          </p:cNvSpPr>
          <p:nvPr/>
        </p:nvSpPr>
        <p:spPr bwMode="auto">
          <a:xfrm>
            <a:off x="4243388" y="4518025"/>
            <a:ext cx="552450" cy="238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736" name="Line 40"/>
          <p:cNvSpPr>
            <a:spLocks noChangeShapeType="1"/>
          </p:cNvSpPr>
          <p:nvPr/>
        </p:nvSpPr>
        <p:spPr bwMode="auto">
          <a:xfrm flipV="1">
            <a:off x="8091488" y="4292600"/>
            <a:ext cx="504825" cy="4810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6945247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idx="4294967295"/>
          </p:nvPr>
        </p:nvSpPr>
        <p:spPr/>
        <p:txBody>
          <a:bodyPr/>
          <a:lstStyle/>
          <a:p>
            <a:r>
              <a:rPr lang="en-US" altLang="en-US" smtClean="0"/>
              <a:t>Basic Operations</a:t>
            </a:r>
          </a:p>
        </p:txBody>
      </p:sp>
      <p:sp>
        <p:nvSpPr>
          <p:cNvPr id="158723" name="Rectangle 3"/>
          <p:cNvSpPr>
            <a:spLocks noGrp="1" noChangeArrowheads="1"/>
          </p:cNvSpPr>
          <p:nvPr>
            <p:ph type="body" idx="4294967295"/>
          </p:nvPr>
        </p:nvSpPr>
        <p:spPr>
          <a:xfrm>
            <a:off x="611188" y="1268413"/>
            <a:ext cx="7618412" cy="2881312"/>
          </a:xfrm>
        </p:spPr>
        <p:txBody>
          <a:bodyPr>
            <a:normAutofit fontScale="92500" lnSpcReduction="10000"/>
          </a:bodyPr>
          <a:lstStyle/>
          <a:p>
            <a:r>
              <a:rPr lang="en-US" altLang="en-US" smtClean="0">
                <a:solidFill>
                  <a:srgbClr val="0000CC"/>
                </a:solidFill>
              </a:rPr>
              <a:t>Insert</a:t>
            </a:r>
            <a:r>
              <a:rPr lang="en-US" altLang="en-US" smtClean="0"/>
              <a:t>: Add a new node in the first, last or interior of the list.</a:t>
            </a:r>
          </a:p>
          <a:p>
            <a:r>
              <a:rPr lang="en-US" altLang="en-US" smtClean="0">
                <a:solidFill>
                  <a:srgbClr val="0000CC"/>
                </a:solidFill>
              </a:rPr>
              <a:t>Delete</a:t>
            </a:r>
            <a:r>
              <a:rPr lang="en-US" altLang="en-US" smtClean="0"/>
              <a:t>: Delete a node from the first, last or interior of the list.</a:t>
            </a:r>
          </a:p>
          <a:p>
            <a:r>
              <a:rPr lang="en-US" altLang="en-US" smtClean="0">
                <a:solidFill>
                  <a:srgbClr val="0000CC"/>
                </a:solidFill>
              </a:rPr>
              <a:t>Search</a:t>
            </a:r>
            <a:r>
              <a:rPr lang="en-US" altLang="en-US" smtClean="0"/>
              <a:t>: Search a node containing particular value in the linked list.</a:t>
            </a:r>
          </a:p>
        </p:txBody>
      </p:sp>
    </p:spTree>
    <p:extLst>
      <p:ext uri="{BB962C8B-B14F-4D97-AF65-F5344CB8AC3E}">
        <p14:creationId xmlns:p14="http://schemas.microsoft.com/office/powerpoint/2010/main" val="37555642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idx="4294967295"/>
          </p:nvPr>
        </p:nvSpPr>
        <p:spPr/>
        <p:txBody>
          <a:bodyPr/>
          <a:lstStyle/>
          <a:p>
            <a:r>
              <a:rPr lang="en-US" altLang="en-US" smtClean="0"/>
              <a:t>Insertion to a Linear Linked list</a:t>
            </a:r>
          </a:p>
        </p:txBody>
      </p:sp>
      <p:sp>
        <p:nvSpPr>
          <p:cNvPr id="159747" name="Rectangle 3"/>
          <p:cNvSpPr>
            <a:spLocks noGrp="1" noChangeArrowheads="1"/>
          </p:cNvSpPr>
          <p:nvPr>
            <p:ph type="body" sz="half" idx="4294967295"/>
          </p:nvPr>
        </p:nvSpPr>
        <p:spPr>
          <a:xfrm>
            <a:off x="457200" y="1052513"/>
            <a:ext cx="8139113" cy="647700"/>
          </a:xfrm>
        </p:spPr>
        <p:txBody>
          <a:bodyPr/>
          <a:lstStyle/>
          <a:p>
            <a:r>
              <a:rPr lang="en-US" altLang="en-US" sz="2400" smtClean="0"/>
              <a:t>Add a new node at the first, last or interior of a linked list.</a:t>
            </a:r>
          </a:p>
        </p:txBody>
      </p:sp>
      <p:pic>
        <p:nvPicPr>
          <p:cNvPr id="159748" name="Picture 4" descr="insertAny"/>
          <p:cNvPicPr>
            <a:picLocks noGrp="1" noChangeAspect="1" noChangeArrowheads="1" noCrop="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885825" y="2422525"/>
            <a:ext cx="7546975" cy="24399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137287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idx="4294967295"/>
          </p:nvPr>
        </p:nvSpPr>
        <p:spPr/>
        <p:txBody>
          <a:bodyPr/>
          <a:lstStyle/>
          <a:p>
            <a:r>
              <a:rPr lang="en-US" altLang="en-US" dirty="0" smtClean="0"/>
              <a:t>Insert First </a:t>
            </a:r>
          </a:p>
        </p:txBody>
      </p:sp>
      <p:sp>
        <p:nvSpPr>
          <p:cNvPr id="161795" name="Rectangle 3"/>
          <p:cNvSpPr>
            <a:spLocks noGrp="1" noChangeArrowheads="1"/>
          </p:cNvSpPr>
          <p:nvPr>
            <p:ph type="body" sz="half" idx="4294967295"/>
          </p:nvPr>
        </p:nvSpPr>
        <p:spPr>
          <a:xfrm>
            <a:off x="393700" y="1071563"/>
            <a:ext cx="8270875" cy="1079500"/>
          </a:xfrm>
        </p:spPr>
        <p:txBody>
          <a:bodyPr>
            <a:normAutofit fontScale="92500" lnSpcReduction="10000"/>
          </a:bodyPr>
          <a:lstStyle/>
          <a:p>
            <a:r>
              <a:rPr lang="en-US" altLang="en-US" sz="2200" dirty="0" smtClean="0">
                <a:solidFill>
                  <a:srgbClr val="0000CC"/>
                </a:solidFill>
              </a:rPr>
              <a:t>Step 1</a:t>
            </a:r>
            <a:r>
              <a:rPr lang="en-US" altLang="en-US" sz="2200" dirty="0" smtClean="0"/>
              <a:t>. Create a new node that is pointed by pointer </a:t>
            </a:r>
            <a:r>
              <a:rPr lang="en-US" altLang="en-US" sz="2200" i="1" dirty="0" err="1" smtClean="0">
                <a:solidFill>
                  <a:srgbClr val="990000"/>
                </a:solidFill>
              </a:rPr>
              <a:t>newItem</a:t>
            </a:r>
            <a:r>
              <a:rPr lang="en-US" altLang="en-US" sz="2200" dirty="0" smtClean="0"/>
              <a:t>. </a:t>
            </a:r>
          </a:p>
          <a:p>
            <a:r>
              <a:rPr lang="en-US" altLang="en-US" sz="2200" dirty="0" smtClean="0">
                <a:solidFill>
                  <a:srgbClr val="0000CC"/>
                </a:solidFill>
              </a:rPr>
              <a:t>Step 2.</a:t>
            </a:r>
            <a:r>
              <a:rPr lang="en-US" altLang="en-US" sz="2200" dirty="0" smtClean="0"/>
              <a:t> Link the new node to the first node of the linked list. </a:t>
            </a:r>
          </a:p>
          <a:p>
            <a:r>
              <a:rPr lang="en-US" altLang="en-US" sz="2200" dirty="0" smtClean="0">
                <a:solidFill>
                  <a:srgbClr val="0000CC"/>
                </a:solidFill>
              </a:rPr>
              <a:t>Step 3</a:t>
            </a:r>
            <a:r>
              <a:rPr lang="en-US" altLang="en-US" sz="2200" dirty="0" smtClean="0"/>
              <a:t>. Set the pointer </a:t>
            </a:r>
            <a:r>
              <a:rPr lang="en-US" altLang="en-US" sz="2200" i="1" dirty="0" smtClean="0"/>
              <a:t>head</a:t>
            </a:r>
            <a:r>
              <a:rPr lang="en-US" altLang="en-US" sz="2200" dirty="0" smtClean="0"/>
              <a:t> to the new node. </a:t>
            </a:r>
          </a:p>
        </p:txBody>
      </p:sp>
      <p:graphicFrame>
        <p:nvGraphicFramePr>
          <p:cNvPr id="161796" name="Group 4"/>
          <p:cNvGraphicFramePr>
            <a:graphicFrameLocks noGrp="1"/>
          </p:cNvGraphicFramePr>
          <p:nvPr/>
        </p:nvGraphicFramePr>
        <p:xfrm>
          <a:off x="784225" y="3038475"/>
          <a:ext cx="1087438" cy="468313"/>
        </p:xfrm>
        <a:graphic>
          <a:graphicData uri="http://schemas.openxmlformats.org/drawingml/2006/table">
            <a:tbl>
              <a:tblPr/>
              <a:tblGrid>
                <a:gridCol w="544513">
                  <a:extLst>
                    <a:ext uri="{9D8B030D-6E8A-4147-A177-3AD203B41FA5}">
                      <a16:colId xmlns:a16="http://schemas.microsoft.com/office/drawing/2014/main" val="2404280707"/>
                    </a:ext>
                  </a:extLst>
                </a:gridCol>
                <a:gridCol w="542925">
                  <a:extLst>
                    <a:ext uri="{9D8B030D-6E8A-4147-A177-3AD203B41FA5}">
                      <a16:colId xmlns:a16="http://schemas.microsoft.com/office/drawing/2014/main" val="3394056658"/>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91045115"/>
                  </a:ext>
                </a:extLst>
              </a:tr>
            </a:tbl>
          </a:graphicData>
        </a:graphic>
      </p:graphicFrame>
      <p:graphicFrame>
        <p:nvGraphicFramePr>
          <p:cNvPr id="161804" name="Group 12"/>
          <p:cNvGraphicFramePr>
            <a:graphicFrameLocks noGrp="1"/>
          </p:cNvGraphicFramePr>
          <p:nvPr/>
        </p:nvGraphicFramePr>
        <p:xfrm>
          <a:off x="2651125" y="3027363"/>
          <a:ext cx="1087438" cy="468313"/>
        </p:xfrm>
        <a:graphic>
          <a:graphicData uri="http://schemas.openxmlformats.org/drawingml/2006/table">
            <a:tbl>
              <a:tblPr/>
              <a:tblGrid>
                <a:gridCol w="544513">
                  <a:extLst>
                    <a:ext uri="{9D8B030D-6E8A-4147-A177-3AD203B41FA5}">
                      <a16:colId xmlns:a16="http://schemas.microsoft.com/office/drawing/2014/main" val="2598385715"/>
                    </a:ext>
                  </a:extLst>
                </a:gridCol>
                <a:gridCol w="542925">
                  <a:extLst>
                    <a:ext uri="{9D8B030D-6E8A-4147-A177-3AD203B41FA5}">
                      <a16:colId xmlns:a16="http://schemas.microsoft.com/office/drawing/2014/main" val="2809936715"/>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2534103"/>
                  </a:ext>
                </a:extLst>
              </a:tr>
            </a:tbl>
          </a:graphicData>
        </a:graphic>
      </p:graphicFrame>
      <p:graphicFrame>
        <p:nvGraphicFramePr>
          <p:cNvPr id="161812" name="Group 20"/>
          <p:cNvGraphicFramePr>
            <a:graphicFrameLocks noGrp="1"/>
          </p:cNvGraphicFramePr>
          <p:nvPr/>
        </p:nvGraphicFramePr>
        <p:xfrm>
          <a:off x="4386263" y="3014663"/>
          <a:ext cx="1087437" cy="468313"/>
        </p:xfrm>
        <a:graphic>
          <a:graphicData uri="http://schemas.openxmlformats.org/drawingml/2006/table">
            <a:tbl>
              <a:tblPr/>
              <a:tblGrid>
                <a:gridCol w="544512">
                  <a:extLst>
                    <a:ext uri="{9D8B030D-6E8A-4147-A177-3AD203B41FA5}">
                      <a16:colId xmlns:a16="http://schemas.microsoft.com/office/drawing/2014/main" val="2044878934"/>
                    </a:ext>
                  </a:extLst>
                </a:gridCol>
                <a:gridCol w="542925">
                  <a:extLst>
                    <a:ext uri="{9D8B030D-6E8A-4147-A177-3AD203B41FA5}">
                      <a16:colId xmlns:a16="http://schemas.microsoft.com/office/drawing/2014/main" val="2455870047"/>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53874645"/>
                  </a:ext>
                </a:extLst>
              </a:tr>
            </a:tbl>
          </a:graphicData>
        </a:graphic>
      </p:graphicFrame>
      <p:sp>
        <p:nvSpPr>
          <p:cNvPr id="161820" name="Line 28"/>
          <p:cNvSpPr>
            <a:spLocks noChangeShapeType="1"/>
          </p:cNvSpPr>
          <p:nvPr/>
        </p:nvSpPr>
        <p:spPr bwMode="auto">
          <a:xfrm>
            <a:off x="3444875" y="3265488"/>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21" name="Line 29"/>
          <p:cNvSpPr>
            <a:spLocks noChangeShapeType="1"/>
          </p:cNvSpPr>
          <p:nvPr/>
        </p:nvSpPr>
        <p:spPr bwMode="auto">
          <a:xfrm>
            <a:off x="5143500" y="3265488"/>
            <a:ext cx="7508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22" name="Text Box 30"/>
          <p:cNvSpPr txBox="1">
            <a:spLocks noChangeArrowheads="1"/>
          </p:cNvSpPr>
          <p:nvPr/>
        </p:nvSpPr>
        <p:spPr bwMode="auto">
          <a:xfrm>
            <a:off x="5862638" y="31019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smtClean="0">
                <a:latin typeface="Helvetica" panose="020B0604020202020204" pitchFamily="34" charset="0"/>
              </a:rPr>
              <a:t>…</a:t>
            </a:r>
            <a:endParaRPr lang="en-US" altLang="en-US" sz="1800" dirty="0">
              <a:latin typeface="Helvetica" panose="020B0604020202020204" pitchFamily="34" charset="0"/>
            </a:endParaRPr>
          </a:p>
        </p:txBody>
      </p:sp>
      <p:sp>
        <p:nvSpPr>
          <p:cNvPr id="161823" name="Text Box 31"/>
          <p:cNvSpPr txBox="1">
            <a:spLocks noChangeArrowheads="1"/>
          </p:cNvSpPr>
          <p:nvPr/>
        </p:nvSpPr>
        <p:spPr bwMode="auto">
          <a:xfrm>
            <a:off x="2459038" y="24034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HEAD</a:t>
            </a:r>
          </a:p>
        </p:txBody>
      </p:sp>
      <p:sp>
        <p:nvSpPr>
          <p:cNvPr id="161824" name="Line 32"/>
          <p:cNvSpPr>
            <a:spLocks noChangeShapeType="1"/>
          </p:cNvSpPr>
          <p:nvPr/>
        </p:nvSpPr>
        <p:spPr bwMode="auto">
          <a:xfrm>
            <a:off x="2873375" y="2693988"/>
            <a:ext cx="0" cy="327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25" name="Text Box 33"/>
          <p:cNvSpPr txBox="1">
            <a:spLocks noChangeArrowheads="1"/>
          </p:cNvSpPr>
          <p:nvPr/>
        </p:nvSpPr>
        <p:spPr bwMode="auto">
          <a:xfrm>
            <a:off x="688975" y="2332038"/>
            <a:ext cx="1222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solidFill>
                  <a:srgbClr val="990000"/>
                </a:solidFill>
                <a:latin typeface="Helvetica" panose="020B0604020202020204" pitchFamily="34" charset="0"/>
              </a:rPr>
              <a:t>newItem</a:t>
            </a:r>
          </a:p>
        </p:txBody>
      </p:sp>
      <p:sp>
        <p:nvSpPr>
          <p:cNvPr id="161826" name="Line 34"/>
          <p:cNvSpPr>
            <a:spLocks noChangeShapeType="1"/>
          </p:cNvSpPr>
          <p:nvPr/>
        </p:nvSpPr>
        <p:spPr bwMode="auto">
          <a:xfrm>
            <a:off x="1104900" y="2686050"/>
            <a:ext cx="0" cy="32702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61827" name="Group 35"/>
          <p:cNvGraphicFramePr>
            <a:graphicFrameLocks noGrp="1"/>
          </p:cNvGraphicFramePr>
          <p:nvPr/>
        </p:nvGraphicFramePr>
        <p:xfrm>
          <a:off x="793750" y="4405313"/>
          <a:ext cx="1087438" cy="468313"/>
        </p:xfrm>
        <a:graphic>
          <a:graphicData uri="http://schemas.openxmlformats.org/drawingml/2006/table">
            <a:tbl>
              <a:tblPr/>
              <a:tblGrid>
                <a:gridCol w="544513">
                  <a:extLst>
                    <a:ext uri="{9D8B030D-6E8A-4147-A177-3AD203B41FA5}">
                      <a16:colId xmlns:a16="http://schemas.microsoft.com/office/drawing/2014/main" val="2278534264"/>
                    </a:ext>
                  </a:extLst>
                </a:gridCol>
                <a:gridCol w="542925">
                  <a:extLst>
                    <a:ext uri="{9D8B030D-6E8A-4147-A177-3AD203B41FA5}">
                      <a16:colId xmlns:a16="http://schemas.microsoft.com/office/drawing/2014/main" val="2862301156"/>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8377478"/>
                  </a:ext>
                </a:extLst>
              </a:tr>
            </a:tbl>
          </a:graphicData>
        </a:graphic>
      </p:graphicFrame>
      <p:graphicFrame>
        <p:nvGraphicFramePr>
          <p:cNvPr id="161835" name="Group 43"/>
          <p:cNvGraphicFramePr>
            <a:graphicFrameLocks noGrp="1"/>
          </p:cNvGraphicFramePr>
          <p:nvPr/>
        </p:nvGraphicFramePr>
        <p:xfrm>
          <a:off x="2660650" y="4394200"/>
          <a:ext cx="1087438" cy="468313"/>
        </p:xfrm>
        <a:graphic>
          <a:graphicData uri="http://schemas.openxmlformats.org/drawingml/2006/table">
            <a:tbl>
              <a:tblPr/>
              <a:tblGrid>
                <a:gridCol w="544513">
                  <a:extLst>
                    <a:ext uri="{9D8B030D-6E8A-4147-A177-3AD203B41FA5}">
                      <a16:colId xmlns:a16="http://schemas.microsoft.com/office/drawing/2014/main" val="3782882343"/>
                    </a:ext>
                  </a:extLst>
                </a:gridCol>
                <a:gridCol w="542925">
                  <a:extLst>
                    <a:ext uri="{9D8B030D-6E8A-4147-A177-3AD203B41FA5}">
                      <a16:colId xmlns:a16="http://schemas.microsoft.com/office/drawing/2014/main" val="4240492673"/>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2539274"/>
                  </a:ext>
                </a:extLst>
              </a:tr>
            </a:tbl>
          </a:graphicData>
        </a:graphic>
      </p:graphicFrame>
      <p:graphicFrame>
        <p:nvGraphicFramePr>
          <p:cNvPr id="161843" name="Group 51"/>
          <p:cNvGraphicFramePr>
            <a:graphicFrameLocks noGrp="1"/>
          </p:cNvGraphicFramePr>
          <p:nvPr/>
        </p:nvGraphicFramePr>
        <p:xfrm>
          <a:off x="4395788" y="4381500"/>
          <a:ext cx="1087437" cy="468313"/>
        </p:xfrm>
        <a:graphic>
          <a:graphicData uri="http://schemas.openxmlformats.org/drawingml/2006/table">
            <a:tbl>
              <a:tblPr/>
              <a:tblGrid>
                <a:gridCol w="544512">
                  <a:extLst>
                    <a:ext uri="{9D8B030D-6E8A-4147-A177-3AD203B41FA5}">
                      <a16:colId xmlns:a16="http://schemas.microsoft.com/office/drawing/2014/main" val="3070190637"/>
                    </a:ext>
                  </a:extLst>
                </a:gridCol>
                <a:gridCol w="542925">
                  <a:extLst>
                    <a:ext uri="{9D8B030D-6E8A-4147-A177-3AD203B41FA5}">
                      <a16:colId xmlns:a16="http://schemas.microsoft.com/office/drawing/2014/main" val="2198719620"/>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2036827"/>
                  </a:ext>
                </a:extLst>
              </a:tr>
            </a:tbl>
          </a:graphicData>
        </a:graphic>
      </p:graphicFrame>
      <p:sp>
        <p:nvSpPr>
          <p:cNvPr id="161851" name="Line 59"/>
          <p:cNvSpPr>
            <a:spLocks noChangeShapeType="1"/>
          </p:cNvSpPr>
          <p:nvPr/>
        </p:nvSpPr>
        <p:spPr bwMode="auto">
          <a:xfrm>
            <a:off x="3454400" y="4632325"/>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52" name="Line 60"/>
          <p:cNvSpPr>
            <a:spLocks noChangeShapeType="1"/>
          </p:cNvSpPr>
          <p:nvPr/>
        </p:nvSpPr>
        <p:spPr bwMode="auto">
          <a:xfrm>
            <a:off x="5153025" y="4632325"/>
            <a:ext cx="7508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53" name="Text Box 61"/>
          <p:cNvSpPr txBox="1">
            <a:spLocks noChangeArrowheads="1"/>
          </p:cNvSpPr>
          <p:nvPr/>
        </p:nvSpPr>
        <p:spPr bwMode="auto">
          <a:xfrm>
            <a:off x="5872163" y="4468813"/>
            <a:ext cx="8810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smtClean="0">
                <a:latin typeface="Helvetica" panose="020B0604020202020204" pitchFamily="34" charset="0"/>
              </a:rPr>
              <a:t>…</a:t>
            </a:r>
            <a:endParaRPr lang="en-US" altLang="en-US" sz="1800" dirty="0">
              <a:latin typeface="Helvetica" panose="020B0604020202020204" pitchFamily="34" charset="0"/>
            </a:endParaRPr>
          </a:p>
        </p:txBody>
      </p:sp>
      <p:sp>
        <p:nvSpPr>
          <p:cNvPr id="161854" name="Text Box 62"/>
          <p:cNvSpPr txBox="1">
            <a:spLocks noChangeArrowheads="1"/>
          </p:cNvSpPr>
          <p:nvPr/>
        </p:nvSpPr>
        <p:spPr bwMode="auto">
          <a:xfrm>
            <a:off x="2470150" y="3756025"/>
            <a:ext cx="8810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HEAD</a:t>
            </a:r>
          </a:p>
        </p:txBody>
      </p:sp>
      <p:sp>
        <p:nvSpPr>
          <p:cNvPr id="161855" name="Text Box 63"/>
          <p:cNvSpPr txBox="1">
            <a:spLocks noChangeArrowheads="1"/>
          </p:cNvSpPr>
          <p:nvPr/>
        </p:nvSpPr>
        <p:spPr bwMode="auto">
          <a:xfrm>
            <a:off x="698500" y="3698875"/>
            <a:ext cx="12223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solidFill>
                  <a:srgbClr val="990000"/>
                </a:solidFill>
                <a:latin typeface="Helvetica" panose="020B0604020202020204" pitchFamily="34" charset="0"/>
              </a:rPr>
              <a:t>newItem</a:t>
            </a:r>
          </a:p>
        </p:txBody>
      </p:sp>
      <p:sp>
        <p:nvSpPr>
          <p:cNvPr id="161856" name="Line 64"/>
          <p:cNvSpPr>
            <a:spLocks noChangeShapeType="1"/>
          </p:cNvSpPr>
          <p:nvPr/>
        </p:nvSpPr>
        <p:spPr bwMode="auto">
          <a:xfrm>
            <a:off x="1114425" y="4052888"/>
            <a:ext cx="0" cy="32702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57" name="Line 65"/>
          <p:cNvSpPr>
            <a:spLocks noChangeShapeType="1"/>
          </p:cNvSpPr>
          <p:nvPr/>
        </p:nvSpPr>
        <p:spPr bwMode="auto">
          <a:xfrm>
            <a:off x="2897188" y="4046538"/>
            <a:ext cx="0" cy="327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58" name="Line 66"/>
          <p:cNvSpPr>
            <a:spLocks noChangeShapeType="1"/>
          </p:cNvSpPr>
          <p:nvPr/>
        </p:nvSpPr>
        <p:spPr bwMode="auto">
          <a:xfrm>
            <a:off x="1620838" y="4627563"/>
            <a:ext cx="1025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61859" name="Group 67"/>
          <p:cNvGraphicFramePr>
            <a:graphicFrameLocks noGrp="1"/>
          </p:cNvGraphicFramePr>
          <p:nvPr/>
        </p:nvGraphicFramePr>
        <p:xfrm>
          <a:off x="803275" y="5743575"/>
          <a:ext cx="1087438" cy="468313"/>
        </p:xfrm>
        <a:graphic>
          <a:graphicData uri="http://schemas.openxmlformats.org/drawingml/2006/table">
            <a:tbl>
              <a:tblPr/>
              <a:tblGrid>
                <a:gridCol w="544513">
                  <a:extLst>
                    <a:ext uri="{9D8B030D-6E8A-4147-A177-3AD203B41FA5}">
                      <a16:colId xmlns:a16="http://schemas.microsoft.com/office/drawing/2014/main" val="3955137039"/>
                    </a:ext>
                  </a:extLst>
                </a:gridCol>
                <a:gridCol w="542925">
                  <a:extLst>
                    <a:ext uri="{9D8B030D-6E8A-4147-A177-3AD203B41FA5}">
                      <a16:colId xmlns:a16="http://schemas.microsoft.com/office/drawing/2014/main" val="126710974"/>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6869623"/>
                  </a:ext>
                </a:extLst>
              </a:tr>
            </a:tbl>
          </a:graphicData>
        </a:graphic>
      </p:graphicFrame>
      <p:graphicFrame>
        <p:nvGraphicFramePr>
          <p:cNvPr id="161867" name="Group 75"/>
          <p:cNvGraphicFramePr>
            <a:graphicFrameLocks noGrp="1"/>
          </p:cNvGraphicFramePr>
          <p:nvPr/>
        </p:nvGraphicFramePr>
        <p:xfrm>
          <a:off x="2670175" y="5732463"/>
          <a:ext cx="1087438" cy="468313"/>
        </p:xfrm>
        <a:graphic>
          <a:graphicData uri="http://schemas.openxmlformats.org/drawingml/2006/table">
            <a:tbl>
              <a:tblPr/>
              <a:tblGrid>
                <a:gridCol w="544513">
                  <a:extLst>
                    <a:ext uri="{9D8B030D-6E8A-4147-A177-3AD203B41FA5}">
                      <a16:colId xmlns:a16="http://schemas.microsoft.com/office/drawing/2014/main" val="4150840938"/>
                    </a:ext>
                  </a:extLst>
                </a:gridCol>
                <a:gridCol w="542925">
                  <a:extLst>
                    <a:ext uri="{9D8B030D-6E8A-4147-A177-3AD203B41FA5}">
                      <a16:colId xmlns:a16="http://schemas.microsoft.com/office/drawing/2014/main" val="2975455122"/>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43687114"/>
                  </a:ext>
                </a:extLst>
              </a:tr>
            </a:tbl>
          </a:graphicData>
        </a:graphic>
      </p:graphicFrame>
      <p:graphicFrame>
        <p:nvGraphicFramePr>
          <p:cNvPr id="161875" name="Group 83"/>
          <p:cNvGraphicFramePr>
            <a:graphicFrameLocks noGrp="1"/>
          </p:cNvGraphicFramePr>
          <p:nvPr/>
        </p:nvGraphicFramePr>
        <p:xfrm>
          <a:off x="4405313" y="5719763"/>
          <a:ext cx="1087437" cy="468313"/>
        </p:xfrm>
        <a:graphic>
          <a:graphicData uri="http://schemas.openxmlformats.org/drawingml/2006/table">
            <a:tbl>
              <a:tblPr/>
              <a:tblGrid>
                <a:gridCol w="544512">
                  <a:extLst>
                    <a:ext uri="{9D8B030D-6E8A-4147-A177-3AD203B41FA5}">
                      <a16:colId xmlns:a16="http://schemas.microsoft.com/office/drawing/2014/main" val="3212316551"/>
                    </a:ext>
                  </a:extLst>
                </a:gridCol>
                <a:gridCol w="542925">
                  <a:extLst>
                    <a:ext uri="{9D8B030D-6E8A-4147-A177-3AD203B41FA5}">
                      <a16:colId xmlns:a16="http://schemas.microsoft.com/office/drawing/2014/main" val="2652725849"/>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5240573"/>
                  </a:ext>
                </a:extLst>
              </a:tr>
            </a:tbl>
          </a:graphicData>
        </a:graphic>
      </p:graphicFrame>
      <p:sp>
        <p:nvSpPr>
          <p:cNvPr id="161883" name="Line 91"/>
          <p:cNvSpPr>
            <a:spLocks noChangeShapeType="1"/>
          </p:cNvSpPr>
          <p:nvPr/>
        </p:nvSpPr>
        <p:spPr bwMode="auto">
          <a:xfrm>
            <a:off x="3463925" y="5970588"/>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84" name="Line 92"/>
          <p:cNvSpPr>
            <a:spLocks noChangeShapeType="1"/>
          </p:cNvSpPr>
          <p:nvPr/>
        </p:nvSpPr>
        <p:spPr bwMode="auto">
          <a:xfrm>
            <a:off x="5162550" y="5970588"/>
            <a:ext cx="7508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85" name="Text Box 93"/>
          <p:cNvSpPr txBox="1">
            <a:spLocks noChangeArrowheads="1"/>
          </p:cNvSpPr>
          <p:nvPr/>
        </p:nvSpPr>
        <p:spPr bwMode="auto">
          <a:xfrm>
            <a:off x="5881688" y="58070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dirty="0" smtClean="0">
                <a:latin typeface="Helvetica" panose="020B0604020202020204" pitchFamily="34" charset="0"/>
              </a:rPr>
              <a:t>…</a:t>
            </a:r>
            <a:endParaRPr lang="en-US" altLang="en-US" sz="1800" dirty="0">
              <a:latin typeface="Helvetica" panose="020B0604020202020204" pitchFamily="34" charset="0"/>
            </a:endParaRPr>
          </a:p>
        </p:txBody>
      </p:sp>
      <p:sp>
        <p:nvSpPr>
          <p:cNvPr id="161886" name="Text Box 94"/>
          <p:cNvSpPr txBox="1">
            <a:spLocks noChangeArrowheads="1"/>
          </p:cNvSpPr>
          <p:nvPr/>
        </p:nvSpPr>
        <p:spPr bwMode="auto">
          <a:xfrm>
            <a:off x="2633663" y="627062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HEAD</a:t>
            </a:r>
          </a:p>
        </p:txBody>
      </p:sp>
      <p:sp>
        <p:nvSpPr>
          <p:cNvPr id="161887" name="Text Box 95"/>
          <p:cNvSpPr txBox="1">
            <a:spLocks noChangeArrowheads="1"/>
          </p:cNvSpPr>
          <p:nvPr/>
        </p:nvSpPr>
        <p:spPr bwMode="auto">
          <a:xfrm>
            <a:off x="708025" y="5037138"/>
            <a:ext cx="1222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solidFill>
                  <a:srgbClr val="990000"/>
                </a:solidFill>
                <a:latin typeface="Helvetica" panose="020B0604020202020204" pitchFamily="34" charset="0"/>
              </a:rPr>
              <a:t>newItem</a:t>
            </a:r>
          </a:p>
        </p:txBody>
      </p:sp>
      <p:sp>
        <p:nvSpPr>
          <p:cNvPr id="161888" name="Line 96"/>
          <p:cNvSpPr>
            <a:spLocks noChangeShapeType="1"/>
          </p:cNvSpPr>
          <p:nvPr/>
        </p:nvSpPr>
        <p:spPr bwMode="auto">
          <a:xfrm>
            <a:off x="1123950" y="5391150"/>
            <a:ext cx="0" cy="32702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89" name="Line 97"/>
          <p:cNvSpPr>
            <a:spLocks noChangeShapeType="1"/>
          </p:cNvSpPr>
          <p:nvPr/>
        </p:nvSpPr>
        <p:spPr bwMode="auto">
          <a:xfrm>
            <a:off x="1630363" y="5965825"/>
            <a:ext cx="1025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90" name="Line 98"/>
          <p:cNvSpPr>
            <a:spLocks noChangeShapeType="1"/>
          </p:cNvSpPr>
          <p:nvPr/>
        </p:nvSpPr>
        <p:spPr bwMode="auto">
          <a:xfrm flipH="1">
            <a:off x="1025525" y="6442075"/>
            <a:ext cx="16208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1891" name="Line 99"/>
          <p:cNvSpPr>
            <a:spLocks noChangeShapeType="1"/>
          </p:cNvSpPr>
          <p:nvPr/>
        </p:nvSpPr>
        <p:spPr bwMode="auto">
          <a:xfrm flipV="1">
            <a:off x="1011238" y="6221413"/>
            <a:ext cx="0" cy="234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6261764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idx="4294967295"/>
          </p:nvPr>
        </p:nvSpPr>
        <p:spPr/>
        <p:txBody>
          <a:bodyPr/>
          <a:lstStyle/>
          <a:p>
            <a:r>
              <a:rPr lang="en-US" altLang="en-US" smtClean="0"/>
              <a:t>Insert Last</a:t>
            </a:r>
          </a:p>
        </p:txBody>
      </p:sp>
      <p:sp>
        <p:nvSpPr>
          <p:cNvPr id="163843" name="Rectangle 3"/>
          <p:cNvSpPr>
            <a:spLocks noGrp="1" noChangeArrowheads="1"/>
          </p:cNvSpPr>
          <p:nvPr>
            <p:ph type="body" idx="4294967295"/>
          </p:nvPr>
        </p:nvSpPr>
        <p:spPr>
          <a:xfrm>
            <a:off x="611188" y="1052513"/>
            <a:ext cx="7678737" cy="1781175"/>
          </a:xfrm>
        </p:spPr>
        <p:txBody>
          <a:bodyPr>
            <a:normAutofit fontScale="92500"/>
          </a:bodyPr>
          <a:lstStyle/>
          <a:p>
            <a:r>
              <a:rPr lang="en-US" altLang="en-US" sz="2400" smtClean="0"/>
              <a:t>To add a new node to the tail of the linear linked list, we need to construct a new node and set it's link field to "null".</a:t>
            </a:r>
          </a:p>
          <a:p>
            <a:r>
              <a:rPr lang="en-US" altLang="en-US" sz="2400" smtClean="0"/>
              <a:t> Assume the list is not empty, locate the last node and change it's link field to point to the new node. </a:t>
            </a:r>
          </a:p>
        </p:txBody>
      </p:sp>
      <p:pic>
        <p:nvPicPr>
          <p:cNvPr id="163844" name="Picture 4" descr="insertlas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185863" y="3213100"/>
            <a:ext cx="6842125" cy="2584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42320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idx="4294967295"/>
          </p:nvPr>
        </p:nvSpPr>
        <p:spPr/>
        <p:txBody>
          <a:bodyPr/>
          <a:lstStyle/>
          <a:p>
            <a:r>
              <a:rPr lang="en-US" altLang="en-US" smtClean="0"/>
              <a:t>Insert Last (Cont.)</a:t>
            </a:r>
          </a:p>
        </p:txBody>
      </p:sp>
      <p:sp>
        <p:nvSpPr>
          <p:cNvPr id="164867" name="Rectangle 3"/>
          <p:cNvSpPr>
            <a:spLocks noGrp="1" noChangeArrowheads="1"/>
          </p:cNvSpPr>
          <p:nvPr>
            <p:ph type="body" sz="half" idx="4294967295"/>
          </p:nvPr>
        </p:nvSpPr>
        <p:spPr>
          <a:xfrm>
            <a:off x="393700" y="1023938"/>
            <a:ext cx="8270875" cy="1314450"/>
          </a:xfrm>
        </p:spPr>
        <p:txBody>
          <a:bodyPr>
            <a:normAutofit fontScale="92500"/>
          </a:bodyPr>
          <a:lstStyle/>
          <a:p>
            <a:r>
              <a:rPr lang="en-US" altLang="en-US" sz="2200" smtClean="0">
                <a:solidFill>
                  <a:srgbClr val="0000CC"/>
                </a:solidFill>
              </a:rPr>
              <a:t>Step1</a:t>
            </a:r>
            <a:r>
              <a:rPr lang="en-US" altLang="en-US" sz="2200" smtClean="0"/>
              <a:t>. Create the new node. </a:t>
            </a:r>
          </a:p>
          <a:p>
            <a:r>
              <a:rPr lang="en-US" altLang="en-US" sz="2200" smtClean="0">
                <a:solidFill>
                  <a:srgbClr val="0000CC"/>
                </a:solidFill>
              </a:rPr>
              <a:t>Step2</a:t>
            </a:r>
            <a:r>
              <a:rPr lang="en-US" altLang="en-US" sz="2200" smtClean="0"/>
              <a:t>. Set a temporary pointer </a:t>
            </a:r>
            <a:r>
              <a:rPr lang="en-US" altLang="en-US" sz="2200" smtClean="0">
                <a:solidFill>
                  <a:srgbClr val="990000"/>
                </a:solidFill>
              </a:rPr>
              <a:t>prev</a:t>
            </a:r>
            <a:r>
              <a:rPr lang="en-US" altLang="en-US" sz="2200" smtClean="0"/>
              <a:t> to point to the last node. </a:t>
            </a:r>
          </a:p>
          <a:p>
            <a:r>
              <a:rPr lang="en-US" altLang="en-US" sz="2200" smtClean="0">
                <a:solidFill>
                  <a:srgbClr val="0000CC"/>
                </a:solidFill>
              </a:rPr>
              <a:t>Step3</a:t>
            </a:r>
            <a:r>
              <a:rPr lang="en-US" altLang="en-US" sz="2200" smtClean="0"/>
              <a:t>. Set prev to point to the new node and new node as last node.</a:t>
            </a:r>
          </a:p>
        </p:txBody>
      </p:sp>
      <p:graphicFrame>
        <p:nvGraphicFramePr>
          <p:cNvPr id="164868" name="Group 4"/>
          <p:cNvGraphicFramePr>
            <a:graphicFrameLocks noGrp="1"/>
          </p:cNvGraphicFramePr>
          <p:nvPr/>
        </p:nvGraphicFramePr>
        <p:xfrm>
          <a:off x="7118350" y="3038475"/>
          <a:ext cx="1087438" cy="468313"/>
        </p:xfrm>
        <a:graphic>
          <a:graphicData uri="http://schemas.openxmlformats.org/drawingml/2006/table">
            <a:tbl>
              <a:tblPr/>
              <a:tblGrid>
                <a:gridCol w="544513">
                  <a:extLst>
                    <a:ext uri="{9D8B030D-6E8A-4147-A177-3AD203B41FA5}">
                      <a16:colId xmlns:a16="http://schemas.microsoft.com/office/drawing/2014/main" val="2829975941"/>
                    </a:ext>
                  </a:extLst>
                </a:gridCol>
                <a:gridCol w="542925">
                  <a:extLst>
                    <a:ext uri="{9D8B030D-6E8A-4147-A177-3AD203B41FA5}">
                      <a16:colId xmlns:a16="http://schemas.microsoft.com/office/drawing/2014/main" val="3208260511"/>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3957530"/>
                  </a:ext>
                </a:extLst>
              </a:tr>
            </a:tbl>
          </a:graphicData>
        </a:graphic>
      </p:graphicFrame>
      <p:graphicFrame>
        <p:nvGraphicFramePr>
          <p:cNvPr id="164876" name="Group 12"/>
          <p:cNvGraphicFramePr>
            <a:graphicFrameLocks noGrp="1"/>
          </p:cNvGraphicFramePr>
          <p:nvPr/>
        </p:nvGraphicFramePr>
        <p:xfrm>
          <a:off x="841375" y="3027363"/>
          <a:ext cx="1087438" cy="468313"/>
        </p:xfrm>
        <a:graphic>
          <a:graphicData uri="http://schemas.openxmlformats.org/drawingml/2006/table">
            <a:tbl>
              <a:tblPr/>
              <a:tblGrid>
                <a:gridCol w="544513">
                  <a:extLst>
                    <a:ext uri="{9D8B030D-6E8A-4147-A177-3AD203B41FA5}">
                      <a16:colId xmlns:a16="http://schemas.microsoft.com/office/drawing/2014/main" val="1712408958"/>
                    </a:ext>
                  </a:extLst>
                </a:gridCol>
                <a:gridCol w="542925">
                  <a:extLst>
                    <a:ext uri="{9D8B030D-6E8A-4147-A177-3AD203B41FA5}">
                      <a16:colId xmlns:a16="http://schemas.microsoft.com/office/drawing/2014/main" val="1001732514"/>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2030579"/>
                  </a:ext>
                </a:extLst>
              </a:tr>
            </a:tbl>
          </a:graphicData>
        </a:graphic>
      </p:graphicFrame>
      <p:graphicFrame>
        <p:nvGraphicFramePr>
          <p:cNvPr id="164884" name="Group 20"/>
          <p:cNvGraphicFramePr>
            <a:graphicFrameLocks noGrp="1"/>
          </p:cNvGraphicFramePr>
          <p:nvPr>
            <p:extLst>
              <p:ext uri="{D42A27DB-BD31-4B8C-83A1-F6EECF244321}">
                <p14:modId xmlns:p14="http://schemas.microsoft.com/office/powerpoint/2010/main" val="1261534554"/>
              </p:ext>
            </p:extLst>
          </p:nvPr>
        </p:nvGraphicFramePr>
        <p:xfrm>
          <a:off x="4267200" y="3014663"/>
          <a:ext cx="1087437" cy="468313"/>
        </p:xfrm>
        <a:graphic>
          <a:graphicData uri="http://schemas.openxmlformats.org/drawingml/2006/table">
            <a:tbl>
              <a:tblPr/>
              <a:tblGrid>
                <a:gridCol w="544512">
                  <a:extLst>
                    <a:ext uri="{9D8B030D-6E8A-4147-A177-3AD203B41FA5}">
                      <a16:colId xmlns:a16="http://schemas.microsoft.com/office/drawing/2014/main" val="3725393041"/>
                    </a:ext>
                  </a:extLst>
                </a:gridCol>
                <a:gridCol w="542925">
                  <a:extLst>
                    <a:ext uri="{9D8B030D-6E8A-4147-A177-3AD203B41FA5}">
                      <a16:colId xmlns:a16="http://schemas.microsoft.com/office/drawing/2014/main" val="2739542946"/>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23207026"/>
                  </a:ext>
                </a:extLst>
              </a:tr>
            </a:tbl>
          </a:graphicData>
        </a:graphic>
      </p:graphicFrame>
      <p:sp>
        <p:nvSpPr>
          <p:cNvPr id="164892" name="Line 28"/>
          <p:cNvSpPr>
            <a:spLocks noChangeShapeType="1"/>
          </p:cNvSpPr>
          <p:nvPr/>
        </p:nvSpPr>
        <p:spPr bwMode="auto">
          <a:xfrm>
            <a:off x="1635125" y="3265488"/>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893" name="Line 29"/>
          <p:cNvSpPr>
            <a:spLocks noChangeShapeType="1"/>
          </p:cNvSpPr>
          <p:nvPr/>
        </p:nvSpPr>
        <p:spPr bwMode="auto">
          <a:xfrm>
            <a:off x="5024437" y="3265488"/>
            <a:ext cx="7508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894" name="Text Box 30"/>
          <p:cNvSpPr txBox="1">
            <a:spLocks noChangeArrowheads="1"/>
          </p:cNvSpPr>
          <p:nvPr/>
        </p:nvSpPr>
        <p:spPr bwMode="auto">
          <a:xfrm>
            <a:off x="5743575" y="31019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NULL</a:t>
            </a:r>
          </a:p>
        </p:txBody>
      </p:sp>
      <p:sp>
        <p:nvSpPr>
          <p:cNvPr id="164895" name="Text Box 31"/>
          <p:cNvSpPr txBox="1">
            <a:spLocks noChangeArrowheads="1"/>
          </p:cNvSpPr>
          <p:nvPr/>
        </p:nvSpPr>
        <p:spPr bwMode="auto">
          <a:xfrm>
            <a:off x="649288" y="24034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HEAD</a:t>
            </a:r>
          </a:p>
        </p:txBody>
      </p:sp>
      <p:sp>
        <p:nvSpPr>
          <p:cNvPr id="164896" name="Line 32"/>
          <p:cNvSpPr>
            <a:spLocks noChangeShapeType="1"/>
          </p:cNvSpPr>
          <p:nvPr/>
        </p:nvSpPr>
        <p:spPr bwMode="auto">
          <a:xfrm>
            <a:off x="1063625" y="2693988"/>
            <a:ext cx="0" cy="327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897" name="Text Box 33"/>
          <p:cNvSpPr txBox="1">
            <a:spLocks noChangeArrowheads="1"/>
          </p:cNvSpPr>
          <p:nvPr/>
        </p:nvSpPr>
        <p:spPr bwMode="auto">
          <a:xfrm>
            <a:off x="7023100" y="2332038"/>
            <a:ext cx="1222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solidFill>
                  <a:srgbClr val="990000"/>
                </a:solidFill>
                <a:latin typeface="Helvetica" panose="020B0604020202020204" pitchFamily="34" charset="0"/>
              </a:rPr>
              <a:t>newItem</a:t>
            </a:r>
          </a:p>
        </p:txBody>
      </p:sp>
      <p:sp>
        <p:nvSpPr>
          <p:cNvPr id="164898" name="Line 34"/>
          <p:cNvSpPr>
            <a:spLocks noChangeShapeType="1"/>
          </p:cNvSpPr>
          <p:nvPr/>
        </p:nvSpPr>
        <p:spPr bwMode="auto">
          <a:xfrm>
            <a:off x="7439025" y="2686050"/>
            <a:ext cx="0" cy="32702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64899" name="Group 35"/>
          <p:cNvGraphicFramePr>
            <a:graphicFrameLocks noGrp="1"/>
          </p:cNvGraphicFramePr>
          <p:nvPr/>
        </p:nvGraphicFramePr>
        <p:xfrm>
          <a:off x="827088" y="4394200"/>
          <a:ext cx="1087437" cy="468313"/>
        </p:xfrm>
        <a:graphic>
          <a:graphicData uri="http://schemas.openxmlformats.org/drawingml/2006/table">
            <a:tbl>
              <a:tblPr/>
              <a:tblGrid>
                <a:gridCol w="544512">
                  <a:extLst>
                    <a:ext uri="{9D8B030D-6E8A-4147-A177-3AD203B41FA5}">
                      <a16:colId xmlns:a16="http://schemas.microsoft.com/office/drawing/2014/main" val="265311888"/>
                    </a:ext>
                  </a:extLst>
                </a:gridCol>
                <a:gridCol w="542925">
                  <a:extLst>
                    <a:ext uri="{9D8B030D-6E8A-4147-A177-3AD203B41FA5}">
                      <a16:colId xmlns:a16="http://schemas.microsoft.com/office/drawing/2014/main" val="3966817009"/>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4721381"/>
                  </a:ext>
                </a:extLst>
              </a:tr>
            </a:tbl>
          </a:graphicData>
        </a:graphic>
      </p:graphicFrame>
      <p:graphicFrame>
        <p:nvGraphicFramePr>
          <p:cNvPr id="164907" name="Group 43"/>
          <p:cNvGraphicFramePr>
            <a:graphicFrameLocks noGrp="1"/>
          </p:cNvGraphicFramePr>
          <p:nvPr>
            <p:extLst>
              <p:ext uri="{D42A27DB-BD31-4B8C-83A1-F6EECF244321}">
                <p14:modId xmlns:p14="http://schemas.microsoft.com/office/powerpoint/2010/main" val="2162368768"/>
              </p:ext>
            </p:extLst>
          </p:nvPr>
        </p:nvGraphicFramePr>
        <p:xfrm>
          <a:off x="4271962" y="4381500"/>
          <a:ext cx="1087438" cy="468313"/>
        </p:xfrm>
        <a:graphic>
          <a:graphicData uri="http://schemas.openxmlformats.org/drawingml/2006/table">
            <a:tbl>
              <a:tblPr/>
              <a:tblGrid>
                <a:gridCol w="544513">
                  <a:extLst>
                    <a:ext uri="{9D8B030D-6E8A-4147-A177-3AD203B41FA5}">
                      <a16:colId xmlns:a16="http://schemas.microsoft.com/office/drawing/2014/main" val="2082105281"/>
                    </a:ext>
                  </a:extLst>
                </a:gridCol>
                <a:gridCol w="542925">
                  <a:extLst>
                    <a:ext uri="{9D8B030D-6E8A-4147-A177-3AD203B41FA5}">
                      <a16:colId xmlns:a16="http://schemas.microsoft.com/office/drawing/2014/main" val="1932327170"/>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88061867"/>
                  </a:ext>
                </a:extLst>
              </a:tr>
            </a:tbl>
          </a:graphicData>
        </a:graphic>
      </p:graphicFrame>
      <p:sp>
        <p:nvSpPr>
          <p:cNvPr id="164915" name="Line 51"/>
          <p:cNvSpPr>
            <a:spLocks noChangeShapeType="1"/>
          </p:cNvSpPr>
          <p:nvPr/>
        </p:nvSpPr>
        <p:spPr bwMode="auto">
          <a:xfrm>
            <a:off x="1620838" y="4632325"/>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16" name="Line 52"/>
          <p:cNvSpPr>
            <a:spLocks noChangeShapeType="1"/>
          </p:cNvSpPr>
          <p:nvPr/>
        </p:nvSpPr>
        <p:spPr bwMode="auto">
          <a:xfrm>
            <a:off x="5029200" y="4632325"/>
            <a:ext cx="7508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17" name="Text Box 53"/>
          <p:cNvSpPr txBox="1">
            <a:spLocks noChangeArrowheads="1"/>
          </p:cNvSpPr>
          <p:nvPr/>
        </p:nvSpPr>
        <p:spPr bwMode="auto">
          <a:xfrm>
            <a:off x="5748337" y="4468813"/>
            <a:ext cx="8810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NULL</a:t>
            </a:r>
          </a:p>
        </p:txBody>
      </p:sp>
      <p:sp>
        <p:nvSpPr>
          <p:cNvPr id="164918" name="Text Box 54"/>
          <p:cNvSpPr txBox="1">
            <a:spLocks noChangeArrowheads="1"/>
          </p:cNvSpPr>
          <p:nvPr/>
        </p:nvSpPr>
        <p:spPr bwMode="auto">
          <a:xfrm>
            <a:off x="636588" y="375602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HEAD</a:t>
            </a:r>
          </a:p>
        </p:txBody>
      </p:sp>
      <p:sp>
        <p:nvSpPr>
          <p:cNvPr id="164919" name="Line 55"/>
          <p:cNvSpPr>
            <a:spLocks noChangeShapeType="1"/>
          </p:cNvSpPr>
          <p:nvPr/>
        </p:nvSpPr>
        <p:spPr bwMode="auto">
          <a:xfrm>
            <a:off x="1063625" y="4046538"/>
            <a:ext cx="0" cy="327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20" name="Text Box 56"/>
          <p:cNvSpPr txBox="1">
            <a:spLocks noChangeArrowheads="1"/>
          </p:cNvSpPr>
          <p:nvPr/>
        </p:nvSpPr>
        <p:spPr bwMode="auto">
          <a:xfrm>
            <a:off x="3998912" y="3790950"/>
            <a:ext cx="8810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prev</a:t>
            </a:r>
          </a:p>
        </p:txBody>
      </p:sp>
      <p:sp>
        <p:nvSpPr>
          <p:cNvPr id="164921" name="Line 57"/>
          <p:cNvSpPr>
            <a:spLocks noChangeShapeType="1"/>
          </p:cNvSpPr>
          <p:nvPr/>
        </p:nvSpPr>
        <p:spPr bwMode="auto">
          <a:xfrm>
            <a:off x="4473575" y="4125913"/>
            <a:ext cx="0" cy="233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64922" name="Group 58"/>
          <p:cNvGraphicFramePr>
            <a:graphicFrameLocks noGrp="1"/>
          </p:cNvGraphicFramePr>
          <p:nvPr/>
        </p:nvGraphicFramePr>
        <p:xfrm>
          <a:off x="7151688" y="4381500"/>
          <a:ext cx="1087437" cy="468313"/>
        </p:xfrm>
        <a:graphic>
          <a:graphicData uri="http://schemas.openxmlformats.org/drawingml/2006/table">
            <a:tbl>
              <a:tblPr/>
              <a:tblGrid>
                <a:gridCol w="544512">
                  <a:extLst>
                    <a:ext uri="{9D8B030D-6E8A-4147-A177-3AD203B41FA5}">
                      <a16:colId xmlns:a16="http://schemas.microsoft.com/office/drawing/2014/main" val="3486844903"/>
                    </a:ext>
                  </a:extLst>
                </a:gridCol>
                <a:gridCol w="542925">
                  <a:extLst>
                    <a:ext uri="{9D8B030D-6E8A-4147-A177-3AD203B41FA5}">
                      <a16:colId xmlns:a16="http://schemas.microsoft.com/office/drawing/2014/main" val="628441412"/>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18538523"/>
                  </a:ext>
                </a:extLst>
              </a:tr>
            </a:tbl>
          </a:graphicData>
        </a:graphic>
      </p:graphicFrame>
      <p:sp>
        <p:nvSpPr>
          <p:cNvPr id="164930" name="Text Box 66"/>
          <p:cNvSpPr txBox="1">
            <a:spLocks noChangeArrowheads="1"/>
          </p:cNvSpPr>
          <p:nvPr/>
        </p:nvSpPr>
        <p:spPr bwMode="auto">
          <a:xfrm>
            <a:off x="7056438" y="3675063"/>
            <a:ext cx="1222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solidFill>
                  <a:srgbClr val="990000"/>
                </a:solidFill>
                <a:latin typeface="Helvetica" panose="020B0604020202020204" pitchFamily="34" charset="0"/>
              </a:rPr>
              <a:t>newItem</a:t>
            </a:r>
          </a:p>
        </p:txBody>
      </p:sp>
      <p:sp>
        <p:nvSpPr>
          <p:cNvPr id="164931" name="Line 67"/>
          <p:cNvSpPr>
            <a:spLocks noChangeShapeType="1"/>
          </p:cNvSpPr>
          <p:nvPr/>
        </p:nvSpPr>
        <p:spPr bwMode="auto">
          <a:xfrm>
            <a:off x="7472363" y="4029075"/>
            <a:ext cx="0" cy="32702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64932" name="Group 68"/>
          <p:cNvGraphicFramePr>
            <a:graphicFrameLocks noGrp="1"/>
          </p:cNvGraphicFramePr>
          <p:nvPr/>
        </p:nvGraphicFramePr>
        <p:xfrm>
          <a:off x="860425" y="5570538"/>
          <a:ext cx="1087438" cy="468313"/>
        </p:xfrm>
        <a:graphic>
          <a:graphicData uri="http://schemas.openxmlformats.org/drawingml/2006/table">
            <a:tbl>
              <a:tblPr/>
              <a:tblGrid>
                <a:gridCol w="544513">
                  <a:extLst>
                    <a:ext uri="{9D8B030D-6E8A-4147-A177-3AD203B41FA5}">
                      <a16:colId xmlns:a16="http://schemas.microsoft.com/office/drawing/2014/main" val="3378828158"/>
                    </a:ext>
                  </a:extLst>
                </a:gridCol>
                <a:gridCol w="542925">
                  <a:extLst>
                    <a:ext uri="{9D8B030D-6E8A-4147-A177-3AD203B41FA5}">
                      <a16:colId xmlns:a16="http://schemas.microsoft.com/office/drawing/2014/main" val="170853254"/>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81387369"/>
                  </a:ext>
                </a:extLst>
              </a:tr>
            </a:tbl>
          </a:graphicData>
        </a:graphic>
      </p:graphicFrame>
      <p:graphicFrame>
        <p:nvGraphicFramePr>
          <p:cNvPr id="164940" name="Group 76"/>
          <p:cNvGraphicFramePr>
            <a:graphicFrameLocks noGrp="1"/>
          </p:cNvGraphicFramePr>
          <p:nvPr>
            <p:extLst>
              <p:ext uri="{D42A27DB-BD31-4B8C-83A1-F6EECF244321}">
                <p14:modId xmlns:p14="http://schemas.microsoft.com/office/powerpoint/2010/main" val="3760846284"/>
              </p:ext>
            </p:extLst>
          </p:nvPr>
        </p:nvGraphicFramePr>
        <p:xfrm>
          <a:off x="4251960" y="5557838"/>
          <a:ext cx="1087437" cy="468313"/>
        </p:xfrm>
        <a:graphic>
          <a:graphicData uri="http://schemas.openxmlformats.org/drawingml/2006/table">
            <a:tbl>
              <a:tblPr/>
              <a:tblGrid>
                <a:gridCol w="544512">
                  <a:extLst>
                    <a:ext uri="{9D8B030D-6E8A-4147-A177-3AD203B41FA5}">
                      <a16:colId xmlns:a16="http://schemas.microsoft.com/office/drawing/2014/main" val="1873044197"/>
                    </a:ext>
                  </a:extLst>
                </a:gridCol>
                <a:gridCol w="542925">
                  <a:extLst>
                    <a:ext uri="{9D8B030D-6E8A-4147-A177-3AD203B41FA5}">
                      <a16:colId xmlns:a16="http://schemas.microsoft.com/office/drawing/2014/main" val="486559411"/>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133036"/>
                  </a:ext>
                </a:extLst>
              </a:tr>
            </a:tbl>
          </a:graphicData>
        </a:graphic>
      </p:graphicFrame>
      <p:sp>
        <p:nvSpPr>
          <p:cNvPr id="164948" name="Line 84"/>
          <p:cNvSpPr>
            <a:spLocks noChangeShapeType="1"/>
          </p:cNvSpPr>
          <p:nvPr/>
        </p:nvSpPr>
        <p:spPr bwMode="auto">
          <a:xfrm>
            <a:off x="1654175" y="5808663"/>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49" name="Text Box 85"/>
          <p:cNvSpPr txBox="1">
            <a:spLocks noChangeArrowheads="1"/>
          </p:cNvSpPr>
          <p:nvPr/>
        </p:nvSpPr>
        <p:spPr bwMode="auto">
          <a:xfrm>
            <a:off x="669925" y="4932363"/>
            <a:ext cx="8810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HEAD</a:t>
            </a:r>
          </a:p>
        </p:txBody>
      </p:sp>
      <p:sp>
        <p:nvSpPr>
          <p:cNvPr id="164950" name="Line 86"/>
          <p:cNvSpPr>
            <a:spLocks noChangeShapeType="1"/>
          </p:cNvSpPr>
          <p:nvPr/>
        </p:nvSpPr>
        <p:spPr bwMode="auto">
          <a:xfrm>
            <a:off x="1096963" y="5222875"/>
            <a:ext cx="0" cy="327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51" name="Text Box 87"/>
          <p:cNvSpPr txBox="1">
            <a:spLocks noChangeArrowheads="1"/>
          </p:cNvSpPr>
          <p:nvPr/>
        </p:nvSpPr>
        <p:spPr bwMode="auto">
          <a:xfrm>
            <a:off x="3995738" y="4967288"/>
            <a:ext cx="8810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dirty="0" err="1">
                <a:latin typeface="Helvetica" panose="020B0604020202020204" pitchFamily="34" charset="0"/>
              </a:rPr>
              <a:t>prev</a:t>
            </a:r>
            <a:endParaRPr lang="en-US" altLang="en-US" sz="1800" dirty="0">
              <a:latin typeface="Helvetica" panose="020B0604020202020204" pitchFamily="34" charset="0"/>
            </a:endParaRPr>
          </a:p>
        </p:txBody>
      </p:sp>
      <p:sp>
        <p:nvSpPr>
          <p:cNvPr id="164952" name="Line 88"/>
          <p:cNvSpPr>
            <a:spLocks noChangeShapeType="1"/>
          </p:cNvSpPr>
          <p:nvPr/>
        </p:nvSpPr>
        <p:spPr bwMode="auto">
          <a:xfrm>
            <a:off x="4453572" y="5302250"/>
            <a:ext cx="0" cy="233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64953" name="Group 89"/>
          <p:cNvGraphicFramePr>
            <a:graphicFrameLocks noGrp="1"/>
          </p:cNvGraphicFramePr>
          <p:nvPr>
            <p:extLst>
              <p:ext uri="{D42A27DB-BD31-4B8C-83A1-F6EECF244321}">
                <p14:modId xmlns:p14="http://schemas.microsoft.com/office/powerpoint/2010/main" val="264139696"/>
              </p:ext>
            </p:extLst>
          </p:nvPr>
        </p:nvGraphicFramePr>
        <p:xfrm>
          <a:off x="7222172" y="5534025"/>
          <a:ext cx="1087438" cy="468313"/>
        </p:xfrm>
        <a:graphic>
          <a:graphicData uri="http://schemas.openxmlformats.org/drawingml/2006/table">
            <a:tbl>
              <a:tblPr/>
              <a:tblGrid>
                <a:gridCol w="544513">
                  <a:extLst>
                    <a:ext uri="{9D8B030D-6E8A-4147-A177-3AD203B41FA5}">
                      <a16:colId xmlns:a16="http://schemas.microsoft.com/office/drawing/2014/main" val="3038076348"/>
                    </a:ext>
                  </a:extLst>
                </a:gridCol>
                <a:gridCol w="542925">
                  <a:extLst>
                    <a:ext uri="{9D8B030D-6E8A-4147-A177-3AD203B41FA5}">
                      <a16:colId xmlns:a16="http://schemas.microsoft.com/office/drawing/2014/main" val="366163754"/>
                    </a:ext>
                  </a:extLst>
                </a:gridCol>
              </a:tblGrid>
              <a:tr h="468313">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75000"/>
                        <a:buFont typeface="Monotype Sorts" pitchFamily="2" charset="2"/>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defRPr>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5000"/>
                        <a:buFont typeface="Monotype Sorts" pitchFamily="2" charset="2"/>
                        <a:buNone/>
                        <a:tabLst/>
                      </a:pPr>
                      <a:endParaRPr kumimoji="0" lang="en-US" altLang="en-US" sz="2200" b="0" i="0" u="none" strike="noStrike" cap="none" normalizeH="0" baseline="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4407534"/>
                  </a:ext>
                </a:extLst>
              </a:tr>
            </a:tbl>
          </a:graphicData>
        </a:graphic>
      </p:graphicFrame>
      <p:sp>
        <p:nvSpPr>
          <p:cNvPr id="164961" name="Text Box 97"/>
          <p:cNvSpPr txBox="1">
            <a:spLocks noChangeArrowheads="1"/>
          </p:cNvSpPr>
          <p:nvPr/>
        </p:nvSpPr>
        <p:spPr bwMode="auto">
          <a:xfrm>
            <a:off x="7126922" y="4827588"/>
            <a:ext cx="1222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solidFill>
                  <a:srgbClr val="990000"/>
                </a:solidFill>
                <a:latin typeface="Helvetica" panose="020B0604020202020204" pitchFamily="34" charset="0"/>
              </a:rPr>
              <a:t>newItem</a:t>
            </a:r>
          </a:p>
        </p:txBody>
      </p:sp>
      <p:sp>
        <p:nvSpPr>
          <p:cNvPr id="164962" name="Line 98"/>
          <p:cNvSpPr>
            <a:spLocks noChangeShapeType="1"/>
          </p:cNvSpPr>
          <p:nvPr/>
        </p:nvSpPr>
        <p:spPr bwMode="auto">
          <a:xfrm>
            <a:off x="7542847" y="5181600"/>
            <a:ext cx="0" cy="32702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63" name="Line 99"/>
          <p:cNvSpPr>
            <a:spLocks noChangeShapeType="1"/>
          </p:cNvSpPr>
          <p:nvPr/>
        </p:nvSpPr>
        <p:spPr bwMode="auto">
          <a:xfrm>
            <a:off x="5009197" y="5808663"/>
            <a:ext cx="21812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64" name="Line 100"/>
          <p:cNvSpPr>
            <a:spLocks noChangeShapeType="1"/>
          </p:cNvSpPr>
          <p:nvPr/>
        </p:nvSpPr>
        <p:spPr bwMode="auto">
          <a:xfrm>
            <a:off x="8019097" y="5794375"/>
            <a:ext cx="7508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965" name="Text Box 101"/>
          <p:cNvSpPr txBox="1">
            <a:spLocks noChangeArrowheads="1"/>
          </p:cNvSpPr>
          <p:nvPr/>
        </p:nvSpPr>
        <p:spPr bwMode="auto">
          <a:xfrm>
            <a:off x="8458200" y="5805488"/>
            <a:ext cx="8810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dirty="0">
                <a:latin typeface="Helvetica" panose="020B0604020202020204" pitchFamily="34" charset="0"/>
              </a:rPr>
              <a:t>NULL</a:t>
            </a:r>
          </a:p>
        </p:txBody>
      </p:sp>
      <p:sp>
        <p:nvSpPr>
          <p:cNvPr id="40" name="Line 28"/>
          <p:cNvSpPr>
            <a:spLocks noChangeShapeType="1"/>
          </p:cNvSpPr>
          <p:nvPr/>
        </p:nvSpPr>
        <p:spPr bwMode="auto">
          <a:xfrm>
            <a:off x="3352800" y="32766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28"/>
          <p:cNvSpPr>
            <a:spLocks noChangeShapeType="1"/>
          </p:cNvSpPr>
          <p:nvPr/>
        </p:nvSpPr>
        <p:spPr bwMode="auto">
          <a:xfrm>
            <a:off x="3352800" y="46482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TextBox 1"/>
          <p:cNvSpPr txBox="1"/>
          <p:nvPr/>
        </p:nvSpPr>
        <p:spPr>
          <a:xfrm>
            <a:off x="2797175" y="3124200"/>
            <a:ext cx="343364" cy="369332"/>
          </a:xfrm>
          <a:prstGeom prst="rect">
            <a:avLst/>
          </a:prstGeom>
          <a:noFill/>
        </p:spPr>
        <p:txBody>
          <a:bodyPr wrap="none" rtlCol="0">
            <a:spAutoFit/>
          </a:bodyPr>
          <a:lstStyle/>
          <a:p>
            <a:r>
              <a:rPr lang="en-US" dirty="0" smtClean="0"/>
              <a:t>…</a:t>
            </a:r>
            <a:endParaRPr lang="en-US" dirty="0"/>
          </a:p>
        </p:txBody>
      </p:sp>
      <p:sp>
        <p:nvSpPr>
          <p:cNvPr id="43" name="TextBox 42"/>
          <p:cNvSpPr txBox="1"/>
          <p:nvPr/>
        </p:nvSpPr>
        <p:spPr>
          <a:xfrm>
            <a:off x="2780836" y="4431268"/>
            <a:ext cx="343364" cy="369332"/>
          </a:xfrm>
          <a:prstGeom prst="rect">
            <a:avLst/>
          </a:prstGeom>
          <a:noFill/>
        </p:spPr>
        <p:txBody>
          <a:bodyPr wrap="none" rtlCol="0">
            <a:spAutoFit/>
          </a:bodyPr>
          <a:lstStyle/>
          <a:p>
            <a:r>
              <a:rPr lang="en-US" dirty="0" smtClean="0"/>
              <a:t>…</a:t>
            </a:r>
            <a:endParaRPr lang="en-US" dirty="0"/>
          </a:p>
        </p:txBody>
      </p:sp>
      <p:sp>
        <p:nvSpPr>
          <p:cNvPr id="44" name="Line 28"/>
          <p:cNvSpPr>
            <a:spLocks noChangeShapeType="1"/>
          </p:cNvSpPr>
          <p:nvPr/>
        </p:nvSpPr>
        <p:spPr bwMode="auto">
          <a:xfrm>
            <a:off x="3352800" y="57912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TextBox 44"/>
          <p:cNvSpPr txBox="1"/>
          <p:nvPr/>
        </p:nvSpPr>
        <p:spPr>
          <a:xfrm>
            <a:off x="2780836" y="5574268"/>
            <a:ext cx="343364" cy="369332"/>
          </a:xfrm>
          <a:prstGeom prst="rect">
            <a:avLst/>
          </a:prstGeom>
          <a:noFill/>
        </p:spPr>
        <p:txBody>
          <a:bodyPr wrap="none" rtlCol="0">
            <a:spAutoFit/>
          </a:bodyPr>
          <a:lstStyle/>
          <a:p>
            <a:r>
              <a:rPr lang="en-US" dirty="0" smtClean="0"/>
              <a:t>…</a:t>
            </a:r>
            <a:endParaRPr lang="en-US" dirty="0"/>
          </a:p>
        </p:txBody>
      </p:sp>
    </p:spTree>
    <p:extLst>
      <p:ext uri="{BB962C8B-B14F-4D97-AF65-F5344CB8AC3E}">
        <p14:creationId xmlns:p14="http://schemas.microsoft.com/office/powerpoint/2010/main" val="10701669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idx="4294967295"/>
          </p:nvPr>
        </p:nvSpPr>
        <p:spPr/>
        <p:txBody>
          <a:bodyPr>
            <a:normAutofit fontScale="90000"/>
          </a:bodyPr>
          <a:lstStyle/>
          <a:p>
            <a:r>
              <a:rPr lang="en-US" altLang="en-US" smtClean="0"/>
              <a:t>Insert Middle (after a desired node)</a:t>
            </a:r>
          </a:p>
        </p:txBody>
      </p:sp>
      <p:sp>
        <p:nvSpPr>
          <p:cNvPr id="187396" name="Rectangle 4"/>
          <p:cNvSpPr>
            <a:spLocks noChangeArrowheads="1"/>
          </p:cNvSpPr>
          <p:nvPr/>
        </p:nvSpPr>
        <p:spPr bwMode="auto">
          <a:xfrm>
            <a:off x="3287712" y="259873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397" name="Rectangle 5"/>
          <p:cNvSpPr>
            <a:spLocks noChangeArrowheads="1"/>
          </p:cNvSpPr>
          <p:nvPr/>
        </p:nvSpPr>
        <p:spPr bwMode="auto">
          <a:xfrm>
            <a:off x="2849562" y="259873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398" name="Line 6"/>
          <p:cNvSpPr>
            <a:spLocks noChangeShapeType="1"/>
          </p:cNvSpPr>
          <p:nvPr/>
        </p:nvSpPr>
        <p:spPr bwMode="auto">
          <a:xfrm>
            <a:off x="2849562" y="2598738"/>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99" name="Line 7"/>
          <p:cNvSpPr>
            <a:spLocks noChangeShapeType="1"/>
          </p:cNvSpPr>
          <p:nvPr/>
        </p:nvSpPr>
        <p:spPr bwMode="auto">
          <a:xfrm>
            <a:off x="2849562" y="298450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0" name="Line 8"/>
          <p:cNvSpPr>
            <a:spLocks noChangeShapeType="1"/>
          </p:cNvSpPr>
          <p:nvPr/>
        </p:nvSpPr>
        <p:spPr bwMode="auto">
          <a:xfrm>
            <a:off x="2849562" y="259873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1" name="Line 9"/>
          <p:cNvSpPr>
            <a:spLocks noChangeShapeType="1"/>
          </p:cNvSpPr>
          <p:nvPr/>
        </p:nvSpPr>
        <p:spPr bwMode="auto">
          <a:xfrm>
            <a:off x="3287712" y="2598738"/>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2" name="Line 10"/>
          <p:cNvSpPr>
            <a:spLocks noChangeShapeType="1"/>
          </p:cNvSpPr>
          <p:nvPr/>
        </p:nvSpPr>
        <p:spPr bwMode="auto">
          <a:xfrm>
            <a:off x="3725862" y="259873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3" name="Rectangle 11"/>
          <p:cNvSpPr>
            <a:spLocks noChangeArrowheads="1"/>
          </p:cNvSpPr>
          <p:nvPr/>
        </p:nvSpPr>
        <p:spPr bwMode="auto">
          <a:xfrm>
            <a:off x="4686300" y="2589213"/>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04" name="Rectangle 12"/>
          <p:cNvSpPr>
            <a:spLocks noChangeArrowheads="1"/>
          </p:cNvSpPr>
          <p:nvPr/>
        </p:nvSpPr>
        <p:spPr bwMode="auto">
          <a:xfrm>
            <a:off x="4248150" y="2589213"/>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05" name="Line 13"/>
          <p:cNvSpPr>
            <a:spLocks noChangeShapeType="1"/>
          </p:cNvSpPr>
          <p:nvPr/>
        </p:nvSpPr>
        <p:spPr bwMode="auto">
          <a:xfrm>
            <a:off x="4248150" y="2589213"/>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6" name="Line 14"/>
          <p:cNvSpPr>
            <a:spLocks noChangeShapeType="1"/>
          </p:cNvSpPr>
          <p:nvPr/>
        </p:nvSpPr>
        <p:spPr bwMode="auto">
          <a:xfrm>
            <a:off x="4248150" y="2974975"/>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7" name="Line 15"/>
          <p:cNvSpPr>
            <a:spLocks noChangeShapeType="1"/>
          </p:cNvSpPr>
          <p:nvPr/>
        </p:nvSpPr>
        <p:spPr bwMode="auto">
          <a:xfrm>
            <a:off x="4248150" y="2589213"/>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8" name="Line 16"/>
          <p:cNvSpPr>
            <a:spLocks noChangeShapeType="1"/>
          </p:cNvSpPr>
          <p:nvPr/>
        </p:nvSpPr>
        <p:spPr bwMode="auto">
          <a:xfrm>
            <a:off x="4686300" y="2589213"/>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9" name="Line 17"/>
          <p:cNvSpPr>
            <a:spLocks noChangeShapeType="1"/>
          </p:cNvSpPr>
          <p:nvPr/>
        </p:nvSpPr>
        <p:spPr bwMode="auto">
          <a:xfrm>
            <a:off x="5124450" y="2589213"/>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0" name="Line 18"/>
          <p:cNvSpPr>
            <a:spLocks noChangeShapeType="1"/>
          </p:cNvSpPr>
          <p:nvPr/>
        </p:nvSpPr>
        <p:spPr bwMode="auto">
          <a:xfrm>
            <a:off x="3489325" y="2776538"/>
            <a:ext cx="736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1" name="Line 19"/>
          <p:cNvSpPr>
            <a:spLocks noChangeShapeType="1"/>
          </p:cNvSpPr>
          <p:nvPr/>
        </p:nvSpPr>
        <p:spPr bwMode="auto">
          <a:xfrm>
            <a:off x="4857750" y="2776538"/>
            <a:ext cx="6048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3" name="Text Box 21"/>
          <p:cNvSpPr txBox="1">
            <a:spLocks noChangeArrowheads="1"/>
          </p:cNvSpPr>
          <p:nvPr/>
        </p:nvSpPr>
        <p:spPr bwMode="auto">
          <a:xfrm>
            <a:off x="2693987" y="2133600"/>
            <a:ext cx="711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latin typeface="Arial Narrow" panose="020B0606020202030204" pitchFamily="34" charset="0"/>
              </a:rPr>
              <a:t>HEAD</a:t>
            </a:r>
          </a:p>
        </p:txBody>
      </p:sp>
      <p:sp>
        <p:nvSpPr>
          <p:cNvPr id="187414" name="Line 22"/>
          <p:cNvSpPr>
            <a:spLocks noChangeShapeType="1"/>
          </p:cNvSpPr>
          <p:nvPr/>
        </p:nvSpPr>
        <p:spPr bwMode="auto">
          <a:xfrm>
            <a:off x="3028950" y="2349500"/>
            <a:ext cx="0" cy="2444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5" name="Rectangle 23"/>
          <p:cNvSpPr>
            <a:spLocks noChangeArrowheads="1"/>
          </p:cNvSpPr>
          <p:nvPr/>
        </p:nvSpPr>
        <p:spPr bwMode="auto">
          <a:xfrm>
            <a:off x="3276600" y="3617913"/>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16" name="Rectangle 24"/>
          <p:cNvSpPr>
            <a:spLocks noChangeArrowheads="1"/>
          </p:cNvSpPr>
          <p:nvPr/>
        </p:nvSpPr>
        <p:spPr bwMode="auto">
          <a:xfrm>
            <a:off x="2838450" y="3617913"/>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17" name="Line 25"/>
          <p:cNvSpPr>
            <a:spLocks noChangeShapeType="1"/>
          </p:cNvSpPr>
          <p:nvPr/>
        </p:nvSpPr>
        <p:spPr bwMode="auto">
          <a:xfrm>
            <a:off x="2838450" y="3617913"/>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8" name="Line 26"/>
          <p:cNvSpPr>
            <a:spLocks noChangeShapeType="1"/>
          </p:cNvSpPr>
          <p:nvPr/>
        </p:nvSpPr>
        <p:spPr bwMode="auto">
          <a:xfrm>
            <a:off x="2838450" y="4003675"/>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9" name="Line 27"/>
          <p:cNvSpPr>
            <a:spLocks noChangeShapeType="1"/>
          </p:cNvSpPr>
          <p:nvPr/>
        </p:nvSpPr>
        <p:spPr bwMode="auto">
          <a:xfrm>
            <a:off x="2838450" y="3617913"/>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0" name="Line 28"/>
          <p:cNvSpPr>
            <a:spLocks noChangeShapeType="1"/>
          </p:cNvSpPr>
          <p:nvPr/>
        </p:nvSpPr>
        <p:spPr bwMode="auto">
          <a:xfrm>
            <a:off x="3276600" y="3617913"/>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1" name="Line 29"/>
          <p:cNvSpPr>
            <a:spLocks noChangeShapeType="1"/>
          </p:cNvSpPr>
          <p:nvPr/>
        </p:nvSpPr>
        <p:spPr bwMode="auto">
          <a:xfrm>
            <a:off x="3714750" y="3617913"/>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2" name="Rectangle 30"/>
          <p:cNvSpPr>
            <a:spLocks noChangeArrowheads="1"/>
          </p:cNvSpPr>
          <p:nvPr/>
        </p:nvSpPr>
        <p:spPr bwMode="auto">
          <a:xfrm>
            <a:off x="4675187" y="3608388"/>
            <a:ext cx="436563"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23" name="Rectangle 31"/>
          <p:cNvSpPr>
            <a:spLocks noChangeArrowheads="1"/>
          </p:cNvSpPr>
          <p:nvPr/>
        </p:nvSpPr>
        <p:spPr bwMode="auto">
          <a:xfrm>
            <a:off x="4235450" y="3608388"/>
            <a:ext cx="43973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24" name="Line 32"/>
          <p:cNvSpPr>
            <a:spLocks noChangeShapeType="1"/>
          </p:cNvSpPr>
          <p:nvPr/>
        </p:nvSpPr>
        <p:spPr bwMode="auto">
          <a:xfrm>
            <a:off x="4235450" y="3608388"/>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5" name="Line 33"/>
          <p:cNvSpPr>
            <a:spLocks noChangeShapeType="1"/>
          </p:cNvSpPr>
          <p:nvPr/>
        </p:nvSpPr>
        <p:spPr bwMode="auto">
          <a:xfrm>
            <a:off x="4235450" y="399415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6" name="Line 34"/>
          <p:cNvSpPr>
            <a:spLocks noChangeShapeType="1"/>
          </p:cNvSpPr>
          <p:nvPr/>
        </p:nvSpPr>
        <p:spPr bwMode="auto">
          <a:xfrm>
            <a:off x="4235450" y="360838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7" name="Line 35"/>
          <p:cNvSpPr>
            <a:spLocks noChangeShapeType="1"/>
          </p:cNvSpPr>
          <p:nvPr/>
        </p:nvSpPr>
        <p:spPr bwMode="auto">
          <a:xfrm>
            <a:off x="4675187" y="3608388"/>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8" name="Line 36"/>
          <p:cNvSpPr>
            <a:spLocks noChangeShapeType="1"/>
          </p:cNvSpPr>
          <p:nvPr/>
        </p:nvSpPr>
        <p:spPr bwMode="auto">
          <a:xfrm>
            <a:off x="5111750" y="360838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9" name="Line 37"/>
          <p:cNvSpPr>
            <a:spLocks noChangeShapeType="1"/>
          </p:cNvSpPr>
          <p:nvPr/>
        </p:nvSpPr>
        <p:spPr bwMode="auto">
          <a:xfrm>
            <a:off x="3478212" y="3794125"/>
            <a:ext cx="736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30" name="Line 38"/>
          <p:cNvSpPr>
            <a:spLocks noChangeShapeType="1"/>
          </p:cNvSpPr>
          <p:nvPr/>
        </p:nvSpPr>
        <p:spPr bwMode="auto">
          <a:xfrm>
            <a:off x="4846637" y="3794125"/>
            <a:ext cx="6048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32" name="Text Box 40"/>
          <p:cNvSpPr txBox="1">
            <a:spLocks noChangeArrowheads="1"/>
          </p:cNvSpPr>
          <p:nvPr/>
        </p:nvSpPr>
        <p:spPr bwMode="auto">
          <a:xfrm>
            <a:off x="2684462" y="3141663"/>
            <a:ext cx="7096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latin typeface="Arial Narrow" panose="020B0606020202030204" pitchFamily="34" charset="0"/>
              </a:rPr>
              <a:t>HEAD</a:t>
            </a:r>
          </a:p>
        </p:txBody>
      </p:sp>
      <p:sp>
        <p:nvSpPr>
          <p:cNvPr id="187433" name="Line 41"/>
          <p:cNvSpPr>
            <a:spLocks noChangeShapeType="1"/>
          </p:cNvSpPr>
          <p:nvPr/>
        </p:nvSpPr>
        <p:spPr bwMode="auto">
          <a:xfrm>
            <a:off x="3028950" y="3357563"/>
            <a:ext cx="0" cy="2444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34" name="Text Box 42"/>
          <p:cNvSpPr txBox="1">
            <a:spLocks noChangeArrowheads="1"/>
          </p:cNvSpPr>
          <p:nvPr/>
        </p:nvSpPr>
        <p:spPr bwMode="auto">
          <a:xfrm>
            <a:off x="4016375" y="3167063"/>
            <a:ext cx="7096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latin typeface="Arial Narrow" panose="020B0606020202030204" pitchFamily="34" charset="0"/>
              </a:rPr>
              <a:t>prev</a:t>
            </a:r>
          </a:p>
        </p:txBody>
      </p:sp>
      <p:sp>
        <p:nvSpPr>
          <p:cNvPr id="187435" name="Line 43"/>
          <p:cNvSpPr>
            <a:spLocks noChangeShapeType="1"/>
          </p:cNvSpPr>
          <p:nvPr/>
        </p:nvSpPr>
        <p:spPr bwMode="auto">
          <a:xfrm>
            <a:off x="4398962" y="3417888"/>
            <a:ext cx="0" cy="1730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36" name="Text Box 44"/>
          <p:cNvSpPr txBox="1">
            <a:spLocks noChangeArrowheads="1"/>
          </p:cNvSpPr>
          <p:nvPr/>
        </p:nvSpPr>
        <p:spPr bwMode="auto">
          <a:xfrm>
            <a:off x="5003800" y="4221163"/>
            <a:ext cx="984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solidFill>
                  <a:srgbClr val="990000"/>
                </a:solidFill>
                <a:latin typeface="Arial Narrow" panose="020B0606020202030204" pitchFamily="34" charset="0"/>
              </a:rPr>
              <a:t>newItem</a:t>
            </a:r>
          </a:p>
        </p:txBody>
      </p:sp>
      <p:sp>
        <p:nvSpPr>
          <p:cNvPr id="187438" name="Rectangle 46"/>
          <p:cNvSpPr>
            <a:spLocks noChangeArrowheads="1"/>
          </p:cNvSpPr>
          <p:nvPr/>
        </p:nvSpPr>
        <p:spPr bwMode="auto">
          <a:xfrm>
            <a:off x="2801937" y="477043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39" name="Rectangle 47"/>
          <p:cNvSpPr>
            <a:spLocks noChangeArrowheads="1"/>
          </p:cNvSpPr>
          <p:nvPr/>
        </p:nvSpPr>
        <p:spPr bwMode="auto">
          <a:xfrm>
            <a:off x="2363787" y="477043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40" name="Line 48"/>
          <p:cNvSpPr>
            <a:spLocks noChangeShapeType="1"/>
          </p:cNvSpPr>
          <p:nvPr/>
        </p:nvSpPr>
        <p:spPr bwMode="auto">
          <a:xfrm>
            <a:off x="2363787" y="4770438"/>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1" name="Line 49"/>
          <p:cNvSpPr>
            <a:spLocks noChangeShapeType="1"/>
          </p:cNvSpPr>
          <p:nvPr/>
        </p:nvSpPr>
        <p:spPr bwMode="auto">
          <a:xfrm>
            <a:off x="2363787" y="515620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2" name="Line 50"/>
          <p:cNvSpPr>
            <a:spLocks noChangeShapeType="1"/>
          </p:cNvSpPr>
          <p:nvPr/>
        </p:nvSpPr>
        <p:spPr bwMode="auto">
          <a:xfrm>
            <a:off x="2363787" y="477043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3" name="Line 51"/>
          <p:cNvSpPr>
            <a:spLocks noChangeShapeType="1"/>
          </p:cNvSpPr>
          <p:nvPr/>
        </p:nvSpPr>
        <p:spPr bwMode="auto">
          <a:xfrm>
            <a:off x="2801937" y="4770438"/>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4" name="Line 52"/>
          <p:cNvSpPr>
            <a:spLocks noChangeShapeType="1"/>
          </p:cNvSpPr>
          <p:nvPr/>
        </p:nvSpPr>
        <p:spPr bwMode="auto">
          <a:xfrm>
            <a:off x="3240087" y="477043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5" name="Rectangle 53"/>
          <p:cNvSpPr>
            <a:spLocks noChangeArrowheads="1"/>
          </p:cNvSpPr>
          <p:nvPr/>
        </p:nvSpPr>
        <p:spPr bwMode="auto">
          <a:xfrm>
            <a:off x="4200525" y="4760913"/>
            <a:ext cx="436562"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46" name="Rectangle 54"/>
          <p:cNvSpPr>
            <a:spLocks noChangeArrowheads="1"/>
          </p:cNvSpPr>
          <p:nvPr/>
        </p:nvSpPr>
        <p:spPr bwMode="auto">
          <a:xfrm>
            <a:off x="3760787" y="4760913"/>
            <a:ext cx="43973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47" name="Line 55"/>
          <p:cNvSpPr>
            <a:spLocks noChangeShapeType="1"/>
          </p:cNvSpPr>
          <p:nvPr/>
        </p:nvSpPr>
        <p:spPr bwMode="auto">
          <a:xfrm>
            <a:off x="3760787" y="4760913"/>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8" name="Line 56"/>
          <p:cNvSpPr>
            <a:spLocks noChangeShapeType="1"/>
          </p:cNvSpPr>
          <p:nvPr/>
        </p:nvSpPr>
        <p:spPr bwMode="auto">
          <a:xfrm>
            <a:off x="3760787" y="5146675"/>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9" name="Line 57"/>
          <p:cNvSpPr>
            <a:spLocks noChangeShapeType="1"/>
          </p:cNvSpPr>
          <p:nvPr/>
        </p:nvSpPr>
        <p:spPr bwMode="auto">
          <a:xfrm>
            <a:off x="3760787" y="4760913"/>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0" name="Line 58"/>
          <p:cNvSpPr>
            <a:spLocks noChangeShapeType="1"/>
          </p:cNvSpPr>
          <p:nvPr/>
        </p:nvSpPr>
        <p:spPr bwMode="auto">
          <a:xfrm>
            <a:off x="4200525" y="4760913"/>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1" name="Line 59"/>
          <p:cNvSpPr>
            <a:spLocks noChangeShapeType="1"/>
          </p:cNvSpPr>
          <p:nvPr/>
        </p:nvSpPr>
        <p:spPr bwMode="auto">
          <a:xfrm>
            <a:off x="4637087" y="4760913"/>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2" name="Line 60"/>
          <p:cNvSpPr>
            <a:spLocks noChangeShapeType="1"/>
          </p:cNvSpPr>
          <p:nvPr/>
        </p:nvSpPr>
        <p:spPr bwMode="auto">
          <a:xfrm>
            <a:off x="3003550" y="4948238"/>
            <a:ext cx="736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3" name="Text Box 61"/>
          <p:cNvSpPr txBox="1">
            <a:spLocks noChangeArrowheads="1"/>
          </p:cNvSpPr>
          <p:nvPr/>
        </p:nvSpPr>
        <p:spPr bwMode="auto">
          <a:xfrm>
            <a:off x="2209800" y="4294188"/>
            <a:ext cx="7096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latin typeface="Arial Narrow" panose="020B0606020202030204" pitchFamily="34" charset="0"/>
              </a:rPr>
              <a:t>HEAD</a:t>
            </a:r>
          </a:p>
        </p:txBody>
      </p:sp>
      <p:sp>
        <p:nvSpPr>
          <p:cNvPr id="187454" name="Line 62"/>
          <p:cNvSpPr>
            <a:spLocks noChangeShapeType="1"/>
          </p:cNvSpPr>
          <p:nvPr/>
        </p:nvSpPr>
        <p:spPr bwMode="auto">
          <a:xfrm>
            <a:off x="2554287" y="4511675"/>
            <a:ext cx="0" cy="2428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5" name="Text Box 63"/>
          <p:cNvSpPr txBox="1">
            <a:spLocks noChangeArrowheads="1"/>
          </p:cNvSpPr>
          <p:nvPr/>
        </p:nvSpPr>
        <p:spPr bwMode="auto">
          <a:xfrm>
            <a:off x="3541712" y="4321175"/>
            <a:ext cx="7096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latin typeface="Arial Narrow" panose="020B0606020202030204" pitchFamily="34" charset="0"/>
              </a:rPr>
              <a:t>prev</a:t>
            </a:r>
          </a:p>
        </p:txBody>
      </p:sp>
      <p:sp>
        <p:nvSpPr>
          <p:cNvPr id="187456" name="Line 64"/>
          <p:cNvSpPr>
            <a:spLocks noChangeShapeType="1"/>
          </p:cNvSpPr>
          <p:nvPr/>
        </p:nvSpPr>
        <p:spPr bwMode="auto">
          <a:xfrm>
            <a:off x="3924300" y="4570413"/>
            <a:ext cx="0" cy="1746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7" name="Rectangle 65"/>
          <p:cNvSpPr>
            <a:spLocks noChangeArrowheads="1"/>
          </p:cNvSpPr>
          <p:nvPr/>
        </p:nvSpPr>
        <p:spPr bwMode="auto">
          <a:xfrm>
            <a:off x="5519737" y="4743450"/>
            <a:ext cx="436562"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58" name="Rectangle 66"/>
          <p:cNvSpPr>
            <a:spLocks noChangeArrowheads="1"/>
          </p:cNvSpPr>
          <p:nvPr/>
        </p:nvSpPr>
        <p:spPr bwMode="auto">
          <a:xfrm>
            <a:off x="5080000" y="4743450"/>
            <a:ext cx="43973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87459" name="Line 67"/>
          <p:cNvSpPr>
            <a:spLocks noChangeShapeType="1"/>
          </p:cNvSpPr>
          <p:nvPr/>
        </p:nvSpPr>
        <p:spPr bwMode="auto">
          <a:xfrm>
            <a:off x="5080000" y="474345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0" name="Line 68"/>
          <p:cNvSpPr>
            <a:spLocks noChangeShapeType="1"/>
          </p:cNvSpPr>
          <p:nvPr/>
        </p:nvSpPr>
        <p:spPr bwMode="auto">
          <a:xfrm>
            <a:off x="5080000" y="5129213"/>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1" name="Line 69"/>
          <p:cNvSpPr>
            <a:spLocks noChangeShapeType="1"/>
          </p:cNvSpPr>
          <p:nvPr/>
        </p:nvSpPr>
        <p:spPr bwMode="auto">
          <a:xfrm>
            <a:off x="5080000" y="4743450"/>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2" name="Line 70"/>
          <p:cNvSpPr>
            <a:spLocks noChangeShapeType="1"/>
          </p:cNvSpPr>
          <p:nvPr/>
        </p:nvSpPr>
        <p:spPr bwMode="auto">
          <a:xfrm>
            <a:off x="5519737" y="4743450"/>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3" name="Line 71"/>
          <p:cNvSpPr>
            <a:spLocks noChangeShapeType="1"/>
          </p:cNvSpPr>
          <p:nvPr/>
        </p:nvSpPr>
        <p:spPr bwMode="auto">
          <a:xfrm>
            <a:off x="5956300" y="4743450"/>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4" name="Line 72"/>
          <p:cNvSpPr>
            <a:spLocks noChangeShapeType="1"/>
          </p:cNvSpPr>
          <p:nvPr/>
        </p:nvSpPr>
        <p:spPr bwMode="auto">
          <a:xfrm>
            <a:off x="5338762" y="4479925"/>
            <a:ext cx="0" cy="24447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5" name="Line 73"/>
          <p:cNvSpPr>
            <a:spLocks noChangeShapeType="1"/>
          </p:cNvSpPr>
          <p:nvPr/>
        </p:nvSpPr>
        <p:spPr bwMode="auto">
          <a:xfrm flipV="1">
            <a:off x="4371975" y="4935538"/>
            <a:ext cx="674687" cy="12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6" name="Line 74"/>
          <p:cNvSpPr>
            <a:spLocks noChangeShapeType="1"/>
          </p:cNvSpPr>
          <p:nvPr/>
        </p:nvSpPr>
        <p:spPr bwMode="auto">
          <a:xfrm>
            <a:off x="5722937" y="4937125"/>
            <a:ext cx="6048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7" name="Text Box 75"/>
          <p:cNvSpPr txBox="1">
            <a:spLocks noChangeArrowheads="1"/>
          </p:cNvSpPr>
          <p:nvPr/>
        </p:nvSpPr>
        <p:spPr bwMode="auto">
          <a:xfrm>
            <a:off x="6302375" y="4814888"/>
            <a:ext cx="7096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endParaRPr lang="en-US" altLang="en-US" sz="1600">
              <a:latin typeface="Arial Narrow" panose="020B0606020202030204" pitchFamily="34" charset="0"/>
            </a:endParaRPr>
          </a:p>
        </p:txBody>
      </p:sp>
      <p:cxnSp>
        <p:nvCxnSpPr>
          <p:cNvPr id="3" name="Straight Arrow Connector 2"/>
          <p:cNvCxnSpPr/>
          <p:nvPr/>
        </p:nvCxnSpPr>
        <p:spPr>
          <a:xfrm flipH="1">
            <a:off x="4725987" y="1143000"/>
            <a:ext cx="1262063" cy="1206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11"/>
          <p:cNvSpPr>
            <a:spLocks noChangeArrowheads="1"/>
          </p:cNvSpPr>
          <p:nvPr/>
        </p:nvSpPr>
        <p:spPr bwMode="auto">
          <a:xfrm>
            <a:off x="5929313" y="2590800"/>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77" name="Rectangle 12"/>
          <p:cNvSpPr>
            <a:spLocks noChangeArrowheads="1"/>
          </p:cNvSpPr>
          <p:nvPr/>
        </p:nvSpPr>
        <p:spPr bwMode="auto">
          <a:xfrm>
            <a:off x="5491163" y="2590800"/>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78" name="Line 13"/>
          <p:cNvSpPr>
            <a:spLocks noChangeShapeType="1"/>
          </p:cNvSpPr>
          <p:nvPr/>
        </p:nvSpPr>
        <p:spPr bwMode="auto">
          <a:xfrm>
            <a:off x="5491163" y="259080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Line 14"/>
          <p:cNvSpPr>
            <a:spLocks noChangeShapeType="1"/>
          </p:cNvSpPr>
          <p:nvPr/>
        </p:nvSpPr>
        <p:spPr bwMode="auto">
          <a:xfrm>
            <a:off x="5491163" y="2976562"/>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 name="Line 15"/>
          <p:cNvSpPr>
            <a:spLocks noChangeShapeType="1"/>
          </p:cNvSpPr>
          <p:nvPr/>
        </p:nvSpPr>
        <p:spPr bwMode="auto">
          <a:xfrm>
            <a:off x="5491163" y="2590800"/>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16"/>
          <p:cNvSpPr>
            <a:spLocks noChangeShapeType="1"/>
          </p:cNvSpPr>
          <p:nvPr/>
        </p:nvSpPr>
        <p:spPr bwMode="auto">
          <a:xfrm>
            <a:off x="5929313" y="2590800"/>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Line 17"/>
          <p:cNvSpPr>
            <a:spLocks noChangeShapeType="1"/>
          </p:cNvSpPr>
          <p:nvPr/>
        </p:nvSpPr>
        <p:spPr bwMode="auto">
          <a:xfrm>
            <a:off x="6367463" y="2590800"/>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 name="Line 19"/>
          <p:cNvSpPr>
            <a:spLocks noChangeShapeType="1"/>
          </p:cNvSpPr>
          <p:nvPr/>
        </p:nvSpPr>
        <p:spPr bwMode="auto">
          <a:xfrm>
            <a:off x="6100763" y="2778125"/>
            <a:ext cx="6048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 name="Rectangle 11"/>
          <p:cNvSpPr>
            <a:spLocks noChangeArrowheads="1"/>
          </p:cNvSpPr>
          <p:nvPr/>
        </p:nvSpPr>
        <p:spPr bwMode="auto">
          <a:xfrm>
            <a:off x="5929313" y="360711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85" name="Rectangle 12"/>
          <p:cNvSpPr>
            <a:spLocks noChangeArrowheads="1"/>
          </p:cNvSpPr>
          <p:nvPr/>
        </p:nvSpPr>
        <p:spPr bwMode="auto">
          <a:xfrm>
            <a:off x="5491163" y="360711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86" name="Line 13"/>
          <p:cNvSpPr>
            <a:spLocks noChangeShapeType="1"/>
          </p:cNvSpPr>
          <p:nvPr/>
        </p:nvSpPr>
        <p:spPr bwMode="auto">
          <a:xfrm>
            <a:off x="5491163" y="3607118"/>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7" name="Line 14"/>
          <p:cNvSpPr>
            <a:spLocks noChangeShapeType="1"/>
          </p:cNvSpPr>
          <p:nvPr/>
        </p:nvSpPr>
        <p:spPr bwMode="auto">
          <a:xfrm>
            <a:off x="5491163" y="399288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 name="Line 15"/>
          <p:cNvSpPr>
            <a:spLocks noChangeShapeType="1"/>
          </p:cNvSpPr>
          <p:nvPr/>
        </p:nvSpPr>
        <p:spPr bwMode="auto">
          <a:xfrm>
            <a:off x="5491163" y="360711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 name="Line 16"/>
          <p:cNvSpPr>
            <a:spLocks noChangeShapeType="1"/>
          </p:cNvSpPr>
          <p:nvPr/>
        </p:nvSpPr>
        <p:spPr bwMode="auto">
          <a:xfrm>
            <a:off x="5929313" y="3607118"/>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 name="Line 17"/>
          <p:cNvSpPr>
            <a:spLocks noChangeShapeType="1"/>
          </p:cNvSpPr>
          <p:nvPr/>
        </p:nvSpPr>
        <p:spPr bwMode="auto">
          <a:xfrm>
            <a:off x="6367463" y="360711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 name="Line 19"/>
          <p:cNvSpPr>
            <a:spLocks noChangeShapeType="1"/>
          </p:cNvSpPr>
          <p:nvPr/>
        </p:nvSpPr>
        <p:spPr bwMode="auto">
          <a:xfrm>
            <a:off x="6100763" y="3794443"/>
            <a:ext cx="6048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 name="Rectangle 11"/>
          <p:cNvSpPr>
            <a:spLocks noChangeArrowheads="1"/>
          </p:cNvSpPr>
          <p:nvPr/>
        </p:nvSpPr>
        <p:spPr bwMode="auto">
          <a:xfrm>
            <a:off x="6767513" y="476535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93" name="Rectangle 12"/>
          <p:cNvSpPr>
            <a:spLocks noChangeArrowheads="1"/>
          </p:cNvSpPr>
          <p:nvPr/>
        </p:nvSpPr>
        <p:spPr bwMode="auto">
          <a:xfrm>
            <a:off x="6329363" y="4765358"/>
            <a:ext cx="4381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94" name="Line 13"/>
          <p:cNvSpPr>
            <a:spLocks noChangeShapeType="1"/>
          </p:cNvSpPr>
          <p:nvPr/>
        </p:nvSpPr>
        <p:spPr bwMode="auto">
          <a:xfrm>
            <a:off x="6329363" y="4765358"/>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5" name="Line 14"/>
          <p:cNvSpPr>
            <a:spLocks noChangeShapeType="1"/>
          </p:cNvSpPr>
          <p:nvPr/>
        </p:nvSpPr>
        <p:spPr bwMode="auto">
          <a:xfrm>
            <a:off x="6329363" y="515112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 name="Line 15"/>
          <p:cNvSpPr>
            <a:spLocks noChangeShapeType="1"/>
          </p:cNvSpPr>
          <p:nvPr/>
        </p:nvSpPr>
        <p:spPr bwMode="auto">
          <a:xfrm>
            <a:off x="6329363" y="476535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 name="Line 16"/>
          <p:cNvSpPr>
            <a:spLocks noChangeShapeType="1"/>
          </p:cNvSpPr>
          <p:nvPr/>
        </p:nvSpPr>
        <p:spPr bwMode="auto">
          <a:xfrm>
            <a:off x="6767513" y="4765358"/>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 name="Line 17"/>
          <p:cNvSpPr>
            <a:spLocks noChangeShapeType="1"/>
          </p:cNvSpPr>
          <p:nvPr/>
        </p:nvSpPr>
        <p:spPr bwMode="auto">
          <a:xfrm>
            <a:off x="7205663" y="4765358"/>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9" name="Line 19"/>
          <p:cNvSpPr>
            <a:spLocks noChangeShapeType="1"/>
          </p:cNvSpPr>
          <p:nvPr/>
        </p:nvSpPr>
        <p:spPr bwMode="auto">
          <a:xfrm>
            <a:off x="6938963" y="4952683"/>
            <a:ext cx="6048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TextBox 3"/>
          <p:cNvSpPr txBox="1"/>
          <p:nvPr/>
        </p:nvSpPr>
        <p:spPr>
          <a:xfrm>
            <a:off x="6828961" y="2586673"/>
            <a:ext cx="343364" cy="369332"/>
          </a:xfrm>
          <a:prstGeom prst="rect">
            <a:avLst/>
          </a:prstGeom>
          <a:noFill/>
        </p:spPr>
        <p:txBody>
          <a:bodyPr wrap="none" rtlCol="0">
            <a:spAutoFit/>
          </a:bodyPr>
          <a:lstStyle/>
          <a:p>
            <a:r>
              <a:rPr lang="en-US" dirty="0" smtClean="0"/>
              <a:t>…</a:t>
            </a:r>
            <a:endParaRPr lang="en-US" dirty="0"/>
          </a:p>
        </p:txBody>
      </p:sp>
      <p:sp>
        <p:nvSpPr>
          <p:cNvPr id="101" name="TextBox 100"/>
          <p:cNvSpPr txBox="1"/>
          <p:nvPr/>
        </p:nvSpPr>
        <p:spPr>
          <a:xfrm>
            <a:off x="6828961" y="3578702"/>
            <a:ext cx="343364" cy="369332"/>
          </a:xfrm>
          <a:prstGeom prst="rect">
            <a:avLst/>
          </a:prstGeom>
          <a:noFill/>
        </p:spPr>
        <p:txBody>
          <a:bodyPr wrap="none" rtlCol="0">
            <a:spAutoFit/>
          </a:bodyPr>
          <a:lstStyle/>
          <a:p>
            <a:r>
              <a:rPr lang="en-US" dirty="0" smtClean="0"/>
              <a:t>…</a:t>
            </a:r>
            <a:endParaRPr lang="en-US" dirty="0"/>
          </a:p>
        </p:txBody>
      </p:sp>
      <p:sp>
        <p:nvSpPr>
          <p:cNvPr id="102" name="TextBox 101"/>
          <p:cNvSpPr txBox="1"/>
          <p:nvPr/>
        </p:nvSpPr>
        <p:spPr>
          <a:xfrm>
            <a:off x="7590154" y="4675188"/>
            <a:ext cx="343364" cy="369332"/>
          </a:xfrm>
          <a:prstGeom prst="rect">
            <a:avLst/>
          </a:prstGeom>
          <a:noFill/>
        </p:spPr>
        <p:txBody>
          <a:bodyPr wrap="none" rtlCol="0">
            <a:spAutoFit/>
          </a:bodyPr>
          <a:lstStyle/>
          <a:p>
            <a:r>
              <a:rPr lang="en-US" dirty="0" smtClean="0"/>
              <a:t>…</a:t>
            </a:r>
            <a:endParaRPr lang="en-US" dirty="0"/>
          </a:p>
        </p:txBody>
      </p:sp>
      <p:sp>
        <p:nvSpPr>
          <p:cNvPr id="103" name="Text Box 44"/>
          <p:cNvSpPr txBox="1">
            <a:spLocks noChangeArrowheads="1"/>
          </p:cNvSpPr>
          <p:nvPr/>
        </p:nvSpPr>
        <p:spPr bwMode="auto">
          <a:xfrm>
            <a:off x="5915026" y="1143000"/>
            <a:ext cx="984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solidFill>
                  <a:srgbClr val="990000"/>
                </a:solidFill>
                <a:latin typeface="Arial Narrow" panose="020B0606020202030204" pitchFamily="34" charset="0"/>
              </a:rPr>
              <a:t>newItem</a:t>
            </a:r>
          </a:p>
        </p:txBody>
      </p:sp>
      <p:sp>
        <p:nvSpPr>
          <p:cNvPr id="104" name="Rectangle 65"/>
          <p:cNvSpPr>
            <a:spLocks noChangeArrowheads="1"/>
          </p:cNvSpPr>
          <p:nvPr/>
        </p:nvSpPr>
        <p:spPr bwMode="auto">
          <a:xfrm>
            <a:off x="6430963" y="1665287"/>
            <a:ext cx="436562"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05" name="Rectangle 66"/>
          <p:cNvSpPr>
            <a:spLocks noChangeArrowheads="1"/>
          </p:cNvSpPr>
          <p:nvPr/>
        </p:nvSpPr>
        <p:spPr bwMode="auto">
          <a:xfrm>
            <a:off x="5991226" y="1665287"/>
            <a:ext cx="43973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accent1"/>
              </a:buClr>
              <a:buSzPct val="75000"/>
              <a:buFont typeface="Monotype Sorts" pitchFamily="2" charset="2"/>
              <a:buChar char="l"/>
              <a:defRPr sz="2200">
                <a:solidFill>
                  <a:schemeClr val="tx1"/>
                </a:solidFill>
                <a:latin typeface="Times New Roman" panose="02020603050405020304" pitchFamily="18" charset="0"/>
                <a:cs typeface="Arial" panose="020B0604020202020204" pitchFamily="34" charset="0"/>
              </a:defRPr>
            </a:lvl1pPr>
            <a:lvl2pPr algn="l" eaLnBrk="0" hangingPunct="0">
              <a:spcBef>
                <a:spcPct val="20000"/>
              </a:spcBef>
              <a:buClr>
                <a:schemeClr val="tx2"/>
              </a:buClr>
              <a:buSzPct val="65000"/>
              <a:buFont typeface="Monotype Sorts" pitchFamily="2" charset="2"/>
              <a:buChar char="n"/>
              <a:defRPr sz="2000">
                <a:solidFill>
                  <a:schemeClr val="tx1"/>
                </a:solidFill>
                <a:latin typeface="Times New Roman" panose="02020603050405020304" pitchFamily="18" charset="0"/>
                <a:cs typeface="Arial" panose="020B0604020202020204" pitchFamily="34" charset="0"/>
              </a:defRPr>
            </a:lvl2pPr>
            <a:lvl3pPr algn="l" eaLnBrk="0" hangingPunct="0">
              <a:spcBef>
                <a:spcPct val="20000"/>
              </a:spcBef>
              <a:buClr>
                <a:schemeClr val="accent1"/>
              </a:buClr>
              <a:buSzPct val="65000"/>
              <a:buFont typeface="Monotype Sorts" pitchFamily="2" charset="2"/>
              <a:buChar char="u"/>
              <a:defRPr sz="2000">
                <a:solidFill>
                  <a:schemeClr val="tx1"/>
                </a:solidFill>
                <a:latin typeface="Times New Roman" panose="02020603050405020304" pitchFamily="18" charset="0"/>
                <a:cs typeface="Arial" panose="020B0604020202020204" pitchFamily="34" charset="0"/>
              </a:defRPr>
            </a:lvl3pPr>
            <a:lvl4pPr algn="l" eaLnBrk="0" hangingPunct="0">
              <a:spcBef>
                <a:spcPct val="20000"/>
              </a:spcBef>
              <a:buClr>
                <a:schemeClr val="accent1"/>
              </a:buClr>
              <a:buSzPct val="65000"/>
              <a:buFont typeface="Monotype Sorts" pitchFamily="2" charset="2"/>
              <a:buChar char="]"/>
              <a:defRPr>
                <a:solidFill>
                  <a:schemeClr val="tx1"/>
                </a:solidFill>
                <a:latin typeface="Times New Roman" panose="02020603050405020304" pitchFamily="18" charset="0"/>
                <a:cs typeface="Arial" panose="020B0604020202020204" pitchFamily="34" charset="0"/>
              </a:defRPr>
            </a:lvl4pPr>
            <a:lvl5pPr algn="l" eaLnBrk="0" hangingPunct="0">
              <a:spcBef>
                <a:spcPct val="20000"/>
              </a:spcBef>
              <a:buClr>
                <a:schemeClr val="tx1"/>
              </a:buClr>
              <a:buSzPct val="100000"/>
              <a:buChar char="–"/>
              <a:defRPr>
                <a:solidFill>
                  <a:schemeClr val="tx1"/>
                </a:solidFill>
                <a:latin typeface="Times New Roman" panose="02020603050405020304" pitchFamily="18" charset="0"/>
                <a:cs typeface="Arial" panose="020B0604020202020204" pitchFamily="34" charset="0"/>
              </a:defRPr>
            </a:lvl5pPr>
            <a:lvl6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6pPr>
            <a:lvl7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7pPr>
            <a:lvl8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8pPr>
            <a:lvl9pPr eaLnBrk="0" fontAlgn="base" hangingPunct="0">
              <a:spcBef>
                <a:spcPct val="20000"/>
              </a:spcBef>
              <a:spcAft>
                <a:spcPct val="0"/>
              </a:spcAft>
              <a:buClr>
                <a:schemeClr val="tx1"/>
              </a:buClr>
              <a:buSzPct val="100000"/>
              <a:buChar char="–"/>
              <a:defRPr>
                <a:solidFill>
                  <a:schemeClr val="tx1"/>
                </a:solidFill>
                <a:latin typeface="Times New Roman" panose="02020603050405020304" pitchFamily="18" charset="0"/>
                <a:cs typeface="Arial" panose="020B0604020202020204" pitchFamily="34" charset="0"/>
              </a:defRPr>
            </a:lvl9pPr>
          </a:lstStyle>
          <a:p>
            <a:pPr>
              <a:buFont typeface="Monotype Sorts" pitchFamily="2" charset="2"/>
              <a:buNone/>
            </a:pPr>
            <a:endParaRPr lang="en-US" altLang="en-US" sz="1300">
              <a:latin typeface="Arial Narrow" panose="020B0606020202030204" pitchFamily="34" charset="0"/>
            </a:endParaRPr>
          </a:p>
        </p:txBody>
      </p:sp>
      <p:sp>
        <p:nvSpPr>
          <p:cNvPr id="106" name="Line 67"/>
          <p:cNvSpPr>
            <a:spLocks noChangeShapeType="1"/>
          </p:cNvSpPr>
          <p:nvPr/>
        </p:nvSpPr>
        <p:spPr bwMode="auto">
          <a:xfrm>
            <a:off x="5991226" y="1665287"/>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 name="Line 68"/>
          <p:cNvSpPr>
            <a:spLocks noChangeShapeType="1"/>
          </p:cNvSpPr>
          <p:nvPr/>
        </p:nvSpPr>
        <p:spPr bwMode="auto">
          <a:xfrm>
            <a:off x="5991226" y="2051050"/>
            <a:ext cx="8763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 name="Line 69"/>
          <p:cNvSpPr>
            <a:spLocks noChangeShapeType="1"/>
          </p:cNvSpPr>
          <p:nvPr/>
        </p:nvSpPr>
        <p:spPr bwMode="auto">
          <a:xfrm>
            <a:off x="5991226" y="1665287"/>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 name="Line 70"/>
          <p:cNvSpPr>
            <a:spLocks noChangeShapeType="1"/>
          </p:cNvSpPr>
          <p:nvPr/>
        </p:nvSpPr>
        <p:spPr bwMode="auto">
          <a:xfrm>
            <a:off x="6430963" y="1665287"/>
            <a:ext cx="0"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 name="Line 71"/>
          <p:cNvSpPr>
            <a:spLocks noChangeShapeType="1"/>
          </p:cNvSpPr>
          <p:nvPr/>
        </p:nvSpPr>
        <p:spPr bwMode="auto">
          <a:xfrm>
            <a:off x="6867526" y="1665287"/>
            <a:ext cx="0" cy="38576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 name="Line 72"/>
          <p:cNvSpPr>
            <a:spLocks noChangeShapeType="1"/>
          </p:cNvSpPr>
          <p:nvPr/>
        </p:nvSpPr>
        <p:spPr bwMode="auto">
          <a:xfrm>
            <a:off x="6249988" y="1401762"/>
            <a:ext cx="0" cy="244475"/>
          </a:xfrm>
          <a:prstGeom prst="line">
            <a:avLst/>
          </a:prstGeom>
          <a:noFill/>
          <a:ln w="9525">
            <a:solidFill>
              <a:srgbClr val="99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 name="Line 74"/>
          <p:cNvSpPr>
            <a:spLocks noChangeShapeType="1"/>
          </p:cNvSpPr>
          <p:nvPr/>
        </p:nvSpPr>
        <p:spPr bwMode="auto">
          <a:xfrm>
            <a:off x="6634163" y="1858962"/>
            <a:ext cx="6048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6464159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idx="4294967295"/>
          </p:nvPr>
        </p:nvSpPr>
        <p:spPr/>
        <p:txBody>
          <a:bodyPr/>
          <a:lstStyle/>
          <a:p>
            <a:r>
              <a:rPr lang="en-US" altLang="en-US" smtClean="0"/>
              <a:t>Deletion from a Linear Linked list</a:t>
            </a:r>
          </a:p>
        </p:txBody>
      </p:sp>
      <p:sp>
        <p:nvSpPr>
          <p:cNvPr id="167939" name="Rectangle 3"/>
          <p:cNvSpPr>
            <a:spLocks noGrp="1" noChangeArrowheads="1"/>
          </p:cNvSpPr>
          <p:nvPr>
            <p:ph type="body" sz="half" idx="4294967295"/>
          </p:nvPr>
        </p:nvSpPr>
        <p:spPr>
          <a:xfrm>
            <a:off x="758825" y="1052513"/>
            <a:ext cx="7191375" cy="1443037"/>
          </a:xfrm>
        </p:spPr>
        <p:txBody>
          <a:bodyPr>
            <a:normAutofit lnSpcReduction="10000"/>
          </a:bodyPr>
          <a:lstStyle/>
          <a:p>
            <a:r>
              <a:rPr lang="en-US" altLang="en-US" sz="2200" smtClean="0"/>
              <a:t>Deletion can be done</a:t>
            </a:r>
          </a:p>
          <a:p>
            <a:pPr lvl="1"/>
            <a:r>
              <a:rPr lang="en-US" altLang="en-US" sz="2000" smtClean="0"/>
              <a:t>At the first node of linked list.</a:t>
            </a:r>
          </a:p>
          <a:p>
            <a:pPr lvl="1"/>
            <a:r>
              <a:rPr lang="en-US" altLang="en-US" sz="2000" smtClean="0"/>
              <a:t>At the end of a linked list.</a:t>
            </a:r>
          </a:p>
          <a:p>
            <a:pPr lvl="1"/>
            <a:r>
              <a:rPr lang="en-US" altLang="en-US" sz="2000" smtClean="0"/>
              <a:t>Within the linked list.</a:t>
            </a:r>
          </a:p>
        </p:txBody>
      </p:sp>
      <p:pic>
        <p:nvPicPr>
          <p:cNvPr id="167940" name="Picture 4" descr="deleteAny"/>
          <p:cNvPicPr>
            <a:picLocks noGrp="1" noChangeAspect="1" noChangeArrowheads="1" noCrop="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908050" y="2805113"/>
            <a:ext cx="7023100" cy="252888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521579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idx="4294967295"/>
          </p:nvPr>
        </p:nvSpPr>
        <p:spPr>
          <a:xfrm>
            <a:off x="457200" y="76200"/>
            <a:ext cx="8229600" cy="1143000"/>
          </a:xfrm>
        </p:spPr>
        <p:txBody>
          <a:bodyPr/>
          <a:lstStyle/>
          <a:p>
            <a:r>
              <a:rPr lang="en-US" altLang="en-US" dirty="0" smtClean="0"/>
              <a:t>Delete First</a:t>
            </a:r>
          </a:p>
        </p:txBody>
      </p:sp>
      <p:sp>
        <p:nvSpPr>
          <p:cNvPr id="169987" name="Rectangle 3"/>
          <p:cNvSpPr>
            <a:spLocks noGrp="1" noChangeArrowheads="1"/>
          </p:cNvSpPr>
          <p:nvPr>
            <p:ph type="body" sz="half" idx="4294967295"/>
          </p:nvPr>
        </p:nvSpPr>
        <p:spPr>
          <a:xfrm>
            <a:off x="350838" y="990600"/>
            <a:ext cx="8793162" cy="14446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ormAutofit lnSpcReduction="10000"/>
          </a:bodyPr>
          <a:lstStyle/>
          <a:p>
            <a:r>
              <a:rPr lang="en-US" altLang="en-US" sz="2200" dirty="0" smtClean="0">
                <a:solidFill>
                  <a:srgbClr val="0000CC"/>
                </a:solidFill>
              </a:rPr>
              <a:t>Step1</a:t>
            </a:r>
            <a:r>
              <a:rPr lang="en-US" altLang="en-US" sz="2200" dirty="0" smtClean="0"/>
              <a:t>. Initialize the pointer </a:t>
            </a:r>
            <a:r>
              <a:rPr lang="en-US" altLang="en-US" sz="2200" i="1" dirty="0" smtClean="0"/>
              <a:t>cur</a:t>
            </a:r>
            <a:r>
              <a:rPr lang="en-US" altLang="en-US" sz="2200" dirty="0" smtClean="0"/>
              <a:t> point to the first node of the list. </a:t>
            </a:r>
          </a:p>
          <a:p>
            <a:r>
              <a:rPr lang="en-US" altLang="en-US" sz="2200" dirty="0" smtClean="0">
                <a:solidFill>
                  <a:srgbClr val="0000CC"/>
                </a:solidFill>
              </a:rPr>
              <a:t>Step2</a:t>
            </a:r>
            <a:r>
              <a:rPr lang="en-US" altLang="en-US" sz="2200" dirty="0" smtClean="0"/>
              <a:t>. Move the pointer </a:t>
            </a:r>
            <a:r>
              <a:rPr lang="en-US" altLang="en-US" sz="2200" i="1" dirty="0" smtClean="0"/>
              <a:t>head</a:t>
            </a:r>
            <a:r>
              <a:rPr lang="en-US" altLang="en-US" sz="2200" dirty="0" smtClean="0"/>
              <a:t> to the second node of the list.</a:t>
            </a:r>
          </a:p>
          <a:p>
            <a:r>
              <a:rPr lang="en-US" altLang="en-US" sz="2200" dirty="0" smtClean="0">
                <a:solidFill>
                  <a:srgbClr val="0000CC"/>
                </a:solidFill>
              </a:rPr>
              <a:t>Step3</a:t>
            </a:r>
            <a:r>
              <a:rPr lang="en-US" altLang="en-US" sz="2200" dirty="0" smtClean="0"/>
              <a:t>. Release the memory of the node that is pointed by the pointer </a:t>
            </a:r>
            <a:r>
              <a:rPr lang="en-US" altLang="en-US" sz="2200" i="1" dirty="0" smtClean="0"/>
              <a:t>cur</a:t>
            </a:r>
            <a:r>
              <a:rPr lang="en-US" altLang="en-US" sz="2200" dirty="0" smtClean="0"/>
              <a:t>. </a:t>
            </a:r>
          </a:p>
        </p:txBody>
      </p:sp>
      <p:graphicFrame>
        <p:nvGraphicFramePr>
          <p:cNvPr id="169988" name="Object 4"/>
          <p:cNvGraphicFramePr>
            <a:graphicFrameLocks noGrp="1" noChangeAspect="1"/>
          </p:cNvGraphicFramePr>
          <p:nvPr>
            <p:ph sz="quarter" idx="4294967295"/>
          </p:nvPr>
        </p:nvGraphicFramePr>
        <p:xfrm>
          <a:off x="379413" y="2419350"/>
          <a:ext cx="4064000" cy="1673225"/>
        </p:xfrm>
        <a:graphic>
          <a:graphicData uri="http://schemas.openxmlformats.org/presentationml/2006/ole">
            <mc:AlternateContent xmlns:mc="http://schemas.openxmlformats.org/markup-compatibility/2006">
              <mc:Choice xmlns:v="urn:schemas-microsoft-com:vml" Requires="v">
                <p:oleObj spid="_x0000_s61481" name="Bitmap Image" r:id="rId3" imgW="3952381" imgH="1343212" progId="Paint.Picture">
                  <p:embed/>
                </p:oleObj>
              </mc:Choice>
              <mc:Fallback>
                <p:oleObj name="Bitmap Image" r:id="rId3" imgW="3952381" imgH="1343212" progId="Paint.Picture">
                  <p:embed/>
                  <p:pic>
                    <p:nvPicPr>
                      <p:cNvPr id="1699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413" y="2419350"/>
                        <a:ext cx="4064000"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9989" name="Object 5"/>
          <p:cNvGraphicFramePr>
            <a:graphicFrameLocks noGrp="1" noChangeAspect="1"/>
          </p:cNvGraphicFramePr>
          <p:nvPr>
            <p:ph sz="quarter" idx="4294967295"/>
          </p:nvPr>
        </p:nvGraphicFramePr>
        <p:xfrm>
          <a:off x="434975" y="4325938"/>
          <a:ext cx="3962400" cy="1716087"/>
        </p:xfrm>
        <a:graphic>
          <a:graphicData uri="http://schemas.openxmlformats.org/presentationml/2006/ole">
            <mc:AlternateContent xmlns:mc="http://schemas.openxmlformats.org/markup-compatibility/2006">
              <mc:Choice xmlns:v="urn:schemas-microsoft-com:vml" Requires="v">
                <p:oleObj spid="_x0000_s61482" name="Bitmap Image" r:id="rId5" imgW="3905795" imgH="1400000" progId="Paint.Picture">
                  <p:embed/>
                </p:oleObj>
              </mc:Choice>
              <mc:Fallback>
                <p:oleObj name="Bitmap Image" r:id="rId5" imgW="3905795" imgH="1400000" progId="Paint.Picture">
                  <p:embed/>
                  <p:pic>
                    <p:nvPicPr>
                      <p:cNvPr id="16998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975" y="4325938"/>
                        <a:ext cx="3962400" cy="1716087"/>
                      </a:xfrm>
                      <a:prstGeom prst="rect">
                        <a:avLst/>
                      </a:prstGeom>
                      <a:noFill/>
                      <a:ln>
                        <a:noFill/>
                      </a:ln>
                      <a:effectLst/>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9990" name="Object 6"/>
          <p:cNvGraphicFramePr>
            <a:graphicFrameLocks noChangeAspect="1"/>
          </p:cNvGraphicFramePr>
          <p:nvPr/>
        </p:nvGraphicFramePr>
        <p:xfrm>
          <a:off x="4803775" y="4357688"/>
          <a:ext cx="3979863" cy="1700212"/>
        </p:xfrm>
        <a:graphic>
          <a:graphicData uri="http://schemas.openxmlformats.org/presentationml/2006/ole">
            <mc:AlternateContent xmlns:mc="http://schemas.openxmlformats.org/markup-compatibility/2006">
              <mc:Choice xmlns:v="urn:schemas-microsoft-com:vml" Requires="v">
                <p:oleObj spid="_x0000_s61483" name="Bitmap Image" r:id="rId7" imgW="3914286" imgH="1267002" progId="Paint.Picture">
                  <p:embed/>
                </p:oleObj>
              </mc:Choice>
              <mc:Fallback>
                <p:oleObj name="Bitmap Image" r:id="rId7" imgW="3914286" imgH="1267002" progId="Paint.Picture">
                  <p:embed/>
                  <p:pic>
                    <p:nvPicPr>
                      <p:cNvPr id="16999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3775" y="4357688"/>
                        <a:ext cx="3979863" cy="170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9991" name="Text Box 7"/>
          <p:cNvSpPr txBox="1">
            <a:spLocks noChangeArrowheads="1"/>
          </p:cNvSpPr>
          <p:nvPr/>
        </p:nvSpPr>
        <p:spPr bwMode="auto">
          <a:xfrm>
            <a:off x="4518025" y="2997200"/>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solidFill>
                  <a:srgbClr val="990000"/>
                </a:solidFill>
                <a:latin typeface="Helvetica" panose="020B0604020202020204" pitchFamily="34" charset="0"/>
              </a:rPr>
              <a:t>Step 1</a:t>
            </a:r>
          </a:p>
        </p:txBody>
      </p:sp>
      <p:sp>
        <p:nvSpPr>
          <p:cNvPr id="169992" name="Text Box 8"/>
          <p:cNvSpPr txBox="1">
            <a:spLocks noChangeArrowheads="1"/>
          </p:cNvSpPr>
          <p:nvPr/>
        </p:nvSpPr>
        <p:spPr bwMode="auto">
          <a:xfrm>
            <a:off x="1822450" y="6118225"/>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solidFill>
                  <a:srgbClr val="990000"/>
                </a:solidFill>
                <a:latin typeface="Helvetica" panose="020B0604020202020204" pitchFamily="34" charset="0"/>
              </a:rPr>
              <a:t>Step 2</a:t>
            </a:r>
          </a:p>
        </p:txBody>
      </p:sp>
      <p:sp>
        <p:nvSpPr>
          <p:cNvPr id="169993" name="Text Box 9"/>
          <p:cNvSpPr txBox="1">
            <a:spLocks noChangeArrowheads="1"/>
          </p:cNvSpPr>
          <p:nvPr/>
        </p:nvSpPr>
        <p:spPr bwMode="auto">
          <a:xfrm>
            <a:off x="6194425" y="6086475"/>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solidFill>
                  <a:srgbClr val="990000"/>
                </a:solidFill>
                <a:latin typeface="Helvetica" panose="020B0604020202020204" pitchFamily="34" charset="0"/>
              </a:rPr>
              <a:t>Step 3</a:t>
            </a:r>
          </a:p>
        </p:txBody>
      </p:sp>
    </p:spTree>
    <p:extLst>
      <p:ext uri="{BB962C8B-B14F-4D97-AF65-F5344CB8AC3E}">
        <p14:creationId xmlns:p14="http://schemas.microsoft.com/office/powerpoint/2010/main" val="13194887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idx="4294967295"/>
          </p:nvPr>
        </p:nvSpPr>
        <p:spPr/>
        <p:txBody>
          <a:bodyPr/>
          <a:lstStyle/>
          <a:p>
            <a:r>
              <a:rPr lang="en-US" altLang="en-US" smtClean="0"/>
              <a:t>Delete Last</a:t>
            </a:r>
          </a:p>
        </p:txBody>
      </p:sp>
      <p:pic>
        <p:nvPicPr>
          <p:cNvPr id="172035" name="Picture 3" descr="deletelas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3151188"/>
            <a:ext cx="6915150" cy="2417762"/>
          </a:xfrm>
          <a:prstGeom prst="rect">
            <a:avLst/>
          </a:prstGeom>
          <a:noFill/>
          <a:extLst>
            <a:ext uri="{909E8E84-426E-40DD-AFC4-6F175D3DCCD1}">
              <a14:hiddenFill xmlns:a14="http://schemas.microsoft.com/office/drawing/2010/main">
                <a:solidFill>
                  <a:srgbClr val="FFFFFF"/>
                </a:solidFill>
              </a14:hiddenFill>
            </a:ext>
          </a:extLst>
        </p:spPr>
      </p:pic>
      <p:sp>
        <p:nvSpPr>
          <p:cNvPr id="172037" name="Rectangle 5"/>
          <p:cNvSpPr>
            <a:spLocks noGrp="1" noChangeArrowheads="1"/>
          </p:cNvSpPr>
          <p:nvPr>
            <p:ph type="body" idx="4294967295"/>
          </p:nvPr>
        </p:nvSpPr>
        <p:spPr>
          <a:xfrm>
            <a:off x="442913" y="1217613"/>
            <a:ext cx="8161337" cy="1203325"/>
          </a:xfrm>
          <a:noFill/>
        </p:spPr>
        <p:txBody>
          <a:bodyPr/>
          <a:lstStyle/>
          <a:p>
            <a:r>
              <a:rPr lang="en-US" altLang="en-US" sz="2400" dirty="0" smtClean="0"/>
              <a:t>To </a:t>
            </a:r>
            <a:r>
              <a:rPr lang="en-US" altLang="en-US" sz="2400" b="1" dirty="0" smtClean="0"/>
              <a:t>delete</a:t>
            </a:r>
            <a:r>
              <a:rPr lang="en-US" altLang="en-US" sz="2400" dirty="0" smtClean="0"/>
              <a:t> the last node in a linked list, we use a local variable, </a:t>
            </a:r>
            <a:r>
              <a:rPr lang="en-US" altLang="en-US" sz="2400" i="1" dirty="0" smtClean="0"/>
              <a:t>cur</a:t>
            </a:r>
            <a:r>
              <a:rPr lang="en-US" altLang="en-US" sz="2400" dirty="0" smtClean="0"/>
              <a:t>, to point to the last node. We also use another variable, </a:t>
            </a:r>
            <a:r>
              <a:rPr lang="en-US" altLang="en-US" sz="2400" i="1" dirty="0" err="1" smtClean="0"/>
              <a:t>prev</a:t>
            </a:r>
            <a:r>
              <a:rPr lang="en-US" altLang="en-US" sz="2400" dirty="0" smtClean="0"/>
              <a:t>, to point to the second last node in the linked list.</a:t>
            </a:r>
          </a:p>
        </p:txBody>
      </p:sp>
    </p:spTree>
    <p:extLst>
      <p:ext uri="{BB962C8B-B14F-4D97-AF65-F5344CB8AC3E}">
        <p14:creationId xmlns:p14="http://schemas.microsoft.com/office/powerpoint/2010/main" val="32374220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idx="4294967295"/>
          </p:nvPr>
        </p:nvSpPr>
        <p:spPr/>
        <p:txBody>
          <a:bodyPr>
            <a:normAutofit fontScale="90000"/>
          </a:bodyPr>
          <a:lstStyle/>
          <a:p>
            <a:r>
              <a:rPr lang="en-US" altLang="en-US" dirty="0" smtClean="0"/>
              <a:t>Delete Last</a:t>
            </a:r>
            <a:br>
              <a:rPr lang="en-US" altLang="en-US" dirty="0" smtClean="0"/>
            </a:br>
            <a:endParaRPr lang="en-US" altLang="en-US" dirty="0" smtClean="0"/>
          </a:p>
        </p:txBody>
      </p:sp>
      <p:sp>
        <p:nvSpPr>
          <p:cNvPr id="173059" name="Rectangle 3"/>
          <p:cNvSpPr>
            <a:spLocks noGrp="1" noChangeArrowheads="1"/>
          </p:cNvSpPr>
          <p:nvPr>
            <p:ph type="body" sz="half" idx="4294967295"/>
          </p:nvPr>
        </p:nvSpPr>
        <p:spPr>
          <a:xfrm>
            <a:off x="325438" y="1025525"/>
            <a:ext cx="8467725" cy="1998663"/>
          </a:xfrm>
        </p:spPr>
        <p:txBody>
          <a:bodyPr>
            <a:normAutofit lnSpcReduction="10000"/>
          </a:bodyPr>
          <a:lstStyle/>
          <a:p>
            <a:r>
              <a:rPr lang="en-US" altLang="en-US" sz="2000" dirty="0" smtClean="0">
                <a:solidFill>
                  <a:srgbClr val="0000CC"/>
                </a:solidFill>
              </a:rPr>
              <a:t>Step1</a:t>
            </a:r>
            <a:r>
              <a:rPr lang="en-US" altLang="en-US" sz="2000" dirty="0" smtClean="0"/>
              <a:t>. Initialize pointer </a:t>
            </a:r>
            <a:r>
              <a:rPr lang="en-US" altLang="en-US" sz="2000" i="1" dirty="0" smtClean="0"/>
              <a:t>cur</a:t>
            </a:r>
            <a:r>
              <a:rPr lang="en-US" altLang="en-US" sz="2000" dirty="0" smtClean="0"/>
              <a:t> to point to the first node of the list, while the pointer </a:t>
            </a:r>
            <a:r>
              <a:rPr lang="en-US" altLang="en-US" sz="2000" i="1" dirty="0" err="1" smtClean="0"/>
              <a:t>prev</a:t>
            </a:r>
            <a:r>
              <a:rPr lang="en-US" altLang="en-US" sz="2000" dirty="0" smtClean="0"/>
              <a:t> has a value of null. </a:t>
            </a:r>
          </a:p>
          <a:p>
            <a:r>
              <a:rPr lang="en-US" altLang="en-US" sz="2000" dirty="0" smtClean="0">
                <a:solidFill>
                  <a:srgbClr val="0000CC"/>
                </a:solidFill>
              </a:rPr>
              <a:t>Step2</a:t>
            </a:r>
            <a:r>
              <a:rPr lang="en-US" altLang="en-US" sz="2000" dirty="0" smtClean="0"/>
              <a:t>. Traverse the entire list until the pointer </a:t>
            </a:r>
            <a:r>
              <a:rPr lang="en-US" altLang="en-US" sz="2000" i="1" dirty="0" smtClean="0"/>
              <a:t>cur</a:t>
            </a:r>
            <a:r>
              <a:rPr lang="en-US" altLang="en-US" sz="2000" dirty="0" smtClean="0"/>
              <a:t> points to the last node of the list: assign cur to </a:t>
            </a:r>
            <a:r>
              <a:rPr lang="en-US" altLang="en-US" sz="2000" dirty="0" err="1" smtClean="0"/>
              <a:t>prev</a:t>
            </a:r>
            <a:r>
              <a:rPr lang="en-US" altLang="en-US" sz="2000" dirty="0" smtClean="0"/>
              <a:t> and then advance cur </a:t>
            </a:r>
          </a:p>
          <a:p>
            <a:r>
              <a:rPr lang="en-US" altLang="en-US" sz="2000" dirty="0" smtClean="0">
                <a:solidFill>
                  <a:srgbClr val="0000CC"/>
                </a:solidFill>
              </a:rPr>
              <a:t>Step3</a:t>
            </a:r>
            <a:r>
              <a:rPr lang="en-US" altLang="en-US" sz="2000" dirty="0" smtClean="0"/>
              <a:t>. Set NULL to </a:t>
            </a:r>
            <a:r>
              <a:rPr lang="en-US" altLang="en-US" sz="2000" i="1" dirty="0" smtClean="0"/>
              <a:t>next</a:t>
            </a:r>
            <a:r>
              <a:rPr lang="en-US" altLang="en-US" sz="2000" dirty="0" smtClean="0"/>
              <a:t> field of the node pointed by the pointer </a:t>
            </a:r>
            <a:r>
              <a:rPr lang="en-US" altLang="en-US" sz="2000" i="1" dirty="0" smtClean="0"/>
              <a:t>prev</a:t>
            </a:r>
            <a:r>
              <a:rPr lang="en-US" altLang="en-US" sz="2000" dirty="0" smtClean="0"/>
              <a:t>. </a:t>
            </a:r>
          </a:p>
          <a:p>
            <a:r>
              <a:rPr lang="en-US" altLang="en-US" sz="2000" dirty="0" smtClean="0">
                <a:solidFill>
                  <a:srgbClr val="0000CC"/>
                </a:solidFill>
              </a:rPr>
              <a:t>Step4</a:t>
            </a:r>
            <a:r>
              <a:rPr lang="en-US" altLang="en-US" sz="2000" dirty="0" smtClean="0"/>
              <a:t>. Release the memory of the node that is pointed by the pointer </a:t>
            </a:r>
            <a:r>
              <a:rPr lang="en-US" altLang="en-US" sz="2000" i="1" dirty="0" smtClean="0"/>
              <a:t>cur</a:t>
            </a:r>
            <a:r>
              <a:rPr lang="en-US" altLang="en-US" sz="2000" dirty="0" smtClean="0"/>
              <a:t>. </a:t>
            </a:r>
          </a:p>
          <a:p>
            <a:endParaRPr lang="en-US" altLang="en-US" sz="2000" dirty="0" smtClean="0"/>
          </a:p>
        </p:txBody>
      </p:sp>
      <p:graphicFrame>
        <p:nvGraphicFramePr>
          <p:cNvPr id="173060" name="Object 4"/>
          <p:cNvGraphicFramePr>
            <a:graphicFrameLocks noGrp="1" noChangeAspect="1"/>
          </p:cNvGraphicFramePr>
          <p:nvPr>
            <p:ph sz="quarter" idx="4294967295"/>
          </p:nvPr>
        </p:nvGraphicFramePr>
        <p:xfrm>
          <a:off x="906463" y="3192463"/>
          <a:ext cx="3557587" cy="1271587"/>
        </p:xfrm>
        <a:graphic>
          <a:graphicData uri="http://schemas.openxmlformats.org/presentationml/2006/ole">
            <mc:AlternateContent xmlns:mc="http://schemas.openxmlformats.org/markup-compatibility/2006">
              <mc:Choice xmlns:v="urn:schemas-microsoft-com:vml" Requires="v">
                <p:oleObj spid="_x0000_s62518" name="Bitmap Image" r:id="rId3" imgW="3524742" imgH="1352381" progId="Paint.Picture">
                  <p:embed/>
                </p:oleObj>
              </mc:Choice>
              <mc:Fallback>
                <p:oleObj name="Bitmap Image" r:id="rId3" imgW="3524742" imgH="1352381" progId="Paint.Picture">
                  <p:embed/>
                  <p:pic>
                    <p:nvPicPr>
                      <p:cNvPr id="1730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463" y="3192463"/>
                        <a:ext cx="3557587" cy="127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61" name="Text Box 5"/>
          <p:cNvSpPr txBox="1">
            <a:spLocks noChangeArrowheads="1"/>
          </p:cNvSpPr>
          <p:nvPr/>
        </p:nvSpPr>
        <p:spPr bwMode="auto">
          <a:xfrm>
            <a:off x="2141538" y="4362450"/>
            <a:ext cx="8175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Step1</a:t>
            </a:r>
          </a:p>
        </p:txBody>
      </p:sp>
      <p:sp>
        <p:nvSpPr>
          <p:cNvPr id="173062" name="Text Box 6"/>
          <p:cNvSpPr txBox="1">
            <a:spLocks noChangeArrowheads="1"/>
          </p:cNvSpPr>
          <p:nvPr/>
        </p:nvSpPr>
        <p:spPr bwMode="auto">
          <a:xfrm>
            <a:off x="2141538" y="6221413"/>
            <a:ext cx="8175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Step3</a:t>
            </a:r>
          </a:p>
        </p:txBody>
      </p:sp>
      <p:sp>
        <p:nvSpPr>
          <p:cNvPr id="173063" name="Text Box 7"/>
          <p:cNvSpPr txBox="1">
            <a:spLocks noChangeArrowheads="1"/>
          </p:cNvSpPr>
          <p:nvPr/>
        </p:nvSpPr>
        <p:spPr bwMode="auto">
          <a:xfrm>
            <a:off x="6675438" y="4416425"/>
            <a:ext cx="8175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Step2</a:t>
            </a:r>
          </a:p>
        </p:txBody>
      </p:sp>
      <p:sp>
        <p:nvSpPr>
          <p:cNvPr id="173064" name="Text Box 8"/>
          <p:cNvSpPr txBox="1">
            <a:spLocks noChangeArrowheads="1"/>
          </p:cNvSpPr>
          <p:nvPr/>
        </p:nvSpPr>
        <p:spPr bwMode="auto">
          <a:xfrm>
            <a:off x="6745288" y="6230938"/>
            <a:ext cx="8175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800">
                <a:latin typeface="Helvetica" panose="020B0604020202020204" pitchFamily="34" charset="0"/>
              </a:rPr>
              <a:t>Step4</a:t>
            </a:r>
          </a:p>
        </p:txBody>
      </p:sp>
      <p:graphicFrame>
        <p:nvGraphicFramePr>
          <p:cNvPr id="173065" name="Object 9"/>
          <p:cNvGraphicFramePr>
            <a:graphicFrameLocks noGrp="1" noChangeAspect="1"/>
          </p:cNvGraphicFramePr>
          <p:nvPr>
            <p:ph sz="quarter" idx="4294967295"/>
          </p:nvPr>
        </p:nvGraphicFramePr>
        <p:xfrm>
          <a:off x="5145088" y="3198813"/>
          <a:ext cx="3606800" cy="1285875"/>
        </p:xfrm>
        <a:graphic>
          <a:graphicData uri="http://schemas.openxmlformats.org/presentationml/2006/ole">
            <mc:AlternateContent xmlns:mc="http://schemas.openxmlformats.org/markup-compatibility/2006">
              <mc:Choice xmlns:v="urn:schemas-microsoft-com:vml" Requires="v">
                <p:oleObj spid="_x0000_s62519" name="Bitmap Image" r:id="rId5" imgW="3761905" imgH="1038370" progId="Paint.Picture">
                  <p:embed/>
                </p:oleObj>
              </mc:Choice>
              <mc:Fallback>
                <p:oleObj name="Bitmap Image" r:id="rId5" imgW="3761905" imgH="1038370" progId="Paint.Picture">
                  <p:embed/>
                  <p:pic>
                    <p:nvPicPr>
                      <p:cNvPr id="17306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5088" y="3198813"/>
                        <a:ext cx="360680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066" name="Object 10"/>
          <p:cNvGraphicFramePr>
            <a:graphicFrameLocks noChangeAspect="1"/>
          </p:cNvGraphicFramePr>
          <p:nvPr/>
        </p:nvGraphicFramePr>
        <p:xfrm>
          <a:off x="842963" y="5008563"/>
          <a:ext cx="3656012" cy="1255712"/>
        </p:xfrm>
        <a:graphic>
          <a:graphicData uri="http://schemas.openxmlformats.org/presentationml/2006/ole">
            <mc:AlternateContent xmlns:mc="http://schemas.openxmlformats.org/markup-compatibility/2006">
              <mc:Choice xmlns:v="urn:schemas-microsoft-com:vml" Requires="v">
                <p:oleObj spid="_x0000_s62520" name="Bitmap Image" r:id="rId7" imgW="3801006" imgH="942857" progId="Paint.Picture">
                  <p:embed/>
                </p:oleObj>
              </mc:Choice>
              <mc:Fallback>
                <p:oleObj name="Bitmap Image" r:id="rId7" imgW="3801006" imgH="942857" progId="Paint.Picture">
                  <p:embed/>
                  <p:pic>
                    <p:nvPicPr>
                      <p:cNvPr id="17306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2963" y="5008563"/>
                        <a:ext cx="3656012" cy="1255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067" name="Object 11"/>
          <p:cNvGraphicFramePr>
            <a:graphicFrameLocks noChangeAspect="1"/>
          </p:cNvGraphicFramePr>
          <p:nvPr/>
        </p:nvGraphicFramePr>
        <p:xfrm>
          <a:off x="5202238" y="5041900"/>
          <a:ext cx="3581400" cy="1211263"/>
        </p:xfrm>
        <a:graphic>
          <a:graphicData uri="http://schemas.openxmlformats.org/presentationml/2006/ole">
            <mc:AlternateContent xmlns:mc="http://schemas.openxmlformats.org/markup-compatibility/2006">
              <mc:Choice xmlns:v="urn:schemas-microsoft-com:vml" Requires="v">
                <p:oleObj spid="_x0000_s62521" name="Bitmap Image" r:id="rId9" imgW="3580952" imgH="971686" progId="Paint.Picture">
                  <p:embed/>
                </p:oleObj>
              </mc:Choice>
              <mc:Fallback>
                <p:oleObj name="Bitmap Image" r:id="rId9" imgW="3580952" imgH="971686" progId="Paint.Picture">
                  <p:embed/>
                  <p:pic>
                    <p:nvPicPr>
                      <p:cNvPr id="173067"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02238" y="5041900"/>
                        <a:ext cx="3581400" cy="121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410500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idx="4294967295"/>
          </p:nvPr>
        </p:nvSpPr>
        <p:spPr/>
        <p:txBody>
          <a:bodyPr/>
          <a:lstStyle/>
          <a:p>
            <a:r>
              <a:rPr lang="en-US" altLang="en-US" smtClean="0"/>
              <a:t>Delete Any</a:t>
            </a:r>
          </a:p>
        </p:txBody>
      </p:sp>
      <p:pic>
        <p:nvPicPr>
          <p:cNvPr id="175107" name="Picture 3" descr="deleteAny"/>
          <p:cNvPicPr>
            <a:picLocks noGrp="1" noChangeAspect="1" noChangeArrowheads="1" noCrop="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673100" y="2560638"/>
            <a:ext cx="7778750" cy="33305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5109" name="Rectangle 5"/>
          <p:cNvSpPr>
            <a:spLocks noChangeArrowheads="1"/>
          </p:cNvSpPr>
          <p:nvPr/>
        </p:nvSpPr>
        <p:spPr bwMode="auto">
          <a:xfrm>
            <a:off x="525463" y="1125538"/>
            <a:ext cx="8161337"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gn="l" eaLnBrk="0" hangingPunct="0">
              <a:spcBef>
                <a:spcPct val="20000"/>
              </a:spcBef>
              <a:buClr>
                <a:schemeClr val="accent1"/>
              </a:buClr>
              <a:buSzPct val="75000"/>
              <a:buFont typeface="Monotype Sorts" pitchFamily="2" charset="2"/>
              <a:buChar char="l"/>
              <a:defRPr sz="2600">
                <a:solidFill>
                  <a:schemeClr val="tx1"/>
                </a:solidFill>
                <a:latin typeface="Times New Roman" panose="02020603050405020304" pitchFamily="18" charset="0"/>
                <a:cs typeface="Arial" panose="020B0604020202020204" pitchFamily="34" charset="0"/>
              </a:defRPr>
            </a:lvl1pPr>
            <a:lvl2pPr marL="742950" indent="-285750" algn="l" eaLnBrk="0" hangingPunct="0">
              <a:spcBef>
                <a:spcPct val="20000"/>
              </a:spcBef>
              <a:buClr>
                <a:schemeClr val="tx2"/>
              </a:buClr>
              <a:buSzPct val="65000"/>
              <a:buFont typeface="Monotype Sorts" pitchFamily="2" charset="2"/>
              <a:buChar char="n"/>
              <a:defRPr sz="2400">
                <a:solidFill>
                  <a:schemeClr val="tx1"/>
                </a:solidFill>
                <a:latin typeface="Times New Roman" panose="02020603050405020304" pitchFamily="18" charset="0"/>
                <a:cs typeface="Arial" panose="020B0604020202020204" pitchFamily="34" charset="0"/>
              </a:defRPr>
            </a:lvl2pPr>
            <a:lvl3pPr marL="1143000" indent="-228600" algn="l" eaLnBrk="0" hangingPunct="0">
              <a:spcBef>
                <a:spcPct val="20000"/>
              </a:spcBef>
              <a:buClr>
                <a:schemeClr val="accent1"/>
              </a:buClr>
              <a:buSzPct val="65000"/>
              <a:buFont typeface="Monotype Sorts" pitchFamily="2" charset="2"/>
              <a:buChar char="u"/>
              <a:defRPr sz="2200">
                <a:solidFill>
                  <a:schemeClr val="tx1"/>
                </a:solidFill>
                <a:latin typeface="Times New Roman" panose="02020603050405020304" pitchFamily="18" charset="0"/>
                <a:cs typeface="Arial" panose="020B0604020202020204" pitchFamily="34" charset="0"/>
              </a:defRPr>
            </a:lvl3pPr>
            <a:lvl4pPr marL="1600200" indent="-228600" algn="l" eaLnBrk="0" hangingPunct="0">
              <a:spcBef>
                <a:spcPct val="20000"/>
              </a:spcBef>
              <a:buClr>
                <a:schemeClr val="accent1"/>
              </a:buClr>
              <a:buSzPct val="65000"/>
              <a:buFont typeface="Monotype Sorts" pitchFamily="2" charset="2"/>
              <a:buChar char="]"/>
              <a:defRPr sz="2000">
                <a:solidFill>
                  <a:schemeClr val="tx1"/>
                </a:solidFill>
                <a:latin typeface="Times New Roman" panose="02020603050405020304" pitchFamily="18" charset="0"/>
                <a:cs typeface="Arial" panose="020B0604020202020204" pitchFamily="34" charset="0"/>
              </a:defRPr>
            </a:lvl4pPr>
            <a:lvl5pPr marL="2057400" indent="-228600" algn="l" eaLnBrk="0" hangingPunct="0">
              <a:spcBef>
                <a:spcPct val="20000"/>
              </a:spcBef>
              <a:buClr>
                <a:schemeClr val="tx1"/>
              </a:buClr>
              <a:buSzPct val="100000"/>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cs typeface="Arial" panose="020B0604020202020204" pitchFamily="34" charset="0"/>
              </a:defRPr>
            </a:lvl9pPr>
          </a:lstStyle>
          <a:p>
            <a:r>
              <a:rPr lang="en-US" altLang="en-US" sz="2400"/>
              <a:t>To </a:t>
            </a:r>
            <a:r>
              <a:rPr lang="en-US" altLang="en-US" sz="2400" b="1"/>
              <a:t>delete</a:t>
            </a:r>
            <a:r>
              <a:rPr lang="en-US" altLang="en-US" sz="2400"/>
              <a:t> a node that contains a particular value </a:t>
            </a:r>
            <a:r>
              <a:rPr lang="en-US" altLang="en-US" sz="2400" i="1"/>
              <a:t>x</a:t>
            </a:r>
            <a:r>
              <a:rPr lang="en-US" altLang="en-US" sz="2400"/>
              <a:t> in a linked list, we use a local variable, </a:t>
            </a:r>
            <a:r>
              <a:rPr lang="en-US" altLang="en-US" sz="2400" i="1"/>
              <a:t>cur</a:t>
            </a:r>
            <a:r>
              <a:rPr lang="en-US" altLang="en-US" sz="2400"/>
              <a:t>, to point to this node, and another variable, </a:t>
            </a:r>
            <a:r>
              <a:rPr lang="en-US" altLang="en-US" sz="2400" i="1"/>
              <a:t>prev</a:t>
            </a:r>
            <a:r>
              <a:rPr lang="en-US" altLang="en-US" sz="2400"/>
              <a:t>, to hold the previous node.</a:t>
            </a:r>
          </a:p>
        </p:txBody>
      </p:sp>
    </p:spTree>
    <p:extLst>
      <p:ext uri="{BB962C8B-B14F-4D97-AF65-F5344CB8AC3E}">
        <p14:creationId xmlns:p14="http://schemas.microsoft.com/office/powerpoint/2010/main" val="18001318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idx="4294967295"/>
          </p:nvPr>
        </p:nvSpPr>
        <p:spPr/>
        <p:txBody>
          <a:bodyPr/>
          <a:lstStyle/>
          <a:p>
            <a:r>
              <a:rPr lang="en-US" altLang="en-US" dirty="0" smtClean="0"/>
              <a:t>Delete Any</a:t>
            </a:r>
          </a:p>
        </p:txBody>
      </p:sp>
      <p:sp>
        <p:nvSpPr>
          <p:cNvPr id="176131" name="Rectangle 3"/>
          <p:cNvSpPr>
            <a:spLocks noGrp="1" noChangeArrowheads="1"/>
          </p:cNvSpPr>
          <p:nvPr>
            <p:ph type="body" sz="half" idx="4294967295"/>
          </p:nvPr>
        </p:nvSpPr>
        <p:spPr>
          <a:xfrm>
            <a:off x="350838" y="1098550"/>
            <a:ext cx="8793162" cy="2178050"/>
          </a:xfrm>
        </p:spPr>
        <p:txBody>
          <a:bodyPr>
            <a:normAutofit fontScale="92500" lnSpcReduction="10000"/>
          </a:bodyPr>
          <a:lstStyle/>
          <a:p>
            <a:r>
              <a:rPr lang="en-US" altLang="en-US" sz="2200" dirty="0" smtClean="0">
                <a:solidFill>
                  <a:srgbClr val="0000CC"/>
                </a:solidFill>
              </a:rPr>
              <a:t>Step1</a:t>
            </a:r>
            <a:r>
              <a:rPr lang="en-US" altLang="en-US" sz="2200" dirty="0" smtClean="0"/>
              <a:t>. Initialize pointer </a:t>
            </a:r>
            <a:r>
              <a:rPr lang="en-US" altLang="en-US" sz="2200" i="1" dirty="0" smtClean="0"/>
              <a:t>cur</a:t>
            </a:r>
            <a:r>
              <a:rPr lang="en-US" altLang="en-US" sz="2200" dirty="0" smtClean="0"/>
              <a:t>  to point to the first node of the list, while the pointer </a:t>
            </a:r>
            <a:r>
              <a:rPr lang="en-US" altLang="en-US" sz="2200" i="1" dirty="0" err="1" smtClean="0"/>
              <a:t>prev</a:t>
            </a:r>
            <a:r>
              <a:rPr lang="en-US" altLang="en-US" sz="2200" dirty="0" smtClean="0"/>
              <a:t> has a value of null. </a:t>
            </a:r>
          </a:p>
          <a:p>
            <a:r>
              <a:rPr lang="en-US" altLang="en-US" sz="2200" dirty="0" smtClean="0">
                <a:solidFill>
                  <a:srgbClr val="0000CC"/>
                </a:solidFill>
              </a:rPr>
              <a:t>Step2</a:t>
            </a:r>
            <a:r>
              <a:rPr lang="en-US" altLang="en-US" sz="2200" dirty="0" smtClean="0"/>
              <a:t>. Traverse the entire list until the pointer </a:t>
            </a:r>
            <a:r>
              <a:rPr lang="en-US" altLang="en-US" sz="2200" i="1" dirty="0" smtClean="0"/>
              <a:t>cur</a:t>
            </a:r>
            <a:r>
              <a:rPr lang="en-US" altLang="en-US" sz="2200" dirty="0" smtClean="0"/>
              <a:t>  points to the node that contains value of </a:t>
            </a:r>
            <a:r>
              <a:rPr lang="en-US" altLang="en-US" i="1" dirty="0" smtClean="0"/>
              <a:t>x</a:t>
            </a:r>
            <a:r>
              <a:rPr lang="en-US" altLang="en-US" sz="2200" dirty="0" smtClean="0"/>
              <a:t>, and </a:t>
            </a:r>
            <a:r>
              <a:rPr lang="en-US" altLang="en-US" sz="2200" i="1" dirty="0" err="1" smtClean="0"/>
              <a:t>prev</a:t>
            </a:r>
            <a:r>
              <a:rPr lang="en-US" altLang="en-US" sz="2200" dirty="0" smtClean="0"/>
              <a:t> points to the previous node: </a:t>
            </a:r>
            <a:r>
              <a:rPr lang="en-US" altLang="en-US" sz="2400" dirty="0"/>
              <a:t>assign cur to </a:t>
            </a:r>
            <a:r>
              <a:rPr lang="en-US" altLang="en-US" sz="2400" dirty="0" err="1"/>
              <a:t>prev</a:t>
            </a:r>
            <a:r>
              <a:rPr lang="en-US" altLang="en-US" sz="2400" dirty="0"/>
              <a:t> and then advance cur </a:t>
            </a:r>
            <a:endParaRPr lang="en-US" altLang="en-US" sz="2200" dirty="0" smtClean="0"/>
          </a:p>
          <a:p>
            <a:r>
              <a:rPr lang="en-US" altLang="en-US" sz="2200" dirty="0" smtClean="0">
                <a:solidFill>
                  <a:srgbClr val="000099"/>
                </a:solidFill>
              </a:rPr>
              <a:t>……..</a:t>
            </a:r>
          </a:p>
        </p:txBody>
      </p:sp>
      <p:graphicFrame>
        <p:nvGraphicFramePr>
          <p:cNvPr id="176132" name="Object 4"/>
          <p:cNvGraphicFramePr>
            <a:graphicFrameLocks noGrp="1" noChangeAspect="1"/>
          </p:cNvGraphicFramePr>
          <p:nvPr>
            <p:ph sz="quarter" idx="4294967295"/>
          </p:nvPr>
        </p:nvGraphicFramePr>
        <p:xfrm>
          <a:off x="1498600" y="4437063"/>
          <a:ext cx="4513263" cy="1528762"/>
        </p:xfrm>
        <a:graphic>
          <a:graphicData uri="http://schemas.openxmlformats.org/presentationml/2006/ole">
            <mc:AlternateContent xmlns:mc="http://schemas.openxmlformats.org/markup-compatibility/2006">
              <mc:Choice xmlns:v="urn:schemas-microsoft-com:vml" Requires="v">
                <p:oleObj spid="_x0000_s63516" name="Bitmap Image" r:id="rId3" imgW="5504762" imgH="905001" progId="Paint.Picture">
                  <p:embed/>
                </p:oleObj>
              </mc:Choice>
              <mc:Fallback>
                <p:oleObj name="Bitmap Image" r:id="rId3" imgW="5504762" imgH="905001" progId="Paint.Picture">
                  <p:embed/>
                  <p:pic>
                    <p:nvPicPr>
                      <p:cNvPr id="17613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8600" y="4437063"/>
                        <a:ext cx="4513263"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33" name="Text Box 5"/>
          <p:cNvSpPr txBox="1">
            <a:spLocks noChangeArrowheads="1"/>
          </p:cNvSpPr>
          <p:nvPr/>
        </p:nvSpPr>
        <p:spPr bwMode="auto">
          <a:xfrm>
            <a:off x="6464300" y="3622675"/>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latin typeface="Helvetica" panose="020B0604020202020204" pitchFamily="34" charset="0"/>
              </a:rPr>
              <a:t>Step 1</a:t>
            </a:r>
          </a:p>
        </p:txBody>
      </p:sp>
      <p:sp>
        <p:nvSpPr>
          <p:cNvPr id="176134" name="Text Box 6"/>
          <p:cNvSpPr txBox="1">
            <a:spLocks noChangeArrowheads="1"/>
          </p:cNvSpPr>
          <p:nvPr/>
        </p:nvSpPr>
        <p:spPr bwMode="auto">
          <a:xfrm>
            <a:off x="6516688" y="5391150"/>
            <a:ext cx="84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latin typeface="Helvetica" panose="020B0604020202020204" pitchFamily="34" charset="0"/>
              </a:rPr>
              <a:t>Step 2</a:t>
            </a:r>
          </a:p>
        </p:txBody>
      </p:sp>
      <p:graphicFrame>
        <p:nvGraphicFramePr>
          <p:cNvPr id="176135" name="Object 7"/>
          <p:cNvGraphicFramePr>
            <a:graphicFrameLocks noGrp="1" noChangeAspect="1"/>
          </p:cNvGraphicFramePr>
          <p:nvPr>
            <p:ph sz="quarter" idx="4294967295"/>
          </p:nvPr>
        </p:nvGraphicFramePr>
        <p:xfrm>
          <a:off x="1084263" y="3052763"/>
          <a:ext cx="5216525" cy="1528762"/>
        </p:xfrm>
        <a:graphic>
          <a:graphicData uri="http://schemas.openxmlformats.org/presentationml/2006/ole">
            <mc:AlternateContent xmlns:mc="http://schemas.openxmlformats.org/markup-compatibility/2006">
              <mc:Choice xmlns:v="urn:schemas-microsoft-com:vml" Requires="v">
                <p:oleObj spid="_x0000_s63517" name="Bitmap Image" r:id="rId5" imgW="3657143" imgH="1362265" progId="Paint.Picture">
                  <p:embed/>
                </p:oleObj>
              </mc:Choice>
              <mc:Fallback>
                <p:oleObj name="Bitmap Image" r:id="rId5" imgW="3657143" imgH="1362265" progId="Paint.Picture">
                  <p:embed/>
                  <p:pic>
                    <p:nvPicPr>
                      <p:cNvPr id="17613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4263" y="3052763"/>
                        <a:ext cx="5216525"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677440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idx="4294967295"/>
          </p:nvPr>
        </p:nvSpPr>
        <p:spPr/>
        <p:txBody>
          <a:bodyPr/>
          <a:lstStyle/>
          <a:p>
            <a:r>
              <a:rPr lang="en-US" altLang="en-US" dirty="0" smtClean="0"/>
              <a:t>Delete Any</a:t>
            </a:r>
          </a:p>
        </p:txBody>
      </p:sp>
      <p:sp>
        <p:nvSpPr>
          <p:cNvPr id="177155" name="Rectangle 3"/>
          <p:cNvSpPr>
            <a:spLocks noGrp="1" noChangeArrowheads="1"/>
          </p:cNvSpPr>
          <p:nvPr>
            <p:ph type="body" idx="4294967295"/>
          </p:nvPr>
        </p:nvSpPr>
        <p:spPr>
          <a:xfrm>
            <a:off x="590550" y="1169988"/>
            <a:ext cx="7870825" cy="1203325"/>
          </a:xfrm>
        </p:spPr>
        <p:txBody>
          <a:bodyPr>
            <a:normAutofit fontScale="92500" lnSpcReduction="10000"/>
          </a:bodyPr>
          <a:lstStyle/>
          <a:p>
            <a:pPr>
              <a:lnSpc>
                <a:spcPct val="90000"/>
              </a:lnSpc>
            </a:pPr>
            <a:r>
              <a:rPr lang="en-US" altLang="en-US" sz="2200" dirty="0" smtClean="0"/>
              <a:t>…….</a:t>
            </a:r>
          </a:p>
          <a:p>
            <a:pPr>
              <a:lnSpc>
                <a:spcPct val="90000"/>
              </a:lnSpc>
            </a:pPr>
            <a:r>
              <a:rPr lang="en-US" altLang="en-US" sz="2200" dirty="0" smtClean="0">
                <a:solidFill>
                  <a:srgbClr val="000099"/>
                </a:solidFill>
              </a:rPr>
              <a:t>Step3</a:t>
            </a:r>
            <a:r>
              <a:rPr lang="en-US" altLang="en-US" sz="2200" dirty="0" smtClean="0"/>
              <a:t>. Link the node pointed by pointer </a:t>
            </a:r>
            <a:r>
              <a:rPr lang="en-US" altLang="en-US" sz="2200" i="1" dirty="0" err="1" smtClean="0"/>
              <a:t>prev</a:t>
            </a:r>
            <a:r>
              <a:rPr lang="en-US" altLang="en-US" sz="2200" dirty="0" smtClean="0"/>
              <a:t> to the node after the </a:t>
            </a:r>
            <a:r>
              <a:rPr lang="en-US" altLang="en-US" sz="2200" i="1" dirty="0" smtClean="0"/>
              <a:t>cur</a:t>
            </a:r>
            <a:r>
              <a:rPr lang="en-US" altLang="en-US" sz="2200" dirty="0" smtClean="0"/>
              <a:t>’s node. </a:t>
            </a:r>
          </a:p>
          <a:p>
            <a:pPr>
              <a:lnSpc>
                <a:spcPct val="90000"/>
              </a:lnSpc>
            </a:pPr>
            <a:r>
              <a:rPr lang="en-US" altLang="en-US" sz="2200" dirty="0" smtClean="0">
                <a:solidFill>
                  <a:srgbClr val="000099"/>
                </a:solidFill>
              </a:rPr>
              <a:t>Step4</a:t>
            </a:r>
            <a:r>
              <a:rPr lang="en-US" altLang="en-US" sz="2200" dirty="0" smtClean="0"/>
              <a:t>. Release the memory of the node pointed by </a:t>
            </a:r>
            <a:r>
              <a:rPr lang="en-US" altLang="en-US" sz="2200" i="1" dirty="0" smtClean="0"/>
              <a:t>cur</a:t>
            </a:r>
            <a:r>
              <a:rPr lang="en-US" altLang="en-US" sz="2200" dirty="0" smtClean="0"/>
              <a:t>. </a:t>
            </a:r>
          </a:p>
          <a:p>
            <a:pPr>
              <a:lnSpc>
                <a:spcPct val="90000"/>
              </a:lnSpc>
            </a:pPr>
            <a:endParaRPr lang="en-US" altLang="en-US" sz="2200" dirty="0" smtClean="0"/>
          </a:p>
        </p:txBody>
      </p:sp>
      <p:pic>
        <p:nvPicPr>
          <p:cNvPr id="1771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113" y="2917825"/>
            <a:ext cx="5486400" cy="1590675"/>
          </a:xfrm>
          <a:prstGeom prst="rect">
            <a:avLst/>
          </a:prstGeom>
          <a:noFill/>
          <a:extLst>
            <a:ext uri="{909E8E84-426E-40DD-AFC4-6F175D3DCCD1}">
              <a14:hiddenFill xmlns:a14="http://schemas.microsoft.com/office/drawing/2010/main">
                <a:solidFill>
                  <a:srgbClr val="FFFFFF"/>
                </a:solidFill>
              </a14:hiddenFill>
            </a:ext>
          </a:extLst>
        </p:spPr>
      </p:pic>
      <p:pic>
        <p:nvPicPr>
          <p:cNvPr id="17715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4508500"/>
            <a:ext cx="5495925" cy="1550988"/>
          </a:xfrm>
          <a:prstGeom prst="rect">
            <a:avLst/>
          </a:prstGeom>
          <a:noFill/>
          <a:extLst>
            <a:ext uri="{909E8E84-426E-40DD-AFC4-6F175D3DCCD1}">
              <a14:hiddenFill xmlns:a14="http://schemas.microsoft.com/office/drawing/2010/main">
                <a:solidFill>
                  <a:srgbClr val="FFFFFF"/>
                </a:solidFill>
              </a14:hiddenFill>
            </a:ext>
          </a:extLst>
        </p:spPr>
      </p:pic>
      <p:sp>
        <p:nvSpPr>
          <p:cNvPr id="177158" name="Text Box 6"/>
          <p:cNvSpPr txBox="1">
            <a:spLocks noChangeArrowheads="1"/>
          </p:cNvSpPr>
          <p:nvPr/>
        </p:nvSpPr>
        <p:spPr bwMode="auto">
          <a:xfrm>
            <a:off x="6940550" y="3598863"/>
            <a:ext cx="844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latin typeface="Helvetica" panose="020B0604020202020204" pitchFamily="34" charset="0"/>
              </a:rPr>
              <a:t>Step 3</a:t>
            </a:r>
          </a:p>
        </p:txBody>
      </p:sp>
      <p:sp>
        <p:nvSpPr>
          <p:cNvPr id="177159" name="Text Box 7"/>
          <p:cNvSpPr txBox="1">
            <a:spLocks noChangeArrowheads="1"/>
          </p:cNvSpPr>
          <p:nvPr/>
        </p:nvSpPr>
        <p:spPr bwMode="auto">
          <a:xfrm>
            <a:off x="6964363" y="5510213"/>
            <a:ext cx="844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a:latin typeface="Helvetica" panose="020B0604020202020204" pitchFamily="34" charset="0"/>
              </a:rPr>
              <a:t>Step 4</a:t>
            </a:r>
          </a:p>
        </p:txBody>
      </p:sp>
    </p:spTree>
    <p:extLst>
      <p:ext uri="{BB962C8B-B14F-4D97-AF65-F5344CB8AC3E}">
        <p14:creationId xmlns:p14="http://schemas.microsoft.com/office/powerpoint/2010/main" val="9672232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2200"/>
            <a:ext cx="8229600" cy="1143000"/>
          </a:xfrm>
        </p:spPr>
        <p:txBody>
          <a:bodyPr/>
          <a:lstStyle/>
          <a:p>
            <a:r>
              <a:rPr lang="en-US" dirty="0" smtClean="0"/>
              <a:t>Linked List Based Implementation</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35</a:t>
            </a:fld>
            <a:endParaRPr lang="en-US"/>
          </a:p>
        </p:txBody>
      </p:sp>
    </p:spTree>
    <p:extLst>
      <p:ext uri="{BB962C8B-B14F-4D97-AF65-F5344CB8AC3E}">
        <p14:creationId xmlns:p14="http://schemas.microsoft.com/office/powerpoint/2010/main" val="37782763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5"/>
          <p:cNvSpPr>
            <a:spLocks noGrp="1"/>
          </p:cNvSpPr>
          <p:nvPr>
            <p:ph type="sldNum" sz="quarter" idx="12"/>
          </p:nvPr>
        </p:nvSpPr>
        <p:spPr>
          <a:noFill/>
        </p:spPr>
        <p:txBody>
          <a:bodyPr/>
          <a:lstStyle/>
          <a:p>
            <a:fld id="{0220E542-B107-4664-A9AC-472DBEF0A3F1}" type="slidenum">
              <a:rPr lang="en-US" smtClean="0"/>
              <a:pPr/>
              <a:t>36</a:t>
            </a:fld>
            <a:endParaRPr lang="en-US" smtClean="0"/>
          </a:p>
        </p:txBody>
      </p:sp>
      <p:sp>
        <p:nvSpPr>
          <p:cNvPr id="93187"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Link Class</a:t>
            </a:r>
          </a:p>
        </p:txBody>
      </p:sp>
      <p:pic>
        <p:nvPicPr>
          <p:cNvPr id="24578" name="Picture 2"/>
          <p:cNvPicPr>
            <a:picLocks noChangeAspect="1" noChangeArrowheads="1"/>
          </p:cNvPicPr>
          <p:nvPr/>
        </p:nvPicPr>
        <p:blipFill>
          <a:blip r:embed="rId3" cstate="print"/>
          <a:srcRect/>
          <a:stretch>
            <a:fillRect/>
          </a:stretch>
        </p:blipFill>
        <p:spPr bwMode="auto">
          <a:xfrm>
            <a:off x="641086" y="2119313"/>
            <a:ext cx="7664714" cy="33670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Link List Based Implementation in C++</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37</a:t>
            </a:fld>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2161617131"/>
              </p:ext>
            </p:extLst>
          </p:nvPr>
        </p:nvGraphicFramePr>
        <p:xfrm>
          <a:off x="3429000" y="3062288"/>
          <a:ext cx="2286000" cy="733425"/>
        </p:xfrm>
        <a:graphic>
          <a:graphicData uri="http://schemas.openxmlformats.org/presentationml/2006/ole">
            <mc:AlternateContent xmlns:mc="http://schemas.openxmlformats.org/markup-compatibility/2006">
              <mc:Choice xmlns:v="urn:schemas-microsoft-com:vml" Requires="v">
                <p:oleObj spid="_x0000_s25621" name="Packager Shell Object" showAsIcon="1" r:id="rId3" imgW="2285280" imgH="732960" progId="Package">
                  <p:embed/>
                </p:oleObj>
              </mc:Choice>
              <mc:Fallback>
                <p:oleObj name="Packager Shell Object" showAsIcon="1" r:id="rId3" imgW="2285280" imgH="732960" progId="Package">
                  <p:embed/>
                  <p:pic>
                    <p:nvPicPr>
                      <p:cNvPr id="0" name="Picture 2"/>
                      <p:cNvPicPr>
                        <a:picLocks noChangeAspect="1" noChangeArrowheads="1"/>
                      </p:cNvPicPr>
                      <p:nvPr/>
                    </p:nvPicPr>
                    <p:blipFill>
                      <a:blip r:embed="rId4"/>
                      <a:srcRect/>
                      <a:stretch>
                        <a:fillRect/>
                      </a:stretch>
                    </p:blipFill>
                    <p:spPr bwMode="auto">
                      <a:xfrm>
                        <a:off x="3429000" y="3062288"/>
                        <a:ext cx="228600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LList</a:t>
            </a:r>
            <a:r>
              <a:rPr lang="en-US" dirty="0" smtClean="0"/>
              <a:t> class</a:t>
            </a:r>
            <a:endParaRPr lang="en-US" dirty="0"/>
          </a:p>
        </p:txBody>
      </p:sp>
      <p:sp>
        <p:nvSpPr>
          <p:cNvPr id="3" name="Content Placeholder 2"/>
          <p:cNvSpPr>
            <a:spLocks noGrp="1"/>
          </p:cNvSpPr>
          <p:nvPr>
            <p:ph idx="1"/>
          </p:nvPr>
        </p:nvSpPr>
        <p:spPr>
          <a:xfrm>
            <a:off x="457200" y="1189037"/>
            <a:ext cx="8229600" cy="4525963"/>
          </a:xfrm>
        </p:spPr>
        <p:txBody>
          <a:bodyPr>
            <a:normAutofit/>
          </a:bodyPr>
          <a:lstStyle/>
          <a:p>
            <a:r>
              <a:rPr lang="en-US" dirty="0" smtClean="0"/>
              <a:t>We have three pointers: head, tail and </a:t>
            </a:r>
            <a:r>
              <a:rPr lang="en-US" dirty="0" err="1" smtClean="0"/>
              <a:t>curr</a:t>
            </a:r>
            <a:endParaRPr lang="en-US" dirty="0" smtClean="0"/>
          </a:p>
          <a:p>
            <a:pPr marL="0" indent="0">
              <a:buNone/>
            </a:pPr>
            <a:r>
              <a:rPr lang="en-US" dirty="0" smtClean="0"/>
              <a:t>Issues:</a:t>
            </a:r>
          </a:p>
          <a:p>
            <a:r>
              <a:rPr lang="en-US" dirty="0" smtClean="0"/>
              <a:t>Where should </a:t>
            </a:r>
            <a:r>
              <a:rPr lang="en-US" dirty="0" err="1" smtClean="0"/>
              <a:t>curr</a:t>
            </a:r>
            <a:r>
              <a:rPr lang="en-US" dirty="0" smtClean="0"/>
              <a:t> point to?</a:t>
            </a:r>
          </a:p>
        </p:txBody>
      </p:sp>
      <p:sp>
        <p:nvSpPr>
          <p:cNvPr id="6" name="Slide Number Placeholder 5"/>
          <p:cNvSpPr>
            <a:spLocks noGrp="1"/>
          </p:cNvSpPr>
          <p:nvPr>
            <p:ph type="sldNum" sz="quarter" idx="12"/>
          </p:nvPr>
        </p:nvSpPr>
        <p:spPr/>
        <p:txBody>
          <a:bodyPr/>
          <a:lstStyle/>
          <a:p>
            <a:fld id="{5993D3EC-A54F-4015-B37A-DAFE3575B373}" type="slidenum">
              <a:rPr lang="en-US" smtClean="0"/>
              <a:pPr/>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5"/>
          <p:cNvSpPr>
            <a:spLocks noGrp="1"/>
          </p:cNvSpPr>
          <p:nvPr>
            <p:ph type="sldNum" sz="quarter" idx="12"/>
          </p:nvPr>
        </p:nvSpPr>
        <p:spPr>
          <a:noFill/>
        </p:spPr>
        <p:txBody>
          <a:bodyPr/>
          <a:lstStyle/>
          <a:p>
            <a:fld id="{33046F48-DEC1-4D87-88A2-89629B1FB9C1}" type="slidenum">
              <a:rPr lang="en-US" smtClean="0"/>
              <a:pPr/>
              <a:t>39</a:t>
            </a:fld>
            <a:endParaRPr lang="en-US" smtClean="0"/>
          </a:p>
        </p:txBody>
      </p:sp>
      <p:sp>
        <p:nvSpPr>
          <p:cNvPr id="94211"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Position of </a:t>
            </a:r>
            <a:r>
              <a:rPr lang="en-US" dirty="0" err="1" smtClean="0">
                <a:latin typeface="Helvetica" pitchFamily="26" charset="0"/>
              </a:rPr>
              <a:t>curr</a:t>
            </a:r>
            <a:r>
              <a:rPr lang="en-US" dirty="0" smtClean="0">
                <a:latin typeface="Helvetica" pitchFamily="26" charset="0"/>
              </a:rPr>
              <a:t> (1)</a:t>
            </a:r>
          </a:p>
        </p:txBody>
      </p:sp>
      <p:sp>
        <p:nvSpPr>
          <p:cNvPr id="94212" name="Rectangle 3"/>
          <p:cNvSpPr>
            <a:spLocks noGrp="1" noChangeArrowheads="1"/>
          </p:cNvSpPr>
          <p:nvPr>
            <p:ph type="body" idx="1"/>
          </p:nvPr>
        </p:nvSpPr>
        <p:spPr>
          <a:xfrm>
            <a:off x="455613" y="1600200"/>
            <a:ext cx="8226425" cy="4572000"/>
          </a:xfrm>
        </p:spPr>
        <p:txBody>
          <a:bodyPr/>
          <a:lstStyle/>
          <a:p>
            <a:pPr>
              <a:lnSpc>
                <a:spcPct val="70000"/>
              </a:lnSpc>
              <a:buFontTx/>
              <a:buNone/>
            </a:pPr>
            <a:endParaRPr lang="en-US" sz="2800" smtClean="0">
              <a:latin typeface="Courier New" pitchFamily="26" charset="0"/>
            </a:endParaRPr>
          </a:p>
        </p:txBody>
      </p:sp>
      <p:pic>
        <p:nvPicPr>
          <p:cNvPr id="6" name="Picture 5" descr="figure.png"/>
          <p:cNvPicPr>
            <a:picLocks noChangeAspect="1"/>
          </p:cNvPicPr>
          <p:nvPr/>
        </p:nvPicPr>
        <p:blipFill>
          <a:blip r:embed="rId3" cstate="print"/>
          <a:srcRect l="23265" t="12360" r="31659" b="67415"/>
          <a:stretch>
            <a:fillRect/>
          </a:stretch>
        </p:blipFill>
        <p:spPr>
          <a:xfrm>
            <a:off x="270933" y="1600200"/>
            <a:ext cx="8415867" cy="48866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5"/>
          <p:cNvSpPr>
            <a:spLocks noGrp="1"/>
          </p:cNvSpPr>
          <p:nvPr>
            <p:ph type="sldNum" sz="quarter" idx="12"/>
          </p:nvPr>
        </p:nvSpPr>
        <p:spPr>
          <a:noFill/>
        </p:spPr>
        <p:txBody>
          <a:bodyPr/>
          <a:lstStyle/>
          <a:p>
            <a:fld id="{971C7A85-06E1-403F-B48B-59828D0E0667}" type="slidenum">
              <a:rPr lang="en-US" smtClean="0"/>
              <a:pPr/>
              <a:t>40</a:t>
            </a:fld>
            <a:endParaRPr lang="en-US" smtClean="0"/>
          </a:p>
        </p:txBody>
      </p:sp>
      <p:sp>
        <p:nvSpPr>
          <p:cNvPr id="95235"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Position of </a:t>
            </a:r>
            <a:r>
              <a:rPr lang="en-US" dirty="0" err="1" smtClean="0">
                <a:latin typeface="Helvetica" pitchFamily="26" charset="0"/>
              </a:rPr>
              <a:t>curr</a:t>
            </a:r>
            <a:r>
              <a:rPr lang="en-US" dirty="0" smtClean="0">
                <a:latin typeface="Helvetica" pitchFamily="26" charset="0"/>
              </a:rPr>
              <a:t> (2)</a:t>
            </a:r>
          </a:p>
        </p:txBody>
      </p:sp>
      <p:sp>
        <p:nvSpPr>
          <p:cNvPr id="95236" name="Rectangle 3"/>
          <p:cNvSpPr>
            <a:spLocks noGrp="1" noChangeArrowheads="1"/>
          </p:cNvSpPr>
          <p:nvPr>
            <p:ph type="body" idx="1"/>
          </p:nvPr>
        </p:nvSpPr>
        <p:spPr>
          <a:xfrm>
            <a:off x="455613" y="1600200"/>
            <a:ext cx="8226425" cy="4572000"/>
          </a:xfrm>
        </p:spPr>
        <p:txBody>
          <a:bodyPr/>
          <a:lstStyle/>
          <a:p>
            <a:pPr>
              <a:lnSpc>
                <a:spcPct val="70000"/>
              </a:lnSpc>
              <a:buFontTx/>
              <a:buNone/>
            </a:pPr>
            <a:endParaRPr lang="en-US" sz="2800" smtClean="0">
              <a:latin typeface="Courier New" pitchFamily="26" charset="0"/>
            </a:endParaRPr>
          </a:p>
        </p:txBody>
      </p:sp>
      <p:pic>
        <p:nvPicPr>
          <p:cNvPr id="95237" name="Picture 5" descr="GoodList.png"/>
          <p:cNvPicPr>
            <a:picLocks noChangeAspect="1"/>
          </p:cNvPicPr>
          <p:nvPr/>
        </p:nvPicPr>
        <p:blipFill>
          <a:blip r:embed="rId3" cstate="print"/>
          <a:srcRect l="22681" t="13333" r="22681" b="66667"/>
          <a:stretch>
            <a:fillRect/>
          </a:stretch>
        </p:blipFill>
        <p:spPr bwMode="auto">
          <a:xfrm>
            <a:off x="381000" y="1524000"/>
            <a:ext cx="8305800" cy="3933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5"/>
          <p:cNvSpPr>
            <a:spLocks noGrp="1"/>
          </p:cNvSpPr>
          <p:nvPr>
            <p:ph type="sldNum" sz="quarter" idx="12"/>
          </p:nvPr>
        </p:nvSpPr>
        <p:spPr>
          <a:noFill/>
        </p:spPr>
        <p:txBody>
          <a:bodyPr/>
          <a:lstStyle/>
          <a:p>
            <a:fld id="{73BAE32A-DDCB-4D42-B8D6-42197FD49594}" type="slidenum">
              <a:rPr lang="en-US" smtClean="0"/>
              <a:pPr/>
              <a:t>41</a:t>
            </a:fld>
            <a:endParaRPr lang="en-US" smtClean="0"/>
          </a:p>
        </p:txBody>
      </p:sp>
      <p:sp>
        <p:nvSpPr>
          <p:cNvPr id="98307"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Insertion</a:t>
            </a:r>
          </a:p>
        </p:txBody>
      </p:sp>
      <p:sp>
        <p:nvSpPr>
          <p:cNvPr id="98308" name="Rectangle 3"/>
          <p:cNvSpPr>
            <a:spLocks noGrp="1" noChangeArrowheads="1"/>
          </p:cNvSpPr>
          <p:nvPr>
            <p:ph type="body" idx="1"/>
          </p:nvPr>
        </p:nvSpPr>
        <p:spPr>
          <a:xfrm>
            <a:off x="455613" y="1600200"/>
            <a:ext cx="8226425" cy="4572000"/>
          </a:xfrm>
        </p:spPr>
        <p:txBody>
          <a:bodyPr/>
          <a:lstStyle/>
          <a:p>
            <a:pPr>
              <a:lnSpc>
                <a:spcPct val="50000"/>
              </a:lnSpc>
              <a:buFontTx/>
              <a:buNone/>
            </a:pPr>
            <a:endParaRPr lang="en-US" sz="2800" dirty="0" smtClean="0">
              <a:latin typeface="Courier New" pitchFamily="26" charset="0"/>
            </a:endParaRPr>
          </a:p>
        </p:txBody>
      </p:sp>
      <p:pic>
        <p:nvPicPr>
          <p:cNvPr id="98309" name="Picture 7" descr="LinkIns.png"/>
          <p:cNvPicPr>
            <a:picLocks noChangeAspect="1"/>
          </p:cNvPicPr>
          <p:nvPr/>
        </p:nvPicPr>
        <p:blipFill>
          <a:blip r:embed="rId3" cstate="print"/>
          <a:srcRect/>
          <a:stretch>
            <a:fillRect/>
          </a:stretch>
        </p:blipFill>
        <p:spPr bwMode="auto">
          <a:xfrm>
            <a:off x="2209800" y="1524000"/>
            <a:ext cx="5181600" cy="46148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5"/>
          <p:cNvSpPr>
            <a:spLocks noGrp="1"/>
          </p:cNvSpPr>
          <p:nvPr>
            <p:ph type="sldNum" sz="quarter" idx="12"/>
          </p:nvPr>
        </p:nvSpPr>
        <p:spPr>
          <a:noFill/>
        </p:spPr>
        <p:txBody>
          <a:bodyPr/>
          <a:lstStyle/>
          <a:p>
            <a:fld id="{92860890-AC18-4A51-BD8B-7F45695FDB88}" type="slidenum">
              <a:rPr lang="en-US" smtClean="0"/>
              <a:pPr/>
              <a:t>42</a:t>
            </a:fld>
            <a:endParaRPr lang="en-US" smtClean="0"/>
          </a:p>
        </p:txBody>
      </p:sp>
      <p:sp>
        <p:nvSpPr>
          <p:cNvPr id="100355"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Removal</a:t>
            </a:r>
          </a:p>
        </p:txBody>
      </p:sp>
      <p:sp>
        <p:nvSpPr>
          <p:cNvPr id="100356" name="Rectangle 3"/>
          <p:cNvSpPr>
            <a:spLocks noGrp="1" noChangeArrowheads="1"/>
          </p:cNvSpPr>
          <p:nvPr>
            <p:ph type="body" idx="1"/>
          </p:nvPr>
        </p:nvSpPr>
        <p:spPr>
          <a:xfrm>
            <a:off x="455613" y="1600200"/>
            <a:ext cx="8226425" cy="4572000"/>
          </a:xfrm>
        </p:spPr>
        <p:txBody>
          <a:bodyPr/>
          <a:lstStyle/>
          <a:p>
            <a:pPr>
              <a:lnSpc>
                <a:spcPct val="60000"/>
              </a:lnSpc>
              <a:buFontTx/>
              <a:buNone/>
            </a:pPr>
            <a:endParaRPr lang="en-US" sz="2800" smtClean="0">
              <a:latin typeface="Courier New" pitchFamily="26" charset="0"/>
            </a:endParaRPr>
          </a:p>
        </p:txBody>
      </p:sp>
      <p:pic>
        <p:nvPicPr>
          <p:cNvPr id="100357" name="Picture 5" descr="LinkRem.png"/>
          <p:cNvPicPr>
            <a:picLocks noChangeAspect="1"/>
          </p:cNvPicPr>
          <p:nvPr/>
        </p:nvPicPr>
        <p:blipFill>
          <a:blip r:embed="rId3" cstate="print"/>
          <a:srcRect l="22681" t="14444" r="37059" b="64445"/>
          <a:stretch>
            <a:fillRect/>
          </a:stretch>
        </p:blipFill>
        <p:spPr bwMode="auto">
          <a:xfrm>
            <a:off x="1143000" y="1524000"/>
            <a:ext cx="6934200" cy="4705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LList</a:t>
            </a:r>
            <a:r>
              <a:rPr lang="en-US" dirty="0" smtClean="0"/>
              <a:t> class</a:t>
            </a:r>
            <a:endParaRPr lang="en-US" dirty="0"/>
          </a:p>
        </p:txBody>
      </p:sp>
      <p:sp>
        <p:nvSpPr>
          <p:cNvPr id="3" name="Content Placeholder 2"/>
          <p:cNvSpPr>
            <a:spLocks noGrp="1"/>
          </p:cNvSpPr>
          <p:nvPr>
            <p:ph idx="1"/>
          </p:nvPr>
        </p:nvSpPr>
        <p:spPr>
          <a:xfrm>
            <a:off x="457200" y="1189037"/>
            <a:ext cx="8229600" cy="4525963"/>
          </a:xfrm>
        </p:spPr>
        <p:txBody>
          <a:bodyPr>
            <a:normAutofit fontScale="92500" lnSpcReduction="20000"/>
          </a:bodyPr>
          <a:lstStyle/>
          <a:p>
            <a:r>
              <a:rPr lang="en-US" dirty="0" smtClean="0"/>
              <a:t>We have three pointers: head, tail and </a:t>
            </a:r>
            <a:r>
              <a:rPr lang="en-US" dirty="0" err="1" smtClean="0"/>
              <a:t>curr</a:t>
            </a:r>
            <a:endParaRPr lang="en-US" dirty="0" smtClean="0"/>
          </a:p>
          <a:p>
            <a:pPr marL="0" indent="0">
              <a:buNone/>
            </a:pPr>
            <a:r>
              <a:rPr lang="en-US" dirty="0" smtClean="0"/>
              <a:t>Issues:</a:t>
            </a:r>
          </a:p>
          <a:p>
            <a:r>
              <a:rPr lang="en-US" dirty="0" smtClean="0"/>
              <a:t>Where should </a:t>
            </a:r>
            <a:r>
              <a:rPr lang="en-US" dirty="0" err="1" smtClean="0"/>
              <a:t>curr</a:t>
            </a:r>
            <a:r>
              <a:rPr lang="en-US" dirty="0" smtClean="0"/>
              <a:t> point to?</a:t>
            </a:r>
          </a:p>
          <a:p>
            <a:pPr lvl="1"/>
            <a:r>
              <a:rPr lang="en-US" dirty="0" smtClean="0"/>
              <a:t>Before the ‘current’ node</a:t>
            </a:r>
          </a:p>
          <a:p>
            <a:r>
              <a:rPr lang="en-US" dirty="0" smtClean="0"/>
              <a:t>What about when the list is empty?</a:t>
            </a:r>
          </a:p>
          <a:p>
            <a:r>
              <a:rPr lang="en-US" dirty="0" smtClean="0"/>
              <a:t>Where should head and tail point to in special cases (e.g., when the list is empty)</a:t>
            </a:r>
          </a:p>
          <a:p>
            <a:r>
              <a:rPr lang="en-US" dirty="0" smtClean="0"/>
              <a:t>Rather than implementing it as a special case we can introduce a header node which does not contain any element of the list.</a:t>
            </a:r>
            <a:endParaRPr lang="en-US" dirty="0"/>
          </a:p>
        </p:txBody>
      </p:sp>
      <p:sp>
        <p:nvSpPr>
          <p:cNvPr id="6" name="Slide Number Placeholder 5"/>
          <p:cNvSpPr>
            <a:spLocks noGrp="1"/>
          </p:cNvSpPr>
          <p:nvPr>
            <p:ph type="sldNum" sz="quarter" idx="12"/>
          </p:nvPr>
        </p:nvSpPr>
        <p:spPr/>
        <p:txBody>
          <a:bodyPr/>
          <a:lstStyle/>
          <a:p>
            <a:fld id="{5993D3EC-A54F-4015-B37A-DAFE3575B373}" type="slidenum">
              <a:rPr lang="en-US" smtClean="0"/>
              <a:pPr/>
              <a:t>43</a:t>
            </a:fld>
            <a:endParaRPr lang="en-US"/>
          </a:p>
        </p:txBody>
      </p:sp>
      <p:pic>
        <p:nvPicPr>
          <p:cNvPr id="43010" name="Picture 2"/>
          <p:cNvPicPr>
            <a:picLocks noChangeAspect="1" noChangeArrowheads="1"/>
          </p:cNvPicPr>
          <p:nvPr/>
        </p:nvPicPr>
        <p:blipFill>
          <a:blip r:embed="rId2" cstate="print"/>
          <a:srcRect/>
          <a:stretch>
            <a:fillRect/>
          </a:stretch>
        </p:blipFill>
        <p:spPr bwMode="auto">
          <a:xfrm>
            <a:off x="5162550" y="4953000"/>
            <a:ext cx="2533650" cy="1524000"/>
          </a:xfrm>
          <a:prstGeom prst="rect">
            <a:avLst/>
          </a:prstGeom>
          <a:noFill/>
          <a:ln w="9525">
            <a:noFill/>
            <a:miter lim="800000"/>
            <a:headEnd/>
            <a:tailEnd/>
          </a:ln>
        </p:spPr>
      </p:pic>
    </p:spTree>
    <p:extLst>
      <p:ext uri="{BB962C8B-B14F-4D97-AF65-F5344CB8AC3E}">
        <p14:creationId xmlns:p14="http://schemas.microsoft.com/office/powerpoint/2010/main" val="290396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43010"/>
                                        </p:tgtEl>
                                        <p:attrNameLst>
                                          <p:attrName>style.visibility</p:attrName>
                                        </p:attrNameLst>
                                      </p:cBhvr>
                                      <p:to>
                                        <p:strVal val="visible"/>
                                      </p:to>
                                    </p:set>
                                    <p:animEffect transition="in" filter="randombar(horizontal)">
                                      <p:cBhvr>
                                        <p:cTn id="23" dur="5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1819</TotalTime>
  <Words>1512</Words>
  <Application>Microsoft Office PowerPoint</Application>
  <PresentationFormat>On-screen Show (4:3)</PresentationFormat>
  <Paragraphs>293</Paragraphs>
  <Slides>43</Slides>
  <Notes>14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43</vt:i4>
      </vt:variant>
    </vt:vector>
  </HeadingPairs>
  <TitlesOfParts>
    <vt:vector size="56" baseType="lpstr">
      <vt:lpstr>Arial</vt:lpstr>
      <vt:lpstr>Arial Narrow</vt:lpstr>
      <vt:lpstr>Calibri</vt:lpstr>
      <vt:lpstr>Courier New</vt:lpstr>
      <vt:lpstr>Helvetica</vt:lpstr>
      <vt:lpstr>Monotype Sorts</vt:lpstr>
      <vt:lpstr>Symbol</vt:lpstr>
      <vt:lpstr>Times New Roman</vt:lpstr>
      <vt:lpstr>Wingdings</vt:lpstr>
      <vt:lpstr>Office Theme</vt:lpstr>
      <vt:lpstr>Worksheet</vt:lpstr>
      <vt:lpstr>Packager Shell Object</vt:lpstr>
      <vt:lpstr>Bitmap Image</vt:lpstr>
      <vt:lpstr>CSE 203: Data Structures</vt:lpstr>
      <vt:lpstr>Lists</vt:lpstr>
      <vt:lpstr>List Implementation Concepts</vt:lpstr>
      <vt:lpstr>List ADT: Possible Operations</vt:lpstr>
      <vt:lpstr>List ADT: Possible Operations</vt:lpstr>
      <vt:lpstr>List ADT</vt:lpstr>
      <vt:lpstr>List ADT</vt:lpstr>
      <vt:lpstr>PowerPoint Presentation</vt:lpstr>
      <vt:lpstr>List ADT Examples</vt:lpstr>
      <vt:lpstr>List Find Function</vt:lpstr>
      <vt:lpstr>Array Based Implementation</vt:lpstr>
      <vt:lpstr>Array Based Implementation</vt:lpstr>
      <vt:lpstr>Array-Based List: Insert</vt:lpstr>
      <vt:lpstr>Array-Based List: Remove</vt:lpstr>
      <vt:lpstr>Array Based Implementation of List in C++</vt:lpstr>
      <vt:lpstr>Insert</vt:lpstr>
      <vt:lpstr>Append</vt:lpstr>
      <vt:lpstr>Remove</vt:lpstr>
      <vt:lpstr>Linked List Based Implementation</vt:lpstr>
      <vt:lpstr>Linked List Concept…</vt:lpstr>
      <vt:lpstr>Linked List</vt:lpstr>
      <vt:lpstr>Basic Operations</vt:lpstr>
      <vt:lpstr>Insertion to a Linear Linked list</vt:lpstr>
      <vt:lpstr>Insert First </vt:lpstr>
      <vt:lpstr>Insert Last</vt:lpstr>
      <vt:lpstr>Insert Last (Cont.)</vt:lpstr>
      <vt:lpstr>Insert Middle (after a desired node)</vt:lpstr>
      <vt:lpstr>Deletion from a Linear Linked list</vt:lpstr>
      <vt:lpstr>Delete First</vt:lpstr>
      <vt:lpstr>Delete Last</vt:lpstr>
      <vt:lpstr>Delete Last </vt:lpstr>
      <vt:lpstr>Delete Any</vt:lpstr>
      <vt:lpstr>Delete Any</vt:lpstr>
      <vt:lpstr>Delete Any</vt:lpstr>
      <vt:lpstr>Linked List Based Implementation</vt:lpstr>
      <vt:lpstr>Link Class</vt:lpstr>
      <vt:lpstr>Link List Based Implementation in C++</vt:lpstr>
      <vt:lpstr>LList class</vt:lpstr>
      <vt:lpstr>Position of curr (1)</vt:lpstr>
      <vt:lpstr>Position of curr (2)</vt:lpstr>
      <vt:lpstr>Insertion</vt:lpstr>
      <vt:lpstr>Removal</vt:lpstr>
      <vt:lpstr>LList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203: Data Structures</dc:title>
  <dc:creator>User</dc:creator>
  <cp:lastModifiedBy>Sara Nowreen</cp:lastModifiedBy>
  <cp:revision>100</cp:revision>
  <dcterms:created xsi:type="dcterms:W3CDTF">2016-02-26T11:45:32Z</dcterms:created>
  <dcterms:modified xsi:type="dcterms:W3CDTF">2021-11-16T08:20:10Z</dcterms:modified>
</cp:coreProperties>
</file>