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63" r:id="rId3"/>
    <p:sldId id="366" r:id="rId4"/>
    <p:sldId id="367" r:id="rId5"/>
    <p:sldId id="408" r:id="rId6"/>
    <p:sldId id="409" r:id="rId7"/>
    <p:sldId id="410" r:id="rId8"/>
    <p:sldId id="411" r:id="rId9"/>
    <p:sldId id="412" r:id="rId10"/>
    <p:sldId id="413" r:id="rId11"/>
    <p:sldId id="342" r:id="rId12"/>
    <p:sldId id="368" r:id="rId13"/>
    <p:sldId id="424" r:id="rId14"/>
    <p:sldId id="414" r:id="rId15"/>
    <p:sldId id="415" r:id="rId16"/>
    <p:sldId id="416" r:id="rId17"/>
    <p:sldId id="417" r:id="rId18"/>
    <p:sldId id="421" r:id="rId19"/>
    <p:sldId id="422" r:id="rId20"/>
    <p:sldId id="348" r:id="rId21"/>
    <p:sldId id="369" r:id="rId22"/>
    <p:sldId id="349" r:id="rId23"/>
    <p:sldId id="35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131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D5FCE-5CD6-4EC0-907C-132E2C0FCFA9}" type="datetimeFigureOut">
              <a:rPr lang="en-US" smtClean="0"/>
              <a:pPr/>
              <a:t>12/14/2021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0100F-3381-41C7-9B6D-B30E012C79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B1F3D1-E118-491C-954C-DDAB3500F655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445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5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E1D3D3-AE96-408A-9C38-58BEEBD116F5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442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2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smtClean="0"/>
              <a:t>Applies to both average and worst cases.</a:t>
            </a:r>
          </a:p>
        </p:txBody>
      </p:sp>
    </p:spTree>
    <p:extLst>
      <p:ext uri="{BB962C8B-B14F-4D97-AF65-F5344CB8AC3E}">
        <p14:creationId xmlns:p14="http://schemas.microsoft.com/office/powerpoint/2010/main" val="1303941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E1D3D3-AE96-408A-9C38-58BEEBD116F5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442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2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smtClean="0"/>
              <a:t>Applies to both average and worst cases.</a:t>
            </a:r>
          </a:p>
        </p:txBody>
      </p:sp>
    </p:spTree>
    <p:extLst>
      <p:ext uri="{BB962C8B-B14F-4D97-AF65-F5344CB8AC3E}">
        <p14:creationId xmlns:p14="http://schemas.microsoft.com/office/powerpoint/2010/main" val="995250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E1D3D3-AE96-408A-9C38-58BEEBD116F5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442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2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smtClean="0"/>
              <a:t>Applies to both average and worst cases.</a:t>
            </a:r>
          </a:p>
        </p:txBody>
      </p:sp>
    </p:spTree>
    <p:extLst>
      <p:ext uri="{BB962C8B-B14F-4D97-AF65-F5344CB8AC3E}">
        <p14:creationId xmlns:p14="http://schemas.microsoft.com/office/powerpoint/2010/main" val="417830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E1D3D3-AE96-408A-9C38-58BEEBD116F5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442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2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smtClean="0"/>
              <a:t>Applies to both average and worst cases.</a:t>
            </a:r>
          </a:p>
        </p:txBody>
      </p:sp>
    </p:spTree>
    <p:extLst>
      <p:ext uri="{BB962C8B-B14F-4D97-AF65-F5344CB8AC3E}">
        <p14:creationId xmlns:p14="http://schemas.microsoft.com/office/powerpoint/2010/main" val="1086483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E1D3D3-AE96-408A-9C38-58BEEBD116F5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442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2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smtClean="0"/>
              <a:t>Applies to both average and worst cases.</a:t>
            </a:r>
          </a:p>
        </p:txBody>
      </p:sp>
    </p:spTree>
    <p:extLst>
      <p:ext uri="{BB962C8B-B14F-4D97-AF65-F5344CB8AC3E}">
        <p14:creationId xmlns:p14="http://schemas.microsoft.com/office/powerpoint/2010/main" val="2028027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BD1464-E6F5-4331-8FEB-254F08AB880F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443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3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0F5472-B3F2-49F2-860F-BBF267B94473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449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95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19D8ED-831D-47D6-B77D-EBB24963BCE6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450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5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 smtClean="0"/>
              <a:t>The order, 1-5 in the book</a:t>
            </a:r>
            <a:r>
              <a:rPr lang="en-US" baseline="0" dirty="0" smtClean="0"/>
              <a:t> figure was wrong.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1C9360-5667-47B8-818E-863CA8AA8A31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452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2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2/29/2016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8.bin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8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CSE 203: Data Structures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Elementary Data Structures- List</a:t>
            </a:r>
          </a:p>
          <a:p>
            <a:r>
              <a:rPr lang="en-US" dirty="0" smtClean="0"/>
              <a:t>Part - II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17E0F3-4294-447B-B168-FE94D04DE104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10752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Freelists</a:t>
            </a:r>
          </a:p>
        </p:txBody>
      </p:sp>
      <p:sp>
        <p:nvSpPr>
          <p:cNvPr id="10752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4572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60000"/>
              </a:lnSpc>
            </a:pPr>
            <a:r>
              <a:rPr lang="en-US" dirty="0" smtClean="0">
                <a:latin typeface="Helvetica" pitchFamily="26" charset="0"/>
              </a:rPr>
              <a:t>System operators </a:t>
            </a:r>
            <a:r>
              <a:rPr lang="en-US" b="1" i="1" dirty="0" smtClean="0">
                <a:latin typeface="Courier New" pitchFamily="26" charset="0"/>
              </a:rPr>
              <a:t>new</a:t>
            </a:r>
            <a:r>
              <a:rPr lang="en-US" dirty="0" smtClean="0">
                <a:latin typeface="Helvetica" pitchFamily="26" charset="0"/>
              </a:rPr>
              <a:t> and </a:t>
            </a:r>
            <a:r>
              <a:rPr lang="en-US" i="1" dirty="0" smtClean="0">
                <a:latin typeface="Helvetica" pitchFamily="26" charset="0"/>
              </a:rPr>
              <a:t>delete</a:t>
            </a:r>
            <a:r>
              <a:rPr lang="en-US" dirty="0" smtClean="0">
                <a:latin typeface="Helvetica" pitchFamily="26" charset="0"/>
              </a:rPr>
              <a:t> are slow.</a:t>
            </a:r>
          </a:p>
          <a:p>
            <a:pPr>
              <a:lnSpc>
                <a:spcPct val="60000"/>
              </a:lnSpc>
              <a:buFontTx/>
              <a:buNone/>
            </a:pPr>
            <a:endParaRPr lang="en-US" dirty="0" smtClean="0">
              <a:latin typeface="Helvetica" pitchFamily="26" charset="0"/>
            </a:endParaRPr>
          </a:p>
          <a:p>
            <a:pPr>
              <a:lnSpc>
                <a:spcPct val="60000"/>
              </a:lnSpc>
            </a:pPr>
            <a:r>
              <a:rPr lang="en-US" sz="2800" dirty="0" smtClean="0">
                <a:latin typeface="Helvetica" pitchFamily="26" charset="0"/>
              </a:rPr>
              <a:t>So, we add </a:t>
            </a:r>
            <a:r>
              <a:rPr lang="en-US" sz="2800" i="1" dirty="0" err="1" smtClean="0">
                <a:latin typeface="Helvetica" pitchFamily="26" charset="0"/>
              </a:rPr>
              <a:t>freelist</a:t>
            </a:r>
            <a:r>
              <a:rPr lang="en-US" sz="2800" dirty="0" smtClean="0">
                <a:latin typeface="Helvetica" pitchFamily="26" charset="0"/>
              </a:rPr>
              <a:t> support to the Link class.</a:t>
            </a:r>
          </a:p>
          <a:p>
            <a:pPr lvl="1"/>
            <a:r>
              <a:rPr lang="en-US" dirty="0" smtClean="0"/>
              <a:t>A </a:t>
            </a:r>
            <a:r>
              <a:rPr lang="en-US" dirty="0" err="1" smtClean="0"/>
              <a:t>freelist</a:t>
            </a:r>
            <a:r>
              <a:rPr lang="en-US" dirty="0" smtClean="0"/>
              <a:t> holds those list nodes that are not currently being used. </a:t>
            </a:r>
          </a:p>
          <a:p>
            <a:pPr lvl="1"/>
            <a:r>
              <a:rPr lang="en-US" dirty="0" smtClean="0"/>
              <a:t>When a node is deleted from a linked list, it is placed at the head of the </a:t>
            </a:r>
            <a:r>
              <a:rPr lang="en-US" dirty="0" err="1" smtClean="0"/>
              <a:t>freelist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When a new element is to be added to a linked list, the </a:t>
            </a:r>
            <a:r>
              <a:rPr lang="en-US" dirty="0" err="1" smtClean="0"/>
              <a:t>freelist</a:t>
            </a:r>
            <a:r>
              <a:rPr lang="en-US" dirty="0" smtClean="0"/>
              <a:t> is checked to see if a list node is available. If so, the node is taken from the </a:t>
            </a:r>
            <a:r>
              <a:rPr lang="en-US" dirty="0" err="1" smtClean="0"/>
              <a:t>freelist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If the </a:t>
            </a:r>
            <a:r>
              <a:rPr lang="en-US" dirty="0" err="1" smtClean="0"/>
              <a:t>freelist</a:t>
            </a:r>
            <a:r>
              <a:rPr lang="en-US" dirty="0" smtClean="0"/>
              <a:t> is empty, the standard </a:t>
            </a:r>
            <a:r>
              <a:rPr lang="en-US" b="1" dirty="0" smtClean="0"/>
              <a:t>new operator must then be called.</a:t>
            </a:r>
            <a:endParaRPr lang="en-US" sz="6000" dirty="0" smtClean="0">
              <a:latin typeface="Helvetica" pitchFamily="26" charset="0"/>
            </a:endParaRPr>
          </a:p>
          <a:p>
            <a:pPr>
              <a:lnSpc>
                <a:spcPct val="40000"/>
              </a:lnSpc>
              <a:buFontTx/>
              <a:buNone/>
            </a:pPr>
            <a:endParaRPr lang="en-US" sz="2400" dirty="0" smtClean="0">
              <a:latin typeface="Courier New" pitchFamily="26" charset="0"/>
            </a:endParaRPr>
          </a:p>
          <a:p>
            <a:pPr>
              <a:lnSpc>
                <a:spcPct val="40000"/>
              </a:lnSpc>
              <a:buFontTx/>
              <a:buNone/>
            </a:pPr>
            <a:endParaRPr lang="en-US" sz="2400" dirty="0" smtClean="0">
              <a:latin typeface="Courier New" pitchFamily="26" charset="0"/>
            </a:endParaRPr>
          </a:p>
          <a:p>
            <a:pPr>
              <a:lnSpc>
                <a:spcPct val="40000"/>
              </a:lnSpc>
              <a:buFontTx/>
              <a:buNone/>
            </a:pPr>
            <a:r>
              <a:rPr lang="en-US" sz="2400" dirty="0" smtClean="0">
                <a:latin typeface="Courier New" pitchFamily="26" charset="0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Implementing </a:t>
            </a:r>
            <a:r>
              <a:rPr lang="en-US" dirty="0" err="1" smtClean="0"/>
              <a:t>freelist</a:t>
            </a:r>
            <a:r>
              <a:rPr lang="en-US" dirty="0" smtClean="0"/>
              <a:t>: Approach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two new operators to use instead of the standard routines </a:t>
            </a:r>
            <a:r>
              <a:rPr lang="en-US" b="1" dirty="0" smtClean="0"/>
              <a:t>new and delete. </a:t>
            </a:r>
          </a:p>
          <a:p>
            <a:r>
              <a:rPr lang="en-US" b="1" dirty="0" smtClean="0"/>
              <a:t>This requires </a:t>
            </a:r>
            <a:r>
              <a:rPr lang="en-US" dirty="0" smtClean="0"/>
              <a:t>that the user’s code, such as the </a:t>
            </a:r>
            <a:r>
              <a:rPr lang="en-US" dirty="0" err="1" smtClean="0"/>
              <a:t>LList</a:t>
            </a:r>
            <a:r>
              <a:rPr lang="en-US" dirty="0" smtClean="0"/>
              <a:t> class implementation be modified to call these </a:t>
            </a:r>
            <a:r>
              <a:rPr lang="en-US" dirty="0" err="1" smtClean="0"/>
              <a:t>freelist</a:t>
            </a:r>
            <a:r>
              <a:rPr lang="en-US" dirty="0" smtClean="0"/>
              <a:t> operators.</a:t>
            </a:r>
          </a:p>
          <a:p>
            <a:r>
              <a:rPr lang="en-US" dirty="0" smtClean="0"/>
              <a:t>Not a good design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Implementing </a:t>
            </a:r>
            <a:r>
              <a:rPr lang="en-US" dirty="0" err="1" smtClean="0"/>
              <a:t>freelist</a:t>
            </a:r>
            <a:r>
              <a:rPr lang="en-US" dirty="0" smtClean="0"/>
              <a:t>: Approach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use C++ operator overloading to replace the meaning of </a:t>
            </a:r>
            <a:r>
              <a:rPr lang="en-US" b="1" dirty="0" smtClean="0"/>
              <a:t>new and delete when operating on Link </a:t>
            </a:r>
            <a:r>
              <a:rPr lang="en-US" dirty="0" smtClean="0"/>
              <a:t>class objects. </a:t>
            </a:r>
          </a:p>
          <a:p>
            <a:r>
              <a:rPr lang="en-US" dirty="0" smtClean="0"/>
              <a:t>In this way, programs that use the </a:t>
            </a:r>
            <a:r>
              <a:rPr lang="en-US" b="1" dirty="0" err="1" smtClean="0"/>
              <a:t>LList</a:t>
            </a:r>
            <a:r>
              <a:rPr lang="en-US" b="1" dirty="0" smtClean="0"/>
              <a:t> class need not be modified </a:t>
            </a:r>
            <a:r>
              <a:rPr lang="en-US" dirty="0" smtClean="0"/>
              <a:t>at all to take advantage of a </a:t>
            </a:r>
            <a:r>
              <a:rPr lang="en-US" dirty="0" err="1" smtClean="0"/>
              <a:t>freelist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Whether the </a:t>
            </a:r>
            <a:r>
              <a:rPr lang="en-US" b="1" dirty="0" smtClean="0"/>
              <a:t>Link class is implemented with </a:t>
            </a:r>
            <a:r>
              <a:rPr lang="en-US" dirty="0" err="1" smtClean="0"/>
              <a:t>freelists</a:t>
            </a:r>
            <a:r>
              <a:rPr lang="en-US" dirty="0" smtClean="0"/>
              <a:t>, or relies on the regular free-store mechanism, is entirely hidden from the </a:t>
            </a:r>
            <a:r>
              <a:rPr lang="en-US" dirty="0" err="1" smtClean="0"/>
              <a:t>LList</a:t>
            </a:r>
            <a:r>
              <a:rPr lang="en-US" dirty="0" smtClean="0"/>
              <a:t> class user.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-30480"/>
            <a:ext cx="7772400" cy="6596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24840"/>
            <a:ext cx="7772400" cy="381000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5800" y="2873374"/>
            <a:ext cx="7772400" cy="2613025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0560" y="5914389"/>
            <a:ext cx="7772400" cy="651167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FA9FB6-76E7-4C47-93F8-94122DE764C8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dirty="0" smtClean="0">
                <a:latin typeface="Helvetica" pitchFamily="26" charset="0"/>
              </a:rPr>
              <a:t>Comparison of Implementations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279526"/>
            <a:ext cx="8226425" cy="1451398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Array-Based Lists:</a:t>
            </a:r>
          </a:p>
          <a:p>
            <a:pPr>
              <a:lnSpc>
                <a:spcPct val="70000"/>
              </a:lnSpc>
            </a:pPr>
            <a:r>
              <a:rPr lang="en-US" sz="2800" dirty="0" smtClean="0">
                <a:latin typeface="Helvetica" pitchFamily="26" charset="0"/>
              </a:rPr>
              <a:t>Insertion and deletion are </a:t>
            </a:r>
            <a:r>
              <a:rPr lang="en-US" sz="2800" dirty="0" smtClean="0">
                <a:latin typeface="Helvetica" pitchFamily="26" charset="0"/>
                <a:sym typeface="Symbol" pitchFamily="26" charset="2"/>
              </a:rPr>
              <a:t></a:t>
            </a:r>
            <a:r>
              <a:rPr lang="en-US" sz="2800" dirty="0" smtClean="0">
                <a:latin typeface="Helvetica" pitchFamily="26" charset="0"/>
              </a:rPr>
              <a:t>(</a:t>
            </a:r>
            <a:r>
              <a:rPr lang="en-US" sz="2800" i="1" dirty="0" smtClean="0">
                <a:latin typeface="Helvetica" pitchFamily="26" charset="0"/>
              </a:rPr>
              <a:t>n</a:t>
            </a:r>
            <a:r>
              <a:rPr lang="en-US" sz="2800" dirty="0" smtClean="0">
                <a:latin typeface="Helvetica" pitchFamily="26" charset="0"/>
              </a:rPr>
              <a:t>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46" y="2399723"/>
            <a:ext cx="8610116" cy="21722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83" y="4515272"/>
            <a:ext cx="7909851" cy="234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6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FA9FB6-76E7-4C47-93F8-94122DE764C8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dirty="0" smtClean="0">
                <a:latin typeface="Helvetica" pitchFamily="26" charset="0"/>
              </a:rPr>
              <a:t>Comparison of Implementations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279526"/>
            <a:ext cx="8226425" cy="1451398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Array-Based Lists:</a:t>
            </a:r>
          </a:p>
          <a:p>
            <a:pPr>
              <a:lnSpc>
                <a:spcPct val="70000"/>
              </a:lnSpc>
            </a:pPr>
            <a:r>
              <a:rPr lang="en-US" sz="2800" dirty="0" smtClean="0">
                <a:latin typeface="Helvetica" pitchFamily="26" charset="0"/>
              </a:rPr>
              <a:t>Insertion and deletion are </a:t>
            </a:r>
            <a:r>
              <a:rPr lang="en-US" sz="2800" dirty="0" smtClean="0">
                <a:latin typeface="Helvetica" pitchFamily="26" charset="0"/>
                <a:sym typeface="Symbol" pitchFamily="26" charset="2"/>
              </a:rPr>
              <a:t></a:t>
            </a:r>
            <a:r>
              <a:rPr lang="en-US" sz="2800" dirty="0" smtClean="0">
                <a:latin typeface="Helvetica" pitchFamily="26" charset="0"/>
              </a:rPr>
              <a:t>(</a:t>
            </a:r>
            <a:r>
              <a:rPr lang="en-US" sz="2800" i="1" dirty="0" smtClean="0">
                <a:latin typeface="Helvetica" pitchFamily="26" charset="0"/>
              </a:rPr>
              <a:t>n</a:t>
            </a:r>
            <a:r>
              <a:rPr lang="en-US" sz="2800" dirty="0" smtClean="0">
                <a:latin typeface="Helvetica" pitchFamily="26" charset="0"/>
              </a:rPr>
              <a:t>).</a:t>
            </a:r>
          </a:p>
          <a:p>
            <a:pPr>
              <a:lnSpc>
                <a:spcPct val="70000"/>
              </a:lnSpc>
            </a:pPr>
            <a:r>
              <a:rPr lang="en-US" sz="2800" dirty="0" err="1">
                <a:latin typeface="Helvetica" pitchFamily="26" charset="0"/>
              </a:rPr>
              <a:t>Prev</a:t>
            </a:r>
            <a:r>
              <a:rPr lang="en-US" sz="2800" dirty="0">
                <a:latin typeface="Helvetica" pitchFamily="26" charset="0"/>
              </a:rPr>
              <a:t> and </a:t>
            </a:r>
            <a:r>
              <a:rPr lang="en-US" sz="2800" dirty="0" smtClean="0">
                <a:latin typeface="Helvetica" pitchFamily="26" charset="0"/>
              </a:rPr>
              <a:t>accessing a specific position </a:t>
            </a:r>
            <a:r>
              <a:rPr lang="en-US" sz="2800" dirty="0">
                <a:latin typeface="Helvetica" pitchFamily="26" charset="0"/>
              </a:rPr>
              <a:t>are </a:t>
            </a:r>
            <a:r>
              <a:rPr lang="en-US" sz="2800" dirty="0">
                <a:latin typeface="Helvetica" pitchFamily="26" charset="0"/>
                <a:sym typeface="Symbol" pitchFamily="26" charset="2"/>
              </a:rPr>
              <a:t></a:t>
            </a:r>
            <a:r>
              <a:rPr lang="en-US" sz="2800" dirty="0">
                <a:latin typeface="Helvetica" pitchFamily="26" charset="0"/>
              </a:rPr>
              <a:t>(1</a:t>
            </a:r>
            <a:r>
              <a:rPr lang="en-US" sz="2800" dirty="0" smtClean="0">
                <a:latin typeface="Helvetica" pitchFamily="26" charset="0"/>
              </a:rPr>
              <a:t>).</a:t>
            </a:r>
            <a:endParaRPr lang="en-US" sz="2800" dirty="0">
              <a:latin typeface="Helvetica" pitchFamily="2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3" y="2576725"/>
            <a:ext cx="6630987" cy="4219719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152400" y="2971800"/>
            <a:ext cx="303213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/>
          <p:cNvSpPr/>
          <p:nvPr/>
        </p:nvSpPr>
        <p:spPr>
          <a:xfrm>
            <a:off x="6858000" y="4495800"/>
            <a:ext cx="533400" cy="22256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389813" y="4760186"/>
            <a:ext cx="1601787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Helvetica" pitchFamily="26" charset="0"/>
              </a:rPr>
              <a:t>accessing a specific </a:t>
            </a:r>
            <a:r>
              <a:rPr lang="en-US" dirty="0" smtClean="0">
                <a:latin typeface="Helvetica" pitchFamily="26" charset="0"/>
              </a:rPr>
              <a:t>position:</a:t>
            </a:r>
          </a:p>
          <a:p>
            <a:r>
              <a:rPr lang="en-US" dirty="0" err="1" smtClean="0">
                <a:latin typeface="Helvetica" pitchFamily="26" charset="0"/>
              </a:rPr>
              <a:t>moveToPos</a:t>
            </a:r>
            <a:r>
              <a:rPr lang="en-US" dirty="0" smtClean="0">
                <a:latin typeface="Helvetica" pitchFamily="26" charset="0"/>
              </a:rPr>
              <a:t>()</a:t>
            </a:r>
          </a:p>
          <a:p>
            <a:r>
              <a:rPr lang="en-US" dirty="0" err="1" smtClean="0">
                <a:latin typeface="Helvetica" pitchFamily="26" charset="0"/>
              </a:rPr>
              <a:t>getValue</a:t>
            </a:r>
            <a:r>
              <a:rPr lang="en-US" dirty="0" smtClean="0">
                <a:latin typeface="Helvetica" pitchFamily="26" charset="0"/>
              </a:rPr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FA9FB6-76E7-4C47-93F8-94122DE764C8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Comparison of Implementations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762000"/>
          </a:xfrm>
        </p:spPr>
        <p:txBody>
          <a:bodyPr>
            <a:normAutofit lnSpcReduction="10000"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Linked Lists:</a:t>
            </a:r>
          </a:p>
          <a:p>
            <a:pPr>
              <a:lnSpc>
                <a:spcPct val="70000"/>
              </a:lnSpc>
            </a:pPr>
            <a:r>
              <a:rPr lang="en-US" sz="2800" dirty="0" smtClean="0">
                <a:latin typeface="Helvetica" pitchFamily="26" charset="0"/>
              </a:rPr>
              <a:t>Insertion and deletion are </a:t>
            </a:r>
            <a:r>
              <a:rPr lang="en-US" sz="2800" dirty="0" smtClean="0">
                <a:latin typeface="Helvetica" pitchFamily="26" charset="0"/>
                <a:sym typeface="Symbol" pitchFamily="26" charset="2"/>
              </a:rPr>
              <a:t></a:t>
            </a:r>
            <a:r>
              <a:rPr lang="en-US" sz="2800" dirty="0" smtClean="0">
                <a:latin typeface="Helvetica" pitchFamily="26" charset="0"/>
              </a:rPr>
              <a:t>(1)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62" y="2349500"/>
            <a:ext cx="6181725" cy="4371975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1066800" y="2819400"/>
            <a:ext cx="381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1066800" y="5562600"/>
            <a:ext cx="381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FA9FB6-76E7-4C47-93F8-94122DE764C8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Comparison of Implementations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45720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Linked Lists:</a:t>
            </a:r>
          </a:p>
          <a:p>
            <a:pPr>
              <a:lnSpc>
                <a:spcPct val="70000"/>
              </a:lnSpc>
            </a:pPr>
            <a:r>
              <a:rPr lang="en-US" sz="2800" dirty="0" smtClean="0">
                <a:latin typeface="Helvetica" pitchFamily="26" charset="0"/>
              </a:rPr>
              <a:t>Insertion and deletion are </a:t>
            </a:r>
            <a:r>
              <a:rPr lang="en-US" sz="2800" dirty="0" smtClean="0">
                <a:latin typeface="Helvetica" pitchFamily="26" charset="0"/>
                <a:sym typeface="Symbol" pitchFamily="26" charset="2"/>
              </a:rPr>
              <a:t></a:t>
            </a:r>
            <a:r>
              <a:rPr lang="en-US" sz="2800" dirty="0" smtClean="0">
                <a:latin typeface="Helvetica" pitchFamily="26" charset="0"/>
              </a:rPr>
              <a:t>(1).</a:t>
            </a:r>
          </a:p>
          <a:p>
            <a:pPr>
              <a:lnSpc>
                <a:spcPct val="70000"/>
              </a:lnSpc>
            </a:pPr>
            <a:r>
              <a:rPr lang="en-US" sz="2800" dirty="0" err="1" smtClean="0">
                <a:latin typeface="Helvetica" pitchFamily="26" charset="0"/>
              </a:rPr>
              <a:t>Prev</a:t>
            </a:r>
            <a:r>
              <a:rPr lang="en-US" sz="2800" dirty="0" smtClean="0">
                <a:latin typeface="Helvetica" pitchFamily="26" charset="0"/>
              </a:rPr>
              <a:t> and </a:t>
            </a:r>
            <a:r>
              <a:rPr lang="en-US" sz="2800" dirty="0">
                <a:latin typeface="Helvetica" pitchFamily="26" charset="0"/>
              </a:rPr>
              <a:t>accessing a specific position are </a:t>
            </a:r>
            <a:r>
              <a:rPr lang="en-US" sz="2800" dirty="0" smtClean="0">
                <a:latin typeface="Helvetica" pitchFamily="26" charset="0"/>
                <a:sym typeface="Symbol" pitchFamily="26" charset="2"/>
              </a:rPr>
              <a:t></a:t>
            </a:r>
            <a:r>
              <a:rPr lang="en-US" sz="2800" dirty="0" smtClean="0">
                <a:latin typeface="Helvetica" pitchFamily="26" charset="0"/>
              </a:rPr>
              <a:t>(</a:t>
            </a:r>
            <a:r>
              <a:rPr lang="en-US" sz="2800" i="1" dirty="0" smtClean="0">
                <a:latin typeface="Helvetica" pitchFamily="26" charset="0"/>
              </a:rPr>
              <a:t>n</a:t>
            </a:r>
            <a:r>
              <a:rPr lang="en-US" sz="2800" dirty="0" smtClean="0">
                <a:latin typeface="Helvetica" pitchFamily="26" charset="0"/>
              </a:rPr>
              <a:t>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95600"/>
            <a:ext cx="6067425" cy="1552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06925"/>
            <a:ext cx="6086475" cy="2114550"/>
          </a:xfrm>
          <a:prstGeom prst="rect">
            <a:avLst/>
          </a:prstGeom>
        </p:spPr>
      </p:pic>
      <p:sp>
        <p:nvSpPr>
          <p:cNvPr id="7" name="Right Brace 6"/>
          <p:cNvSpPr/>
          <p:nvPr/>
        </p:nvSpPr>
        <p:spPr>
          <a:xfrm>
            <a:off x="6858000" y="4495800"/>
            <a:ext cx="533400" cy="22256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389813" y="4760186"/>
            <a:ext cx="1601787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Helvetica" pitchFamily="26" charset="0"/>
              </a:rPr>
              <a:t>accessing a specific </a:t>
            </a:r>
            <a:r>
              <a:rPr lang="en-US" dirty="0" smtClean="0">
                <a:latin typeface="Helvetica" pitchFamily="26" charset="0"/>
              </a:rPr>
              <a:t>position:</a:t>
            </a:r>
          </a:p>
          <a:p>
            <a:r>
              <a:rPr lang="en-US" dirty="0" err="1" smtClean="0">
                <a:latin typeface="Helvetica" pitchFamily="26" charset="0"/>
              </a:rPr>
              <a:t>moveToPos</a:t>
            </a:r>
            <a:r>
              <a:rPr lang="en-US" dirty="0" smtClean="0">
                <a:latin typeface="Helvetica" pitchFamily="26" charset="0"/>
              </a:rPr>
              <a:t>()</a:t>
            </a:r>
          </a:p>
          <a:p>
            <a:r>
              <a:rPr lang="en-US" dirty="0" err="1" smtClean="0">
                <a:latin typeface="Helvetica" pitchFamily="26" charset="0"/>
              </a:rPr>
              <a:t>getValue</a:t>
            </a:r>
            <a:r>
              <a:rPr lang="en-US" dirty="0" smtClean="0">
                <a:latin typeface="Helvetica" pitchFamily="26" charset="0"/>
              </a:rPr>
              <a:t>()</a:t>
            </a:r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304800" y="3505200"/>
            <a:ext cx="381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5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Helvetica" pitchFamily="26" charset="0"/>
              </a:rPr>
              <a:t>Comparison of Implementations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038600" cy="5121275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sz="3600" dirty="0" smtClean="0">
                <a:latin typeface="Helvetica" pitchFamily="26" charset="0"/>
              </a:rPr>
              <a:t>Array-Based Lists:</a:t>
            </a:r>
          </a:p>
          <a:p>
            <a:pPr>
              <a:lnSpc>
                <a:spcPct val="70000"/>
              </a:lnSpc>
            </a:pPr>
            <a:r>
              <a:rPr lang="en-US" sz="3600" dirty="0" smtClean="0">
                <a:latin typeface="Helvetica" pitchFamily="26" charset="0"/>
              </a:rPr>
              <a:t>Insertion and deletion are </a:t>
            </a:r>
            <a:r>
              <a:rPr lang="en-US" sz="3600" dirty="0" smtClean="0">
                <a:latin typeface="Helvetica" pitchFamily="26" charset="0"/>
                <a:sym typeface="Symbol" pitchFamily="26" charset="2"/>
              </a:rPr>
              <a:t></a:t>
            </a:r>
            <a:r>
              <a:rPr lang="en-US" sz="3600" dirty="0" smtClean="0">
                <a:latin typeface="Helvetica" pitchFamily="26" charset="0"/>
              </a:rPr>
              <a:t>(</a:t>
            </a:r>
            <a:r>
              <a:rPr lang="en-US" sz="3600" i="1" dirty="0" smtClean="0">
                <a:latin typeface="Helvetica" pitchFamily="26" charset="0"/>
              </a:rPr>
              <a:t>n</a:t>
            </a:r>
            <a:r>
              <a:rPr lang="en-US" sz="3600" dirty="0" smtClean="0">
                <a:latin typeface="Helvetica" pitchFamily="26" charset="0"/>
              </a:rPr>
              <a:t>).</a:t>
            </a:r>
          </a:p>
          <a:p>
            <a:pPr>
              <a:lnSpc>
                <a:spcPct val="70000"/>
              </a:lnSpc>
            </a:pPr>
            <a:r>
              <a:rPr lang="en-US" sz="3600" dirty="0" err="1" smtClean="0">
                <a:latin typeface="Helvetica" pitchFamily="26" charset="0"/>
              </a:rPr>
              <a:t>Prev</a:t>
            </a:r>
            <a:r>
              <a:rPr lang="en-US" sz="3600" dirty="0" smtClean="0">
                <a:latin typeface="Helvetica" pitchFamily="26" charset="0"/>
              </a:rPr>
              <a:t> and direct access are </a:t>
            </a:r>
            <a:r>
              <a:rPr lang="en-US" sz="3600" dirty="0" smtClean="0">
                <a:latin typeface="Helvetica" pitchFamily="26" charset="0"/>
                <a:sym typeface="Symbol" pitchFamily="26" charset="2"/>
              </a:rPr>
              <a:t></a:t>
            </a:r>
            <a:r>
              <a:rPr lang="en-US" sz="3600" dirty="0" smtClean="0">
                <a:latin typeface="Helvetica" pitchFamily="26" charset="0"/>
              </a:rPr>
              <a:t>(1).</a:t>
            </a:r>
          </a:p>
          <a:p>
            <a:pPr>
              <a:lnSpc>
                <a:spcPct val="70000"/>
              </a:lnSpc>
            </a:pPr>
            <a:r>
              <a:rPr lang="en-US" sz="3600" dirty="0" smtClean="0">
                <a:latin typeface="Helvetica" pitchFamily="26" charset="0"/>
              </a:rPr>
              <a:t>Array must be allocated in advance.</a:t>
            </a:r>
          </a:p>
          <a:p>
            <a:pPr>
              <a:lnSpc>
                <a:spcPct val="70000"/>
              </a:lnSpc>
            </a:pPr>
            <a:r>
              <a:rPr lang="en-US" sz="3600" dirty="0" smtClean="0">
                <a:latin typeface="Helvetica" pitchFamily="26" charset="0"/>
              </a:rPr>
              <a:t>No overhead if all array positions are full.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sz="3600" dirty="0">
                <a:latin typeface="Helvetica" pitchFamily="26" charset="0"/>
              </a:rPr>
              <a:t>Linked Lists:</a:t>
            </a:r>
          </a:p>
          <a:p>
            <a:pPr>
              <a:lnSpc>
                <a:spcPct val="70000"/>
              </a:lnSpc>
            </a:pPr>
            <a:r>
              <a:rPr lang="en-US" sz="3600" dirty="0">
                <a:latin typeface="Helvetica" pitchFamily="26" charset="0"/>
              </a:rPr>
              <a:t>Insertion and deletion are </a:t>
            </a:r>
            <a:r>
              <a:rPr lang="en-US" sz="3600" dirty="0">
                <a:latin typeface="Helvetica" pitchFamily="26" charset="0"/>
                <a:sym typeface="Symbol" pitchFamily="26" charset="2"/>
              </a:rPr>
              <a:t></a:t>
            </a:r>
            <a:r>
              <a:rPr lang="en-US" sz="3600" dirty="0">
                <a:latin typeface="Helvetica" pitchFamily="26" charset="0"/>
              </a:rPr>
              <a:t>(1).</a:t>
            </a:r>
          </a:p>
          <a:p>
            <a:pPr>
              <a:lnSpc>
                <a:spcPct val="70000"/>
              </a:lnSpc>
            </a:pPr>
            <a:r>
              <a:rPr lang="en-US" sz="3600" dirty="0" err="1">
                <a:latin typeface="Helvetica" pitchFamily="26" charset="0"/>
              </a:rPr>
              <a:t>Prev</a:t>
            </a:r>
            <a:r>
              <a:rPr lang="en-US" sz="3600" dirty="0">
                <a:latin typeface="Helvetica" pitchFamily="26" charset="0"/>
              </a:rPr>
              <a:t> and direct access are </a:t>
            </a:r>
            <a:r>
              <a:rPr lang="en-US" sz="3600" dirty="0">
                <a:latin typeface="Helvetica" pitchFamily="26" charset="0"/>
                <a:sym typeface="Symbol" pitchFamily="26" charset="2"/>
              </a:rPr>
              <a:t></a:t>
            </a:r>
            <a:r>
              <a:rPr lang="en-US" sz="3600" dirty="0">
                <a:latin typeface="Helvetica" pitchFamily="26" charset="0"/>
              </a:rPr>
              <a:t>(</a:t>
            </a:r>
            <a:r>
              <a:rPr lang="en-US" sz="3600" i="1" dirty="0">
                <a:latin typeface="Helvetica" pitchFamily="26" charset="0"/>
              </a:rPr>
              <a:t>n</a:t>
            </a:r>
            <a:r>
              <a:rPr lang="en-US" sz="3600" dirty="0">
                <a:latin typeface="Helvetica" pitchFamily="26" charset="0"/>
              </a:rPr>
              <a:t>).</a:t>
            </a:r>
          </a:p>
          <a:p>
            <a:pPr>
              <a:lnSpc>
                <a:spcPct val="70000"/>
              </a:lnSpc>
            </a:pPr>
            <a:r>
              <a:rPr lang="en-US" sz="3600" dirty="0">
                <a:latin typeface="Helvetica" pitchFamily="26" charset="0"/>
              </a:rPr>
              <a:t>Space grows with number of elements.</a:t>
            </a:r>
          </a:p>
          <a:p>
            <a:pPr>
              <a:lnSpc>
                <a:spcPct val="70000"/>
              </a:lnSpc>
            </a:pPr>
            <a:r>
              <a:rPr lang="en-US" sz="3600" dirty="0">
                <a:latin typeface="Helvetica" pitchFamily="26" charset="0"/>
              </a:rPr>
              <a:t>Every element requires overhead</a:t>
            </a:r>
            <a:r>
              <a:rPr lang="en-US" sz="3600" dirty="0" smtClean="0">
                <a:latin typeface="Helvetica" pitchFamily="26" charset="0"/>
              </a:rPr>
              <a:t>.</a:t>
            </a:r>
            <a:endParaRPr lang="en-US" sz="3600" dirty="0"/>
          </a:p>
        </p:txBody>
      </p:sp>
      <p:sp>
        <p:nvSpPr>
          <p:cNvPr id="1044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FA9FB6-76E7-4C47-93F8-94122DE764C8}" type="slidenum">
              <a:rPr lang="en-US" smtClean="0"/>
              <a:pPr/>
              <a:t>10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1634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23EC70C-A5EC-4138-A315-0CE0F8A7CCB6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Space Comparison</a:t>
            </a:r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5792787" cy="45720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buFontTx/>
              <a:buNone/>
            </a:pPr>
            <a:r>
              <a:rPr lang="en-US" sz="2400" dirty="0" smtClean="0">
                <a:latin typeface="Helvetica" pitchFamily="26" charset="0"/>
              </a:rPr>
              <a:t>When the array based implementation is better in space?</a:t>
            </a:r>
          </a:p>
          <a:p>
            <a:pPr>
              <a:lnSpc>
                <a:spcPct val="170000"/>
              </a:lnSpc>
              <a:buFontTx/>
              <a:buNone/>
            </a:pPr>
            <a:r>
              <a:rPr lang="en-US" sz="2400" i="1" dirty="0" smtClean="0">
                <a:latin typeface="Helvetica" pitchFamily="26" charset="0"/>
              </a:rPr>
              <a:t>n</a:t>
            </a:r>
            <a:r>
              <a:rPr lang="en-US" sz="2400" dirty="0" smtClean="0">
                <a:latin typeface="Helvetica" pitchFamily="26" charset="0"/>
              </a:rPr>
              <a:t>(</a:t>
            </a:r>
            <a:r>
              <a:rPr lang="en-US" sz="2400" i="1" dirty="0" smtClean="0">
                <a:latin typeface="Helvetica" pitchFamily="26" charset="0"/>
              </a:rPr>
              <a:t>P</a:t>
            </a:r>
            <a:r>
              <a:rPr lang="en-US" sz="2400" dirty="0" smtClean="0">
                <a:latin typeface="Helvetica" pitchFamily="26" charset="0"/>
              </a:rPr>
              <a:t> + </a:t>
            </a:r>
            <a:r>
              <a:rPr lang="en-US" sz="2400" i="1" dirty="0" smtClean="0">
                <a:latin typeface="Helvetica" pitchFamily="26" charset="0"/>
              </a:rPr>
              <a:t>E</a:t>
            </a:r>
            <a:r>
              <a:rPr lang="en-US" sz="2400" dirty="0" smtClean="0">
                <a:latin typeface="Helvetica" pitchFamily="26" charset="0"/>
              </a:rPr>
              <a:t>) &gt; DE  </a:t>
            </a:r>
            <a:r>
              <a:rPr lang="en-US" sz="2400" i="1" dirty="0" smtClean="0">
                <a:latin typeface="Helvetica" pitchFamily="26" charset="0"/>
              </a:rPr>
              <a:t>=&gt; n</a:t>
            </a:r>
            <a:r>
              <a:rPr lang="en-US" sz="2400" dirty="0" smtClean="0">
                <a:latin typeface="Helvetica" pitchFamily="26" charset="0"/>
              </a:rPr>
              <a:t> &gt; </a:t>
            </a:r>
            <a:r>
              <a:rPr lang="en-US" sz="2400" i="1" dirty="0" smtClean="0">
                <a:latin typeface="Helvetica" pitchFamily="26" charset="0"/>
              </a:rPr>
              <a:t>DE/(P+E)</a:t>
            </a:r>
            <a:r>
              <a:rPr lang="en-US" sz="2400" i="1" u="sng" dirty="0" smtClean="0">
                <a:latin typeface="Helvetica" pitchFamily="26" charset="0"/>
              </a:rPr>
              <a:t>   </a:t>
            </a:r>
          </a:p>
          <a:p>
            <a:pPr>
              <a:lnSpc>
                <a:spcPct val="170000"/>
              </a:lnSpc>
              <a:buFontTx/>
              <a:buNone/>
            </a:pPr>
            <a:r>
              <a:rPr lang="en-US" sz="2400" i="1" dirty="0" smtClean="0">
                <a:latin typeface="Helvetica" pitchFamily="26" charset="0"/>
              </a:rPr>
              <a:t>If P=E, the point is at D/2.</a:t>
            </a:r>
          </a:p>
          <a:p>
            <a:pPr>
              <a:lnSpc>
                <a:spcPct val="170000"/>
              </a:lnSpc>
            </a:pPr>
            <a:r>
              <a:rPr lang="en-US" sz="2400" dirty="0" smtClean="0"/>
              <a:t>That is, the array-based implementation would be more efficient (if the link field and the element field are the same size) whenever the array is more than half full.</a:t>
            </a:r>
            <a:endParaRPr lang="en-US" sz="2400" dirty="0" smtClean="0">
              <a:latin typeface="Helvetica" pitchFamily="26" charset="0"/>
            </a:endParaRPr>
          </a:p>
          <a:p>
            <a:pPr>
              <a:lnSpc>
                <a:spcPct val="170000"/>
              </a:lnSpc>
              <a:buFontTx/>
              <a:buNone/>
            </a:pPr>
            <a:r>
              <a:rPr lang="en-US" sz="2400" dirty="0" smtClean="0">
                <a:latin typeface="Helvetica" pitchFamily="26" charset="0"/>
              </a:rPr>
              <a:t> 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792787" y="1752600"/>
            <a:ext cx="3326275" cy="304698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n: The number of current elements</a:t>
            </a:r>
          </a:p>
          <a:p>
            <a:r>
              <a:rPr lang="en-US" sz="2400" dirty="0"/>
              <a:t>E: Space for data value.</a:t>
            </a:r>
          </a:p>
          <a:p>
            <a:r>
              <a:rPr lang="en-US" sz="2400" dirty="0"/>
              <a:t>P: Space for pointer.</a:t>
            </a:r>
          </a:p>
          <a:p>
            <a:r>
              <a:rPr lang="en-US" sz="2400" dirty="0"/>
              <a:t>D: Maximum number of elements for array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Array </a:t>
            </a:r>
            <a:r>
              <a:rPr lang="en-US" sz="2400" dirty="0" smtClean="0"/>
              <a:t>Based space: </a:t>
            </a:r>
            <a:r>
              <a:rPr lang="en-US" sz="2400" dirty="0" smtClean="0"/>
              <a:t>DE</a:t>
            </a:r>
          </a:p>
          <a:p>
            <a:r>
              <a:rPr lang="en-US" sz="2400" dirty="0" smtClean="0"/>
              <a:t>LL </a:t>
            </a:r>
            <a:r>
              <a:rPr lang="en-US" sz="2400" dirty="0" smtClean="0"/>
              <a:t>based space: </a:t>
            </a:r>
            <a:r>
              <a:rPr lang="en-US" sz="2400" dirty="0" smtClean="0"/>
              <a:t>(E+P)*n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 of Thumb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linked lists are more space efficient when implementing lists whose number of elements varies widely or is unknown. </a:t>
            </a:r>
          </a:p>
          <a:p>
            <a:r>
              <a:rPr lang="en-US" dirty="0" smtClean="0"/>
              <a:t>Array-based lists are generally more space efficient when the user knows in advance approximately how large the list will become.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Doubly Linked List Concept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1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/>
              <a:t>Doubly Linked List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92100" y="1086644"/>
            <a:ext cx="8394700" cy="3051175"/>
          </a:xfrm>
        </p:spPr>
        <p:txBody>
          <a:bodyPr>
            <a:noAutofit/>
          </a:bodyPr>
          <a:lstStyle/>
          <a:p>
            <a:r>
              <a:rPr lang="en-US" altLang="en-US" dirty="0" smtClean="0"/>
              <a:t>In the single linked list, we can only traverse in one direction. </a:t>
            </a:r>
          </a:p>
          <a:p>
            <a:r>
              <a:rPr lang="en-US" altLang="en-US" dirty="0" smtClean="0"/>
              <a:t>Sometimes, it is very desirable to traverse a linked list in either a forward or reverse manner. </a:t>
            </a:r>
          </a:p>
        </p:txBody>
      </p:sp>
      <p:graphicFrame>
        <p:nvGraphicFramePr>
          <p:cNvPr id="178180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77884077"/>
              </p:ext>
            </p:extLst>
          </p:nvPr>
        </p:nvGraphicFramePr>
        <p:xfrm>
          <a:off x="2970213" y="4724400"/>
          <a:ext cx="2655887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8" name="Bitmap Image" r:id="rId3" imgW="2123810" imgH="476316" progId="Paint.Picture">
                  <p:embed/>
                </p:oleObj>
              </mc:Choice>
              <mc:Fallback>
                <p:oleObj name="Bitmap Image" r:id="rId3" imgW="2123810" imgH="476316" progId="Paint.Picture">
                  <p:embed/>
                  <p:pic>
                    <p:nvPicPr>
                      <p:cNvPr id="1781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4724400"/>
                        <a:ext cx="2655887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1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733577794"/>
              </p:ext>
            </p:extLst>
          </p:nvPr>
        </p:nvGraphicFramePr>
        <p:xfrm>
          <a:off x="2424113" y="5743575"/>
          <a:ext cx="3919537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9" name="Bitmap Image" r:id="rId5" imgW="4476190" imgH="895238" progId="Paint.Picture">
                  <p:embed/>
                </p:oleObj>
              </mc:Choice>
              <mc:Fallback>
                <p:oleObj name="Bitmap Image" r:id="rId5" imgW="4476190" imgH="895238" progId="Paint.Picture">
                  <p:embed/>
                  <p:pic>
                    <p:nvPicPr>
                      <p:cNvPr id="1781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EFEFE"/>
                          </a:clrFrom>
                          <a:clrTo>
                            <a:srgbClr val="FEFEFE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5743575"/>
                        <a:ext cx="3919537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489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Basic Operations of Doubly Linked Lists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91836" y="1905000"/>
            <a:ext cx="8229600" cy="273685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 smtClean="0">
                <a:solidFill>
                  <a:srgbClr val="000099"/>
                </a:solidFill>
              </a:rPr>
              <a:t>Insert</a:t>
            </a:r>
            <a:r>
              <a:rPr lang="en-US" altLang="en-US" dirty="0" smtClean="0"/>
              <a:t>: Add a new node in the first, last or interior of the list.</a:t>
            </a:r>
          </a:p>
          <a:p>
            <a:r>
              <a:rPr lang="en-US" altLang="en-US" dirty="0" smtClean="0">
                <a:solidFill>
                  <a:srgbClr val="000099"/>
                </a:solidFill>
              </a:rPr>
              <a:t>Delete</a:t>
            </a:r>
            <a:r>
              <a:rPr lang="en-US" altLang="en-US" dirty="0" smtClean="0"/>
              <a:t>: Delete a node from the first, last or interior of the list.</a:t>
            </a:r>
          </a:p>
          <a:p>
            <a:r>
              <a:rPr lang="en-US" altLang="en-US" dirty="0" smtClean="0">
                <a:solidFill>
                  <a:srgbClr val="000099"/>
                </a:solidFill>
              </a:rPr>
              <a:t>Search</a:t>
            </a:r>
            <a:r>
              <a:rPr lang="en-US" altLang="en-US" dirty="0" smtClean="0"/>
              <a:t>: Search a node containing particular value in the linked list.</a:t>
            </a:r>
          </a:p>
        </p:txBody>
      </p:sp>
    </p:spTree>
    <p:extLst>
      <p:ext uri="{BB962C8B-B14F-4D97-AF65-F5344CB8AC3E}">
        <p14:creationId xmlns:p14="http://schemas.microsoft.com/office/powerpoint/2010/main" val="18056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76275" y="0"/>
            <a:ext cx="8267700" cy="844550"/>
          </a:xfrm>
        </p:spPr>
        <p:txBody>
          <a:bodyPr/>
          <a:lstStyle/>
          <a:p>
            <a:r>
              <a:rPr lang="en-US" altLang="en-US" sz="2800" smtClean="0"/>
              <a:t>Insert First or Insert Last into a Doubly Linked List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3063" y="1298575"/>
            <a:ext cx="8474075" cy="414655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 To add a new node to the head and tail of a double linked list is similar to the linear linked list. </a:t>
            </a:r>
          </a:p>
          <a:p>
            <a:r>
              <a:rPr lang="en-US" altLang="en-US" sz="2800" dirty="0" smtClean="0"/>
              <a:t>First, we need to construct a new node that is pointed by pointer </a:t>
            </a:r>
            <a:r>
              <a:rPr lang="en-US" altLang="en-US" sz="2800" i="1" dirty="0" err="1" smtClean="0"/>
              <a:t>newItem</a:t>
            </a:r>
            <a:r>
              <a:rPr lang="en-US" altLang="en-US" sz="2800" dirty="0" smtClean="0"/>
              <a:t>. </a:t>
            </a:r>
          </a:p>
          <a:p>
            <a:r>
              <a:rPr lang="en-US" altLang="en-US" sz="2800" dirty="0" smtClean="0"/>
              <a:t>Then the </a:t>
            </a:r>
            <a:r>
              <a:rPr lang="en-US" altLang="en-US" sz="2800" dirty="0" err="1" smtClean="0"/>
              <a:t>newItem</a:t>
            </a:r>
            <a:r>
              <a:rPr lang="en-US" altLang="en-US" sz="2800" dirty="0" smtClean="0"/>
              <a:t> is linked to the left-most node (or right-most node) in the list. Finally, the </a:t>
            </a:r>
            <a:r>
              <a:rPr lang="en-US" altLang="en-US" sz="2800" i="1" dirty="0" smtClean="0"/>
              <a:t>Left</a:t>
            </a:r>
            <a:r>
              <a:rPr lang="en-US" altLang="en-US" sz="2800" dirty="0" smtClean="0"/>
              <a:t> (or </a:t>
            </a:r>
            <a:r>
              <a:rPr lang="en-US" altLang="en-US" sz="2800" i="1" dirty="0" smtClean="0"/>
              <a:t>Right</a:t>
            </a:r>
            <a:r>
              <a:rPr lang="en-US" altLang="en-US" sz="2800" dirty="0" smtClean="0"/>
              <a:t>) is set to point to the new node. </a:t>
            </a:r>
          </a:p>
        </p:txBody>
      </p:sp>
    </p:spTree>
    <p:extLst>
      <p:ext uri="{BB962C8B-B14F-4D97-AF65-F5344CB8AC3E}">
        <p14:creationId xmlns:p14="http://schemas.microsoft.com/office/powerpoint/2010/main" val="110788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 sz="quarter" idx="4294967295"/>
          </p:nvPr>
        </p:nvSpPr>
        <p:spPr>
          <a:xfrm>
            <a:off x="415925" y="22225"/>
            <a:ext cx="8229600" cy="1143000"/>
          </a:xfrm>
        </p:spPr>
        <p:txBody>
          <a:bodyPr/>
          <a:lstStyle/>
          <a:p>
            <a:r>
              <a:rPr lang="en-US" altLang="en-US" dirty="0" smtClean="0"/>
              <a:t>Insert Interior of Doubly Linked List</a:t>
            </a:r>
          </a:p>
        </p:txBody>
      </p:sp>
      <p:graphicFrame>
        <p:nvGraphicFramePr>
          <p:cNvPr id="181251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09613" y="3235325"/>
          <a:ext cx="3678237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6" name="Bitmap Image" r:id="rId3" imgW="4514286" imgH="1580952" progId="Paint.Picture">
                  <p:embed/>
                </p:oleObj>
              </mc:Choice>
              <mc:Fallback>
                <p:oleObj name="Bitmap Image" r:id="rId3" imgW="4514286" imgH="1580952" progId="Paint.Picture">
                  <p:embed/>
                  <p:pic>
                    <p:nvPicPr>
                      <p:cNvPr id="1812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3" y="3235325"/>
                        <a:ext cx="3678237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2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08025" y="5030788"/>
          <a:ext cx="36957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7" name="Bitmap Image" r:id="rId5" imgW="4933333" imgH="1552792" progId="Paint.Picture">
                  <p:embed/>
                </p:oleObj>
              </mc:Choice>
              <mc:Fallback>
                <p:oleObj name="Bitmap Image" r:id="rId5" imgW="4933333" imgH="1552792" progId="Paint.Picture">
                  <p:embed/>
                  <p:pic>
                    <p:nvPicPr>
                      <p:cNvPr id="1812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5030788"/>
                        <a:ext cx="3695700" cy="135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3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248275" y="3246438"/>
          <a:ext cx="3629025" cy="137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8" name="Bitmap Image" r:id="rId7" imgW="4590476" imgH="1571844" progId="Paint.Picture">
                  <p:embed/>
                </p:oleObj>
              </mc:Choice>
              <mc:Fallback>
                <p:oleObj name="Bitmap Image" r:id="rId7" imgW="4590476" imgH="1571844" progId="Paint.Picture">
                  <p:embed/>
                  <p:pic>
                    <p:nvPicPr>
                      <p:cNvPr id="1812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275" y="3246438"/>
                        <a:ext cx="3629025" cy="1370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4" name="Object 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311775" y="4984750"/>
          <a:ext cx="3630613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9" name="Bitmap Image" r:id="rId9" imgW="4963218" imgH="1600000" progId="Paint.Picture">
                  <p:embed/>
                </p:oleObj>
              </mc:Choice>
              <mc:Fallback>
                <p:oleObj name="Bitmap Image" r:id="rId9" imgW="4963218" imgH="1600000" progId="Paint.Picture">
                  <p:embed/>
                  <p:pic>
                    <p:nvPicPr>
                      <p:cNvPr id="1812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75" y="4984750"/>
                        <a:ext cx="3630613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5" name="Text Box 7"/>
          <p:cNvSpPr txBox="1">
            <a:spLocks noChangeArrowheads="1"/>
          </p:cNvSpPr>
          <p:nvPr/>
        </p:nvSpPr>
        <p:spPr bwMode="auto">
          <a:xfrm>
            <a:off x="255588" y="962025"/>
            <a:ext cx="864870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 dirty="0">
                <a:solidFill>
                  <a:srgbClr val="0000CC"/>
                </a:solidFill>
                <a:latin typeface="Helvetica" panose="020B0604020202020204" pitchFamily="34" charset="0"/>
              </a:rPr>
              <a:t>Step1</a:t>
            </a:r>
            <a:r>
              <a:rPr lang="en-US" altLang="en-US" sz="1800" dirty="0">
                <a:latin typeface="Helvetica" panose="020B0604020202020204" pitchFamily="34" charset="0"/>
              </a:rPr>
              <a:t>. Create a new node that is pointed by </a:t>
            </a:r>
            <a:r>
              <a:rPr lang="en-US" altLang="en-US" sz="1800" i="1" dirty="0" smtClean="0">
                <a:latin typeface="Helvetica" panose="020B0604020202020204" pitchFamily="34" charset="0"/>
              </a:rPr>
              <a:t>new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en-US" sz="1800" dirty="0" smtClean="0">
                <a:solidFill>
                  <a:srgbClr val="0000CC"/>
                </a:solidFill>
                <a:latin typeface="Helvetica" panose="020B0604020202020204" pitchFamily="34" charset="0"/>
              </a:rPr>
              <a:t>Step2</a:t>
            </a:r>
            <a:r>
              <a:rPr lang="en-US" altLang="en-US" sz="1800" i="1" dirty="0">
                <a:latin typeface="Helvetica" panose="020B0604020202020204" pitchFamily="34" charset="0"/>
              </a:rPr>
              <a:t>. </a:t>
            </a:r>
            <a:r>
              <a:rPr lang="en-US" altLang="en-US" sz="1800" dirty="0">
                <a:latin typeface="Helvetica" panose="020B0604020202020204" pitchFamily="34" charset="0"/>
              </a:rPr>
              <a:t>Set the pointer</a:t>
            </a:r>
            <a:r>
              <a:rPr lang="en-US" altLang="en-US" sz="1800" i="1" dirty="0">
                <a:latin typeface="Helvetica" panose="020B0604020202020204" pitchFamily="34" charset="0"/>
              </a:rPr>
              <a:t> </a:t>
            </a:r>
            <a:r>
              <a:rPr lang="en-US" altLang="en-US" sz="1800" i="1" dirty="0" err="1">
                <a:latin typeface="Helvetica" panose="020B0604020202020204" pitchFamily="34" charset="0"/>
              </a:rPr>
              <a:t>prev</a:t>
            </a:r>
            <a:r>
              <a:rPr lang="en-US" altLang="en-US" sz="1800" i="1" dirty="0">
                <a:latin typeface="Helvetica" panose="020B0604020202020204" pitchFamily="34" charset="0"/>
              </a:rPr>
              <a:t> </a:t>
            </a:r>
            <a:r>
              <a:rPr lang="en-US" altLang="en-US" sz="1800" dirty="0">
                <a:latin typeface="Helvetica" panose="020B0604020202020204" pitchFamily="34" charset="0"/>
              </a:rPr>
              <a:t>to point to the left node of the node pointed by</a:t>
            </a:r>
            <a:r>
              <a:rPr lang="en-US" altLang="en-US" sz="1800" i="1" dirty="0">
                <a:latin typeface="Helvetica" panose="020B0604020202020204" pitchFamily="34" charset="0"/>
              </a:rPr>
              <a:t> cur</a:t>
            </a:r>
            <a:r>
              <a:rPr lang="en-US" altLang="en-US" sz="1800" dirty="0">
                <a:latin typeface="Helvetica" panose="020B0604020202020204" pitchFamily="34" charset="0"/>
              </a:rPr>
              <a:t>. 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en-US" sz="1800" dirty="0">
                <a:solidFill>
                  <a:srgbClr val="0000CC"/>
                </a:solidFill>
                <a:latin typeface="Helvetica" panose="020B0604020202020204" pitchFamily="34" charset="0"/>
              </a:rPr>
              <a:t>Step3</a:t>
            </a:r>
            <a:r>
              <a:rPr lang="en-US" altLang="en-US" sz="1800" dirty="0">
                <a:latin typeface="Helvetica" panose="020B0604020202020204" pitchFamily="34" charset="0"/>
              </a:rPr>
              <a:t>. Set the left link of the new node to point to the node pointed by </a:t>
            </a:r>
            <a:r>
              <a:rPr lang="en-US" altLang="en-US" sz="1800" i="1" dirty="0" err="1">
                <a:latin typeface="Helvetica" panose="020B0604020202020204" pitchFamily="34" charset="0"/>
              </a:rPr>
              <a:t>prev</a:t>
            </a:r>
            <a:r>
              <a:rPr lang="en-US" altLang="en-US" sz="1800" dirty="0">
                <a:latin typeface="Helvetica" panose="020B0604020202020204" pitchFamily="34" charset="0"/>
              </a:rPr>
              <a:t>, and the right link of the new node to point to the node pointed by </a:t>
            </a:r>
            <a:r>
              <a:rPr lang="en-US" altLang="en-US" sz="1800" i="1" dirty="0">
                <a:latin typeface="Helvetica" panose="020B0604020202020204" pitchFamily="34" charset="0"/>
              </a:rPr>
              <a:t>cur</a:t>
            </a:r>
            <a:r>
              <a:rPr lang="en-US" altLang="en-US" sz="1800" dirty="0">
                <a:latin typeface="Helvetica" panose="020B0604020202020204" pitchFamily="34" charset="0"/>
              </a:rPr>
              <a:t>. </a:t>
            </a:r>
          </a:p>
          <a:p>
            <a:pPr algn="l" eaLnBrk="0" hangingPunct="0">
              <a:spcBef>
                <a:spcPct val="50000"/>
              </a:spcBef>
            </a:pPr>
            <a:r>
              <a:rPr lang="en-US" altLang="en-US" sz="1800" dirty="0">
                <a:solidFill>
                  <a:srgbClr val="0000CC"/>
                </a:solidFill>
                <a:latin typeface="Helvetica" panose="020B0604020202020204" pitchFamily="34" charset="0"/>
              </a:rPr>
              <a:t>Step4</a:t>
            </a:r>
            <a:r>
              <a:rPr lang="en-US" altLang="en-US" sz="1800" dirty="0">
                <a:latin typeface="Helvetica" panose="020B0604020202020204" pitchFamily="34" charset="0"/>
              </a:rPr>
              <a:t>. Set the right link of the node pointed by </a:t>
            </a:r>
            <a:r>
              <a:rPr lang="en-US" altLang="en-US" sz="1800" i="1" dirty="0" err="1">
                <a:latin typeface="Helvetica" panose="020B0604020202020204" pitchFamily="34" charset="0"/>
              </a:rPr>
              <a:t>prev</a:t>
            </a:r>
            <a:r>
              <a:rPr lang="en-US" altLang="en-US" sz="1800" dirty="0">
                <a:latin typeface="Helvetica" panose="020B0604020202020204" pitchFamily="34" charset="0"/>
              </a:rPr>
              <a:t> and the left link of the node pointed by </a:t>
            </a:r>
            <a:r>
              <a:rPr lang="en-US" altLang="en-US" sz="1800" i="1" dirty="0">
                <a:latin typeface="Helvetica" panose="020B0604020202020204" pitchFamily="34" charset="0"/>
              </a:rPr>
              <a:t>cur</a:t>
            </a:r>
            <a:r>
              <a:rPr lang="en-US" altLang="en-US" sz="1800" dirty="0">
                <a:latin typeface="Helvetica" panose="020B0604020202020204" pitchFamily="34" charset="0"/>
              </a:rPr>
              <a:t> to point to the new node. </a:t>
            </a:r>
          </a:p>
        </p:txBody>
      </p:sp>
      <p:sp>
        <p:nvSpPr>
          <p:cNvPr id="181256" name="Text Box 8"/>
          <p:cNvSpPr txBox="1">
            <a:spLocks noChangeArrowheads="1"/>
          </p:cNvSpPr>
          <p:nvPr/>
        </p:nvSpPr>
        <p:spPr bwMode="auto">
          <a:xfrm>
            <a:off x="0" y="3695700"/>
            <a:ext cx="781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800">
                <a:solidFill>
                  <a:srgbClr val="990000"/>
                </a:solidFill>
                <a:latin typeface="Helvetica" panose="020B0604020202020204" pitchFamily="34" charset="0"/>
              </a:rPr>
              <a:t>Step1</a:t>
            </a:r>
          </a:p>
        </p:txBody>
      </p:sp>
      <p:sp>
        <p:nvSpPr>
          <p:cNvPr id="181257" name="Text Box 9"/>
          <p:cNvSpPr txBox="1">
            <a:spLocks noChangeArrowheads="1"/>
          </p:cNvSpPr>
          <p:nvPr/>
        </p:nvSpPr>
        <p:spPr bwMode="auto">
          <a:xfrm>
            <a:off x="0" y="5451475"/>
            <a:ext cx="781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800">
                <a:solidFill>
                  <a:srgbClr val="990000"/>
                </a:solidFill>
                <a:latin typeface="Helvetica" panose="020B0604020202020204" pitchFamily="34" charset="0"/>
              </a:rPr>
              <a:t>Step3</a:t>
            </a:r>
          </a:p>
        </p:txBody>
      </p:sp>
      <p:sp>
        <p:nvSpPr>
          <p:cNvPr id="181258" name="Text Box 10"/>
          <p:cNvSpPr txBox="1">
            <a:spLocks noChangeArrowheads="1"/>
          </p:cNvSpPr>
          <p:nvPr/>
        </p:nvSpPr>
        <p:spPr bwMode="auto">
          <a:xfrm>
            <a:off x="4530725" y="3800475"/>
            <a:ext cx="781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800">
                <a:solidFill>
                  <a:srgbClr val="990000"/>
                </a:solidFill>
                <a:latin typeface="Helvetica" panose="020B0604020202020204" pitchFamily="34" charset="0"/>
              </a:rPr>
              <a:t>Step2</a:t>
            </a:r>
          </a:p>
        </p:txBody>
      </p:sp>
      <p:sp>
        <p:nvSpPr>
          <p:cNvPr id="181259" name="Text Box 11"/>
          <p:cNvSpPr txBox="1">
            <a:spLocks noChangeArrowheads="1"/>
          </p:cNvSpPr>
          <p:nvPr/>
        </p:nvSpPr>
        <p:spPr bwMode="auto">
          <a:xfrm>
            <a:off x="4594225" y="5453063"/>
            <a:ext cx="781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800">
                <a:solidFill>
                  <a:srgbClr val="990000"/>
                </a:solidFill>
                <a:latin typeface="Helvetica" panose="020B0604020202020204" pitchFamily="34" charset="0"/>
              </a:rPr>
              <a:t>Step4</a:t>
            </a:r>
          </a:p>
        </p:txBody>
      </p:sp>
    </p:spTree>
    <p:extLst>
      <p:ext uri="{BB962C8B-B14F-4D97-AF65-F5344CB8AC3E}">
        <p14:creationId xmlns:p14="http://schemas.microsoft.com/office/powerpoint/2010/main" val="296070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Deletion of Doubly Linked List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3672" y="1524000"/>
            <a:ext cx="8488362" cy="35226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 smtClean="0"/>
              <a:t>To delete a node from a double linked list is easier than to delete a node from a linear linked list. </a:t>
            </a:r>
          </a:p>
          <a:p>
            <a:pPr>
              <a:lnSpc>
                <a:spcPct val="90000"/>
              </a:lnSpc>
            </a:pPr>
            <a:r>
              <a:rPr lang="en-US" altLang="en-US" sz="2400" dirty="0" smtClean="0"/>
              <a:t>For deletion of a node in a single linked list, we have to search and find the predecessor of the discarded node. But in the double linked list, no such search is required. </a:t>
            </a:r>
          </a:p>
          <a:p>
            <a:pPr>
              <a:lnSpc>
                <a:spcPct val="90000"/>
              </a:lnSpc>
            </a:pPr>
            <a:r>
              <a:rPr lang="en-US" altLang="en-US" sz="2400" dirty="0" smtClean="0"/>
              <a:t>Given the address of the node that is to be deleted, the predecessor and successor nodes are immediately known. </a:t>
            </a:r>
          </a:p>
        </p:txBody>
      </p:sp>
    </p:spTree>
    <p:extLst>
      <p:ext uri="{BB962C8B-B14F-4D97-AF65-F5344CB8AC3E}">
        <p14:creationId xmlns:p14="http://schemas.microsoft.com/office/powerpoint/2010/main" val="323797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695325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Deletion of Doubly Linked List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44475" y="969963"/>
            <a:ext cx="8701088" cy="1771650"/>
          </a:xfrm>
        </p:spPr>
        <p:txBody>
          <a:bodyPr/>
          <a:lstStyle/>
          <a:p>
            <a:r>
              <a:rPr lang="en-US" altLang="en-US" sz="2200" dirty="0" smtClean="0">
                <a:solidFill>
                  <a:srgbClr val="0000CC"/>
                </a:solidFill>
              </a:rPr>
              <a:t>Step1</a:t>
            </a:r>
            <a:r>
              <a:rPr lang="en-US" altLang="en-US" sz="2200" dirty="0" smtClean="0"/>
              <a:t>. Set pointer </a:t>
            </a:r>
            <a:r>
              <a:rPr lang="en-US" altLang="en-US" sz="2200" i="1" dirty="0" err="1" smtClean="0"/>
              <a:t>prev</a:t>
            </a:r>
            <a:r>
              <a:rPr lang="en-US" altLang="en-US" sz="2200" dirty="0" smtClean="0"/>
              <a:t> to point to the left node of </a:t>
            </a:r>
            <a:r>
              <a:rPr lang="en-US" altLang="en-US" sz="2200" i="1" dirty="0" smtClean="0"/>
              <a:t>old</a:t>
            </a:r>
            <a:r>
              <a:rPr lang="en-US" altLang="en-US" sz="2200" dirty="0" smtClean="0"/>
              <a:t> and pointer </a:t>
            </a:r>
            <a:r>
              <a:rPr lang="en-US" altLang="en-US" sz="2200" i="1" dirty="0" smtClean="0"/>
              <a:t>cur</a:t>
            </a:r>
            <a:r>
              <a:rPr lang="en-US" altLang="en-US" sz="2200" dirty="0" smtClean="0"/>
              <a:t> to point to the node on the right of </a:t>
            </a:r>
            <a:r>
              <a:rPr lang="en-US" altLang="en-US" sz="2200" i="1" dirty="0" smtClean="0"/>
              <a:t>old</a:t>
            </a:r>
            <a:r>
              <a:rPr lang="en-US" altLang="en-US" sz="2200" dirty="0" smtClean="0"/>
              <a:t>. </a:t>
            </a:r>
          </a:p>
          <a:p>
            <a:r>
              <a:rPr lang="en-US" altLang="en-US" sz="2200" dirty="0" smtClean="0">
                <a:solidFill>
                  <a:srgbClr val="0000CC"/>
                </a:solidFill>
              </a:rPr>
              <a:t>Step2</a:t>
            </a:r>
            <a:r>
              <a:rPr lang="en-US" altLang="en-US" sz="2200" dirty="0" smtClean="0"/>
              <a:t>. Set the right link of </a:t>
            </a:r>
            <a:r>
              <a:rPr lang="en-US" altLang="en-US" sz="2200" i="1" dirty="0" err="1" smtClean="0"/>
              <a:t>prev</a:t>
            </a:r>
            <a:r>
              <a:rPr lang="en-US" altLang="en-US" sz="2200" dirty="0" smtClean="0"/>
              <a:t> to </a:t>
            </a:r>
            <a:r>
              <a:rPr lang="en-US" altLang="en-US" sz="2200" i="1" dirty="0" smtClean="0"/>
              <a:t>cur</a:t>
            </a:r>
            <a:r>
              <a:rPr lang="en-US" altLang="en-US" sz="2200" dirty="0" smtClean="0"/>
              <a:t>, and the left link of </a:t>
            </a:r>
            <a:r>
              <a:rPr lang="en-US" altLang="en-US" sz="2200" i="1" dirty="0" smtClean="0"/>
              <a:t>cur</a:t>
            </a:r>
            <a:r>
              <a:rPr lang="en-US" altLang="en-US" sz="2200" dirty="0" smtClean="0"/>
              <a:t> to </a:t>
            </a:r>
            <a:r>
              <a:rPr lang="en-US" altLang="en-US" sz="2200" i="1" dirty="0" smtClean="0"/>
              <a:t>prev</a:t>
            </a:r>
            <a:r>
              <a:rPr lang="en-US" altLang="en-US" sz="2200" dirty="0" smtClean="0"/>
              <a:t>. </a:t>
            </a:r>
          </a:p>
          <a:p>
            <a:r>
              <a:rPr lang="en-US" altLang="en-US" sz="2200" dirty="0" smtClean="0">
                <a:solidFill>
                  <a:srgbClr val="0000CC"/>
                </a:solidFill>
              </a:rPr>
              <a:t>Step3</a:t>
            </a:r>
            <a:r>
              <a:rPr lang="en-US" altLang="en-US" sz="2200" dirty="0" smtClean="0"/>
              <a:t>. Discard the node pointed by </a:t>
            </a:r>
            <a:r>
              <a:rPr lang="en-US" altLang="en-US" sz="2200" i="1" dirty="0" smtClean="0"/>
              <a:t>old</a:t>
            </a:r>
            <a:r>
              <a:rPr lang="en-US" altLang="en-US" sz="2200" dirty="0" smtClean="0"/>
              <a:t>. </a:t>
            </a:r>
          </a:p>
        </p:txBody>
      </p:sp>
      <p:graphicFrame>
        <p:nvGraphicFramePr>
          <p:cNvPr id="183300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25488" y="3027363"/>
          <a:ext cx="36798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3" name="Bitmap Image" r:id="rId3" imgW="4676190" imgH="1200318" progId="Paint.Picture">
                  <p:embed/>
                </p:oleObj>
              </mc:Choice>
              <mc:Fallback>
                <p:oleObj name="Bitmap Image" r:id="rId3" imgW="4676190" imgH="1200318" progId="Paint.Picture">
                  <p:embed/>
                  <p:pic>
                    <p:nvPicPr>
                      <p:cNvPr id="183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3027363"/>
                        <a:ext cx="367982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1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022850" y="3054350"/>
          <a:ext cx="3438525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4" name="Bitmap Image" r:id="rId5" imgW="4619048" imgH="1371429" progId="Paint.Picture">
                  <p:embed/>
                </p:oleObj>
              </mc:Choice>
              <mc:Fallback>
                <p:oleObj name="Bitmap Image" r:id="rId5" imgW="4619048" imgH="1371429" progId="Paint.Picture">
                  <p:embed/>
                  <p:pic>
                    <p:nvPicPr>
                      <p:cNvPr id="1833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3054350"/>
                        <a:ext cx="3438525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2" name="Object 6"/>
          <p:cNvGraphicFramePr>
            <a:graphicFrameLocks noChangeAspect="1"/>
          </p:cNvGraphicFramePr>
          <p:nvPr/>
        </p:nvGraphicFramePr>
        <p:xfrm>
          <a:off x="2614613" y="4860925"/>
          <a:ext cx="423862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5" name="Bitmap Image" r:id="rId7" imgW="4238095" imgH="1247619" progId="Paint.Picture">
                  <p:embed/>
                </p:oleObj>
              </mc:Choice>
              <mc:Fallback>
                <p:oleObj name="Bitmap Image" r:id="rId7" imgW="4238095" imgH="1247619" progId="Paint.Picture">
                  <p:embed/>
                  <p:pic>
                    <p:nvPicPr>
                      <p:cNvPr id="1833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4860925"/>
                        <a:ext cx="423862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3" name="Text Box 7"/>
          <p:cNvSpPr txBox="1">
            <a:spLocks noChangeArrowheads="1"/>
          </p:cNvSpPr>
          <p:nvPr/>
        </p:nvSpPr>
        <p:spPr bwMode="auto">
          <a:xfrm>
            <a:off x="1717675" y="4216400"/>
            <a:ext cx="889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solidFill>
                  <a:srgbClr val="990000"/>
                </a:solidFill>
                <a:latin typeface="Helvetica" panose="020B0604020202020204" pitchFamily="34" charset="0"/>
              </a:rPr>
              <a:t>step1</a:t>
            </a:r>
          </a:p>
        </p:txBody>
      </p:sp>
      <p:sp>
        <p:nvSpPr>
          <p:cNvPr id="183304" name="Text Box 8"/>
          <p:cNvSpPr txBox="1">
            <a:spLocks noChangeArrowheads="1"/>
          </p:cNvSpPr>
          <p:nvPr/>
        </p:nvSpPr>
        <p:spPr bwMode="auto">
          <a:xfrm>
            <a:off x="4179888" y="6070600"/>
            <a:ext cx="889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solidFill>
                  <a:srgbClr val="990000"/>
                </a:solidFill>
                <a:latin typeface="Helvetica" panose="020B0604020202020204" pitchFamily="34" charset="0"/>
              </a:rPr>
              <a:t>step3</a:t>
            </a:r>
          </a:p>
        </p:txBody>
      </p:sp>
      <p:sp>
        <p:nvSpPr>
          <p:cNvPr id="183305" name="Text Box 9"/>
          <p:cNvSpPr txBox="1">
            <a:spLocks noChangeArrowheads="1"/>
          </p:cNvSpPr>
          <p:nvPr/>
        </p:nvSpPr>
        <p:spPr bwMode="auto">
          <a:xfrm>
            <a:off x="6289675" y="4232275"/>
            <a:ext cx="889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1800">
                <a:solidFill>
                  <a:srgbClr val="990000"/>
                </a:solidFill>
                <a:latin typeface="Helvetica" panose="020B0604020202020204" pitchFamily="34" charset="0"/>
              </a:rPr>
              <a:t>step2</a:t>
            </a:r>
          </a:p>
        </p:txBody>
      </p:sp>
    </p:spTree>
    <p:extLst>
      <p:ext uri="{BB962C8B-B14F-4D97-AF65-F5344CB8AC3E}">
        <p14:creationId xmlns:p14="http://schemas.microsoft.com/office/powerpoint/2010/main" val="222930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A52B11-5256-4CA8-BC95-3AFACE8B01D7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Helvetica" pitchFamily="26" charset="0"/>
              </a:rPr>
              <a:t>Doubly Linked Lists Implementations</a:t>
            </a:r>
          </a:p>
        </p:txBody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45720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sz="2800" smtClean="0">
              <a:latin typeface="Courier New" pitchFamily="26" charset="0"/>
            </a:endParaRPr>
          </a:p>
        </p:txBody>
      </p:sp>
      <p:pic>
        <p:nvPicPr>
          <p:cNvPr id="111621" name="Picture 6" descr="DblListF.png"/>
          <p:cNvPicPr>
            <a:picLocks noChangeAspect="1"/>
          </p:cNvPicPr>
          <p:nvPr/>
        </p:nvPicPr>
        <p:blipFill>
          <a:blip r:embed="rId3" cstate="print"/>
          <a:srcRect l="22681" t="14444" r="21242" b="77779"/>
          <a:stretch>
            <a:fillRect/>
          </a:stretch>
        </p:blipFill>
        <p:spPr bwMode="auto">
          <a:xfrm>
            <a:off x="381000" y="1524000"/>
            <a:ext cx="849153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Updated Link Class for Doubly Linked List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283729"/>
              </p:ext>
            </p:extLst>
          </p:nvPr>
        </p:nvGraphicFramePr>
        <p:xfrm>
          <a:off x="3629025" y="2971800"/>
          <a:ext cx="18859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4" name="Packager Shell Object" showAsIcon="1" r:id="rId3" imgW="1886400" imgH="732960" progId="Package">
                  <p:embed/>
                </p:oleObj>
              </mc:Choice>
              <mc:Fallback>
                <p:oleObj name="Packager Shell Object" showAsIcon="1" r:id="rId3" imgW="1886400" imgH="732960" progId="Package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9025" y="2971800"/>
                        <a:ext cx="188595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2546350"/>
            <a:ext cx="5181600" cy="3524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279525"/>
            <a:ext cx="5429250" cy="1266825"/>
          </a:xfrm>
          <a:prstGeom prst="rect">
            <a:avLst/>
          </a:prstGeom>
        </p:spPr>
      </p:pic>
      <p:sp>
        <p:nvSpPr>
          <p:cNvPr id="1126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Helvetica" pitchFamily="26" charset="0"/>
              </a:rPr>
              <a:t>Doubly Linked Insert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3152" y="4240153"/>
            <a:ext cx="4651248" cy="261137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/>
              <a:t>Recall </a:t>
            </a:r>
            <a:r>
              <a:rPr lang="en-US" dirty="0"/>
              <a:t>that in our implementation: </a:t>
            </a:r>
          </a:p>
          <a:p>
            <a:r>
              <a:rPr lang="en-US" dirty="0" err="1"/>
              <a:t>Curr</a:t>
            </a:r>
            <a:r>
              <a:rPr lang="en-US" dirty="0"/>
              <a:t> points to the preceding element of the current </a:t>
            </a:r>
            <a:r>
              <a:rPr lang="en-US" dirty="0" smtClean="0"/>
              <a:t>element</a:t>
            </a:r>
          </a:p>
          <a:p>
            <a:r>
              <a:rPr lang="en-US" dirty="0" smtClean="0"/>
              <a:t>To keep consistency, we </a:t>
            </a:r>
            <a:r>
              <a:rPr lang="en-US" dirty="0"/>
              <a:t>insert after the node pointed by the pointer </a:t>
            </a:r>
            <a:r>
              <a:rPr lang="en-US" dirty="0" err="1" smtClean="0"/>
              <a:t>curr</a:t>
            </a:r>
            <a:r>
              <a:rPr lang="en-US" dirty="0" smtClean="0"/>
              <a:t> (unlike the conceptual discussion)</a:t>
            </a:r>
            <a:endParaRPr lang="en-US" dirty="0"/>
          </a:p>
          <a:p>
            <a:endParaRPr lang="en-US" dirty="0"/>
          </a:p>
        </p:txBody>
      </p:sp>
      <p:sp>
        <p:nvSpPr>
          <p:cNvPr id="1126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35A8DD-B5C3-4F1E-8EB0-AF8C902E3C09}" type="slidenum">
              <a:rPr lang="en-US" smtClean="0"/>
              <a:pPr/>
              <a:t>22</a:t>
            </a:fld>
            <a:endParaRPr lang="en-US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" y="2779137"/>
            <a:ext cx="4095750" cy="1276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12914" y="1651371"/>
            <a:ext cx="301686" cy="762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1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2</a:t>
            </a:r>
          </a:p>
          <a:p>
            <a:pPr>
              <a:lnSpc>
                <a:spcPct val="80000"/>
              </a:lnSpc>
            </a:pPr>
            <a:r>
              <a:rPr lang="en-US" dirty="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3433" y="3003460"/>
            <a:ext cx="30168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371600" y="3870821"/>
            <a:ext cx="30168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73152" y="1998211"/>
            <a:ext cx="426720" cy="1561853"/>
          </a:xfrm>
          <a:custGeom>
            <a:avLst/>
            <a:gdLst>
              <a:gd name="connsiteX0" fmla="*/ 426720 w 426720"/>
              <a:gd name="connsiteY0" fmla="*/ 1561853 h 1561853"/>
              <a:gd name="connsiteX1" fmla="*/ 268224 w 426720"/>
              <a:gd name="connsiteY1" fmla="*/ 1476509 h 1561853"/>
              <a:gd name="connsiteX2" fmla="*/ 243840 w 426720"/>
              <a:gd name="connsiteY2" fmla="*/ 1439933 h 1561853"/>
              <a:gd name="connsiteX3" fmla="*/ 170688 w 426720"/>
              <a:gd name="connsiteY3" fmla="*/ 1366781 h 1561853"/>
              <a:gd name="connsiteX4" fmla="*/ 97536 w 426720"/>
              <a:gd name="connsiteY4" fmla="*/ 1293629 h 1561853"/>
              <a:gd name="connsiteX5" fmla="*/ 60960 w 426720"/>
              <a:gd name="connsiteY5" fmla="*/ 1257053 h 1561853"/>
              <a:gd name="connsiteX6" fmla="*/ 0 w 426720"/>
              <a:gd name="connsiteY6" fmla="*/ 1171709 h 1561853"/>
              <a:gd name="connsiteX7" fmla="*/ 36576 w 426720"/>
              <a:gd name="connsiteY7" fmla="*/ 927869 h 1561853"/>
              <a:gd name="connsiteX8" fmla="*/ 48768 w 426720"/>
              <a:gd name="connsiteY8" fmla="*/ 891293 h 1561853"/>
              <a:gd name="connsiteX9" fmla="*/ 60960 w 426720"/>
              <a:gd name="connsiteY9" fmla="*/ 842525 h 1561853"/>
              <a:gd name="connsiteX10" fmla="*/ 85344 w 426720"/>
              <a:gd name="connsiteY10" fmla="*/ 793757 h 1561853"/>
              <a:gd name="connsiteX11" fmla="*/ 97536 w 426720"/>
              <a:gd name="connsiteY11" fmla="*/ 757181 h 1561853"/>
              <a:gd name="connsiteX12" fmla="*/ 109728 w 426720"/>
              <a:gd name="connsiteY12" fmla="*/ 708413 h 1561853"/>
              <a:gd name="connsiteX13" fmla="*/ 158496 w 426720"/>
              <a:gd name="connsiteY13" fmla="*/ 635261 h 1561853"/>
              <a:gd name="connsiteX14" fmla="*/ 182880 w 426720"/>
              <a:gd name="connsiteY14" fmla="*/ 586493 h 1561853"/>
              <a:gd name="connsiteX15" fmla="*/ 195072 w 426720"/>
              <a:gd name="connsiteY15" fmla="*/ 525533 h 1561853"/>
              <a:gd name="connsiteX16" fmla="*/ 219456 w 426720"/>
              <a:gd name="connsiteY16" fmla="*/ 403613 h 1561853"/>
              <a:gd name="connsiteX17" fmla="*/ 243840 w 426720"/>
              <a:gd name="connsiteY17" fmla="*/ 354845 h 1561853"/>
              <a:gd name="connsiteX18" fmla="*/ 256032 w 426720"/>
              <a:gd name="connsiteY18" fmla="*/ 245117 h 1561853"/>
              <a:gd name="connsiteX19" fmla="*/ 280416 w 426720"/>
              <a:gd name="connsiteY19" fmla="*/ 208541 h 1561853"/>
              <a:gd name="connsiteX20" fmla="*/ 304800 w 426720"/>
              <a:gd name="connsiteY20" fmla="*/ 111005 h 1561853"/>
              <a:gd name="connsiteX21" fmla="*/ 329184 w 426720"/>
              <a:gd name="connsiteY21" fmla="*/ 74429 h 1561853"/>
              <a:gd name="connsiteX22" fmla="*/ 365760 w 426720"/>
              <a:gd name="connsiteY22" fmla="*/ 1277 h 1561853"/>
              <a:gd name="connsiteX23" fmla="*/ 377952 w 426720"/>
              <a:gd name="connsiteY23" fmla="*/ 1277 h 1561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26720" h="1561853">
                <a:moveTo>
                  <a:pt x="426720" y="1561853"/>
                </a:moveTo>
                <a:cubicBezTo>
                  <a:pt x="373888" y="1533405"/>
                  <a:pt x="318151" y="1509793"/>
                  <a:pt x="268224" y="1476509"/>
                </a:cubicBezTo>
                <a:cubicBezTo>
                  <a:pt x="256032" y="1468381"/>
                  <a:pt x="253575" y="1450885"/>
                  <a:pt x="243840" y="1439933"/>
                </a:cubicBezTo>
                <a:cubicBezTo>
                  <a:pt x="220930" y="1414159"/>
                  <a:pt x="195072" y="1391165"/>
                  <a:pt x="170688" y="1366781"/>
                </a:cubicBezTo>
                <a:lnTo>
                  <a:pt x="97536" y="1293629"/>
                </a:lnTo>
                <a:cubicBezTo>
                  <a:pt x="85344" y="1281437"/>
                  <a:pt x="70524" y="1271399"/>
                  <a:pt x="60960" y="1257053"/>
                </a:cubicBezTo>
                <a:cubicBezTo>
                  <a:pt x="25304" y="1203570"/>
                  <a:pt x="45368" y="1232199"/>
                  <a:pt x="0" y="1171709"/>
                </a:cubicBezTo>
                <a:cubicBezTo>
                  <a:pt x="14258" y="1057642"/>
                  <a:pt x="11611" y="1015246"/>
                  <a:pt x="36576" y="927869"/>
                </a:cubicBezTo>
                <a:cubicBezTo>
                  <a:pt x="40107" y="915512"/>
                  <a:pt x="45237" y="903650"/>
                  <a:pt x="48768" y="891293"/>
                </a:cubicBezTo>
                <a:cubicBezTo>
                  <a:pt x="53371" y="875181"/>
                  <a:pt x="55076" y="858214"/>
                  <a:pt x="60960" y="842525"/>
                </a:cubicBezTo>
                <a:cubicBezTo>
                  <a:pt x="67342" y="825507"/>
                  <a:pt x="78185" y="810462"/>
                  <a:pt x="85344" y="793757"/>
                </a:cubicBezTo>
                <a:cubicBezTo>
                  <a:pt x="90406" y="781945"/>
                  <a:pt x="94005" y="769538"/>
                  <a:pt x="97536" y="757181"/>
                </a:cubicBezTo>
                <a:cubicBezTo>
                  <a:pt x="102139" y="741069"/>
                  <a:pt x="102234" y="723400"/>
                  <a:pt x="109728" y="708413"/>
                </a:cubicBezTo>
                <a:cubicBezTo>
                  <a:pt x="122834" y="682201"/>
                  <a:pt x="145390" y="661473"/>
                  <a:pt x="158496" y="635261"/>
                </a:cubicBezTo>
                <a:lnTo>
                  <a:pt x="182880" y="586493"/>
                </a:lnTo>
                <a:cubicBezTo>
                  <a:pt x="186944" y="566173"/>
                  <a:pt x="191365" y="545921"/>
                  <a:pt x="195072" y="525533"/>
                </a:cubicBezTo>
                <a:cubicBezTo>
                  <a:pt x="200030" y="498266"/>
                  <a:pt x="208039" y="434057"/>
                  <a:pt x="219456" y="403613"/>
                </a:cubicBezTo>
                <a:cubicBezTo>
                  <a:pt x="225838" y="386595"/>
                  <a:pt x="235712" y="371101"/>
                  <a:pt x="243840" y="354845"/>
                </a:cubicBezTo>
                <a:cubicBezTo>
                  <a:pt x="247904" y="318269"/>
                  <a:pt x="247106" y="280819"/>
                  <a:pt x="256032" y="245117"/>
                </a:cubicBezTo>
                <a:cubicBezTo>
                  <a:pt x="259586" y="230902"/>
                  <a:pt x="275271" y="222261"/>
                  <a:pt x="280416" y="208541"/>
                </a:cubicBezTo>
                <a:cubicBezTo>
                  <a:pt x="301284" y="152894"/>
                  <a:pt x="282238" y="156130"/>
                  <a:pt x="304800" y="111005"/>
                </a:cubicBezTo>
                <a:cubicBezTo>
                  <a:pt x="311353" y="97899"/>
                  <a:pt x="322631" y="87535"/>
                  <a:pt x="329184" y="74429"/>
                </a:cubicBezTo>
                <a:cubicBezTo>
                  <a:pt x="349016" y="34765"/>
                  <a:pt x="330819" y="36218"/>
                  <a:pt x="365760" y="1277"/>
                </a:cubicBezTo>
                <a:cubicBezTo>
                  <a:pt x="368634" y="-1597"/>
                  <a:pt x="373888" y="1277"/>
                  <a:pt x="377952" y="1277"/>
                </a:cubicBezTo>
              </a:path>
            </a:pathLst>
          </a:cu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914400" y="3417312"/>
            <a:ext cx="381000" cy="545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375C8E1-15D8-4212-86E8-B4F87CF7DEEF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1146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Doubly Linked Remove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1094521"/>
            <a:ext cx="5459222" cy="2182079"/>
          </a:xfrm>
          <a:prstGeom prst="rect">
            <a:avLst/>
          </a:prstGeom>
        </p:spPr>
      </p:pic>
      <p:pic>
        <p:nvPicPr>
          <p:cNvPr id="114693" name="Picture 5" descr="DblListD.png"/>
          <p:cNvPicPr>
            <a:picLocks noChangeAspect="1"/>
          </p:cNvPicPr>
          <p:nvPr/>
        </p:nvPicPr>
        <p:blipFill>
          <a:blip r:embed="rId4" cstate="print"/>
          <a:srcRect l="22681" t="14444" r="38496" b="64445"/>
          <a:stretch>
            <a:fillRect/>
          </a:stretch>
        </p:blipFill>
        <p:spPr bwMode="auto">
          <a:xfrm>
            <a:off x="4419600" y="2895600"/>
            <a:ext cx="4510572" cy="3174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04800" y="3733800"/>
            <a:ext cx="3233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Recall:</a:t>
            </a:r>
          </a:p>
          <a:p>
            <a:r>
              <a:rPr lang="en-US" dirty="0" err="1" smtClean="0"/>
              <a:t>Curr</a:t>
            </a:r>
            <a:r>
              <a:rPr lang="en-US" dirty="0" smtClean="0"/>
              <a:t> points to the previous node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1934</TotalTime>
  <Words>1057</Words>
  <Application>Microsoft Office PowerPoint</Application>
  <PresentationFormat>On-screen Show (4:3)</PresentationFormat>
  <Paragraphs>147</Paragraphs>
  <Slides>23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Courier New</vt:lpstr>
      <vt:lpstr>Helvetica</vt:lpstr>
      <vt:lpstr>Symbol</vt:lpstr>
      <vt:lpstr>Office Theme</vt:lpstr>
      <vt:lpstr>Bitmap Image</vt:lpstr>
      <vt:lpstr>Package</vt:lpstr>
      <vt:lpstr>CSE 203: Data Structures</vt:lpstr>
      <vt:lpstr>Freelists</vt:lpstr>
      <vt:lpstr>Implementing freelist: Approach 1</vt:lpstr>
      <vt:lpstr>Implementing freelist: Approach 2</vt:lpstr>
      <vt:lpstr>PowerPoint Presentation</vt:lpstr>
      <vt:lpstr>Comparison of Implementations</vt:lpstr>
      <vt:lpstr>Comparison of Implementations</vt:lpstr>
      <vt:lpstr>Comparison of Implementations</vt:lpstr>
      <vt:lpstr>Comparison of Implementations</vt:lpstr>
      <vt:lpstr>Comparison of Implementations</vt:lpstr>
      <vt:lpstr>Space Comparison</vt:lpstr>
      <vt:lpstr>Rule of Thumb</vt:lpstr>
      <vt:lpstr>Doubly Linked List Concept</vt:lpstr>
      <vt:lpstr>Doubly Linked List</vt:lpstr>
      <vt:lpstr>Basic Operations of Doubly Linked Lists</vt:lpstr>
      <vt:lpstr>Insert First or Insert Last into a Doubly Linked List</vt:lpstr>
      <vt:lpstr>Insert Interior of Doubly Linked List</vt:lpstr>
      <vt:lpstr>Deletion of Doubly Linked List</vt:lpstr>
      <vt:lpstr>Deletion of Doubly Linked List</vt:lpstr>
      <vt:lpstr>Doubly Linked Lists Implementations</vt:lpstr>
      <vt:lpstr>Updated Link Class for Doubly Linked List</vt:lpstr>
      <vt:lpstr>Doubly Linked Insert</vt:lpstr>
      <vt:lpstr>Doubly Linked Remove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203: Data Structures</dc:title>
  <dc:creator>User</dc:creator>
  <cp:lastModifiedBy>user</cp:lastModifiedBy>
  <cp:revision>113</cp:revision>
  <dcterms:created xsi:type="dcterms:W3CDTF">2016-02-26T11:45:32Z</dcterms:created>
  <dcterms:modified xsi:type="dcterms:W3CDTF">2021-12-14T01:05:21Z</dcterms:modified>
</cp:coreProperties>
</file>