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57" r:id="rId3"/>
    <p:sldId id="258" r:id="rId4"/>
    <p:sldId id="260" r:id="rId5"/>
    <p:sldId id="651" r:id="rId6"/>
    <p:sldId id="261" r:id="rId7"/>
    <p:sldId id="652" r:id="rId8"/>
    <p:sldId id="653" r:id="rId9"/>
    <p:sldId id="262" r:id="rId10"/>
    <p:sldId id="563" r:id="rId11"/>
    <p:sldId id="659" r:id="rId12"/>
    <p:sldId id="661" r:id="rId13"/>
    <p:sldId id="662" r:id="rId14"/>
    <p:sldId id="663" r:id="rId15"/>
    <p:sldId id="665" r:id="rId16"/>
    <p:sldId id="664" r:id="rId17"/>
    <p:sldId id="666" r:id="rId18"/>
    <p:sldId id="667" r:id="rId19"/>
    <p:sldId id="668" r:id="rId20"/>
    <p:sldId id="669" r:id="rId21"/>
    <p:sldId id="670" r:id="rId22"/>
    <p:sldId id="671" r:id="rId23"/>
    <p:sldId id="672" r:id="rId24"/>
    <p:sldId id="673" r:id="rId25"/>
    <p:sldId id="674" r:id="rId26"/>
    <p:sldId id="675" r:id="rId27"/>
    <p:sldId id="676" r:id="rId28"/>
    <p:sldId id="677" r:id="rId29"/>
    <p:sldId id="678" r:id="rId30"/>
    <p:sldId id="679" r:id="rId31"/>
    <p:sldId id="680" r:id="rId32"/>
    <p:sldId id="681" r:id="rId33"/>
    <p:sldId id="682" r:id="rId34"/>
    <p:sldId id="683" r:id="rId35"/>
    <p:sldId id="684" r:id="rId36"/>
    <p:sldId id="685" r:id="rId37"/>
    <p:sldId id="686" r:id="rId38"/>
    <p:sldId id="687" r:id="rId39"/>
    <p:sldId id="688" r:id="rId40"/>
    <p:sldId id="689" r:id="rId41"/>
    <p:sldId id="690" r:id="rId42"/>
    <p:sldId id="693" r:id="rId43"/>
    <p:sldId id="694" r:id="rId44"/>
    <p:sldId id="695" r:id="rId45"/>
    <p:sldId id="697" r:id="rId46"/>
    <p:sldId id="698" r:id="rId47"/>
    <p:sldId id="699" r:id="rId48"/>
    <p:sldId id="700" r:id="rId49"/>
    <p:sldId id="701" r:id="rId50"/>
    <p:sldId id="65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129E"/>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6327"/>
  </p:normalViewPr>
  <p:slideViewPr>
    <p:cSldViewPr snapToGrid="0" snapToObjects="1">
      <p:cViewPr varScale="1">
        <p:scale>
          <a:sx n="128" d="100"/>
          <a:sy n="128" d="100"/>
        </p:scale>
        <p:origin x="48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1/24/22</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1/24/22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1/24/22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1/24/22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1/24/22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1/24/22</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1/24/22</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1/24/22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1/24/22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1/24/22</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0A9CA-B21C-C247-A4C1-99BC01F37DBE}"/>
              </a:ext>
            </a:extLst>
          </p:cNvPr>
          <p:cNvSpPr>
            <a:spLocks noGrp="1"/>
          </p:cNvSpPr>
          <p:nvPr>
            <p:ph type="ctrTitle"/>
          </p:nvPr>
        </p:nvSpPr>
        <p:spPr/>
        <p:txBody>
          <a:bodyPr/>
          <a:lstStyle/>
          <a:p>
            <a:r>
              <a:rPr lang="en-US" dirty="0"/>
              <a:t>Greedy Algorithms</a:t>
            </a:r>
          </a:p>
        </p:txBody>
      </p:sp>
      <p:sp>
        <p:nvSpPr>
          <p:cNvPr id="3" name="Subtitle 2">
            <a:extLst>
              <a:ext uri="{FF2B5EF4-FFF2-40B4-BE49-F238E27FC236}">
                <a16:creationId xmlns:a16="http://schemas.microsoft.com/office/drawing/2014/main" id="{D05E5DC5-C5A3-644D-AD2E-346A381B5D5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0221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5291-91F0-0D4A-B9C5-3943EBC70522}"/>
              </a:ext>
            </a:extLst>
          </p:cNvPr>
          <p:cNvSpPr>
            <a:spLocks noGrp="1"/>
          </p:cNvSpPr>
          <p:nvPr>
            <p:ph type="title"/>
          </p:nvPr>
        </p:nvSpPr>
        <p:spPr/>
        <p:txBody>
          <a:bodyPr/>
          <a:lstStyle/>
          <a:p>
            <a:r>
              <a:rPr lang="en-US"/>
              <a:t>Greedy</a:t>
            </a:r>
            <a:endParaRPr lang="en-US" dirty="0"/>
          </a:p>
        </p:txBody>
      </p:sp>
      <p:sp>
        <p:nvSpPr>
          <p:cNvPr id="3" name="Content Placeholder 2">
            <a:extLst>
              <a:ext uri="{FF2B5EF4-FFF2-40B4-BE49-F238E27FC236}">
                <a16:creationId xmlns:a16="http://schemas.microsoft.com/office/drawing/2014/main" id="{CB618962-6CE0-A640-8B67-E1E6F8ADA1A9}"/>
              </a:ext>
            </a:extLst>
          </p:cNvPr>
          <p:cNvSpPr>
            <a:spLocks noGrp="1"/>
          </p:cNvSpPr>
          <p:nvPr>
            <p:ph idx="1"/>
          </p:nvPr>
        </p:nvSpPr>
        <p:spPr>
          <a:xfrm>
            <a:off x="1069848" y="2121408"/>
            <a:ext cx="7964822" cy="4050792"/>
          </a:xfrm>
        </p:spPr>
        <p:txBody>
          <a:bodyPr/>
          <a:lstStyle/>
          <a:p>
            <a:r>
              <a:rPr lang="en-US" dirty="0"/>
              <a:t>A </a:t>
            </a:r>
            <a:r>
              <a:rPr lang="en-US" dirty="0">
                <a:solidFill>
                  <a:srgbClr val="FF0000"/>
                </a:solidFill>
              </a:rPr>
              <a:t>greedy algorithm </a:t>
            </a:r>
            <a:r>
              <a:rPr lang="en-US" dirty="0"/>
              <a:t>always makes the choice that looks best at the moment</a:t>
            </a:r>
          </a:p>
          <a:p>
            <a:r>
              <a:rPr lang="en-US" dirty="0"/>
              <a:t>The algorithm is usually an iterative algorithm </a:t>
            </a:r>
          </a:p>
          <a:p>
            <a:r>
              <a:rPr lang="en-US" dirty="0"/>
              <a:t>The solution usually composed of elements. For example, a path which composed of edges, a set which composed of elements, etc. </a:t>
            </a:r>
          </a:p>
          <a:p>
            <a:r>
              <a:rPr lang="en-US" dirty="0"/>
              <a:t>In each iteration or step, the algorithm adds one component/element to the solution set. After final step, the solution set will be complete solution of the problem. </a:t>
            </a:r>
          </a:p>
          <a:p>
            <a:endParaRPr lang="en-US" dirty="0"/>
          </a:p>
        </p:txBody>
      </p:sp>
      <p:pic>
        <p:nvPicPr>
          <p:cNvPr id="24" name="Picture 4">
            <a:extLst>
              <a:ext uri="{FF2B5EF4-FFF2-40B4-BE49-F238E27FC236}">
                <a16:creationId xmlns:a16="http://schemas.microsoft.com/office/drawing/2014/main" id="{15FDEE82-061A-5744-82B6-C9D27E9C2431}"/>
              </a:ext>
            </a:extLst>
          </p:cNvPr>
          <p:cNvPicPr>
            <a:picLocks noChangeAspect="1" noChangeArrowheads="1"/>
          </p:cNvPicPr>
          <p:nvPr/>
        </p:nvPicPr>
        <p:blipFill>
          <a:blip r:embed="rId2" cstate="print"/>
          <a:srcRect/>
          <a:stretch>
            <a:fillRect/>
          </a:stretch>
        </p:blipFill>
        <p:spPr bwMode="auto">
          <a:xfrm>
            <a:off x="9231382" y="2449100"/>
            <a:ext cx="2314575" cy="2686050"/>
          </a:xfrm>
          <a:prstGeom prst="rect">
            <a:avLst/>
          </a:prstGeom>
          <a:noFill/>
          <a:ln w="9525">
            <a:noFill/>
            <a:miter lim="800000"/>
            <a:headEnd/>
            <a:tailEnd/>
          </a:ln>
        </p:spPr>
      </p:pic>
    </p:spTree>
    <p:extLst>
      <p:ext uri="{BB962C8B-B14F-4D97-AF65-F5344CB8AC3E}">
        <p14:creationId xmlns:p14="http://schemas.microsoft.com/office/powerpoint/2010/main" val="2208864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51A36-FAFE-3F4A-B62E-B0D5538CF6FE}"/>
              </a:ext>
            </a:extLst>
          </p:cNvPr>
          <p:cNvSpPr>
            <a:spLocks noGrp="1"/>
          </p:cNvSpPr>
          <p:nvPr>
            <p:ph type="title"/>
          </p:nvPr>
        </p:nvSpPr>
        <p:spPr/>
        <p:txBody>
          <a:bodyPr/>
          <a:lstStyle/>
          <a:p>
            <a:r>
              <a:rPr lang="en-US" dirty="0"/>
              <a:t>Greedy Algorithm: Principles</a:t>
            </a:r>
          </a:p>
        </p:txBody>
      </p:sp>
      <p:sp>
        <p:nvSpPr>
          <p:cNvPr id="3" name="Content Placeholder 2">
            <a:extLst>
              <a:ext uri="{FF2B5EF4-FFF2-40B4-BE49-F238E27FC236}">
                <a16:creationId xmlns:a16="http://schemas.microsoft.com/office/drawing/2014/main" id="{3613FB5E-22B3-C24E-A673-5A6F1C49E7B1}"/>
              </a:ext>
            </a:extLst>
          </p:cNvPr>
          <p:cNvSpPr>
            <a:spLocks noGrp="1"/>
          </p:cNvSpPr>
          <p:nvPr>
            <p:ph idx="1"/>
          </p:nvPr>
        </p:nvSpPr>
        <p:spPr/>
        <p:txBody>
          <a:bodyPr>
            <a:normAutofit/>
          </a:bodyPr>
          <a:lstStyle/>
          <a:p>
            <a:pPr>
              <a:defRPr/>
            </a:pPr>
            <a:r>
              <a:rPr lang="en-US" sz="2400" dirty="0">
                <a:solidFill>
                  <a:srgbClr val="000000"/>
                </a:solidFill>
                <a:sym typeface="Symbol" pitchFamily="18" charset="2"/>
              </a:rPr>
              <a:t>A greedy algorithm works in phases. At each phase:</a:t>
            </a:r>
          </a:p>
          <a:p>
            <a:pPr lvl="1">
              <a:defRPr/>
            </a:pPr>
            <a:r>
              <a:rPr lang="en-US" sz="2200" dirty="0">
                <a:solidFill>
                  <a:srgbClr val="000000"/>
                </a:solidFill>
                <a:sym typeface="Symbol" pitchFamily="18" charset="2"/>
              </a:rPr>
              <a:t>The algorithm chooses the </a:t>
            </a:r>
            <a:r>
              <a:rPr lang="en-US" sz="2200" dirty="0">
                <a:solidFill>
                  <a:srgbClr val="FF0000"/>
                </a:solidFill>
                <a:sym typeface="Symbol" pitchFamily="18" charset="2"/>
              </a:rPr>
              <a:t>best you can get right now</a:t>
            </a:r>
            <a:r>
              <a:rPr lang="en-US" sz="2200" dirty="0">
                <a:solidFill>
                  <a:srgbClr val="000000"/>
                </a:solidFill>
                <a:sym typeface="Symbol" pitchFamily="18" charset="2"/>
              </a:rPr>
              <a:t>, without regard for future consequences</a:t>
            </a:r>
          </a:p>
          <a:p>
            <a:pPr lvl="1">
              <a:defRPr/>
            </a:pPr>
            <a:r>
              <a:rPr lang="en-US" sz="2200" dirty="0">
                <a:solidFill>
                  <a:srgbClr val="000000"/>
                </a:solidFill>
                <a:sym typeface="Symbol" pitchFamily="18" charset="2"/>
              </a:rPr>
              <a:t>The algorithm hopes that by choosing a local optimum at each step, it will end up at a global optimum</a:t>
            </a:r>
          </a:p>
          <a:p>
            <a:pPr lvl="1">
              <a:defRPr/>
            </a:pPr>
            <a:r>
              <a:rPr lang="en-US" sz="2200" dirty="0">
                <a:solidFill>
                  <a:srgbClr val="000000"/>
                </a:solidFill>
                <a:sym typeface="Symbol" pitchFamily="18" charset="2"/>
              </a:rPr>
              <a:t>For some problems, the global optimum can be achieved</a:t>
            </a:r>
          </a:p>
        </p:txBody>
      </p:sp>
    </p:spTree>
    <p:extLst>
      <p:ext uri="{BB962C8B-B14F-4D97-AF65-F5344CB8AC3E}">
        <p14:creationId xmlns:p14="http://schemas.microsoft.com/office/powerpoint/2010/main" val="2176334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a:xfrm>
            <a:off x="1069848" y="484632"/>
            <a:ext cx="10867048" cy="1609344"/>
          </a:xfrm>
        </p:spPr>
        <p:txBody>
          <a:bodyPr/>
          <a:lstStyle/>
          <a:p>
            <a:r>
              <a:rPr lang="en-US" dirty="0"/>
              <a:t>Do all problems have greedy algorithm? </a:t>
            </a:r>
            <a:endParaRPr lang="en-US" dirty="0">
              <a:effectLst/>
            </a:endParaRPr>
          </a:p>
        </p:txBody>
      </p:sp>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lstStyle/>
          <a:p>
            <a:r>
              <a:rPr lang="en-US" dirty="0"/>
              <a:t>The answer is ‘</a:t>
            </a:r>
            <a:r>
              <a:rPr lang="en-US" dirty="0">
                <a:solidFill>
                  <a:srgbClr val="FF0000"/>
                </a:solidFill>
              </a:rPr>
              <a:t>NO</a:t>
            </a:r>
            <a:r>
              <a:rPr lang="en-US" dirty="0"/>
              <a:t>’. Only a few problems have greedy algorithms. For example, LCS problem, Fibonacci problem, bellman ford algorithm, </a:t>
            </a:r>
            <a:r>
              <a:rPr lang="en-US" dirty="0" err="1"/>
              <a:t>mergesort</a:t>
            </a:r>
            <a:r>
              <a:rPr lang="en-US" dirty="0"/>
              <a:t>, Quicksort, etc. are not greedy algorithms! </a:t>
            </a:r>
          </a:p>
          <a:p>
            <a:r>
              <a:rPr lang="en-US" dirty="0"/>
              <a:t>Usually, a greedy algorithm happens to be faster than other algorithms. However, there are many exceptions. It may happen that greedy algorithm is slower than other algorithms (e.g., dynamic algorithm) of the same problem. </a:t>
            </a:r>
          </a:p>
          <a:p>
            <a:endParaRPr lang="en-US" dirty="0"/>
          </a:p>
          <a:p>
            <a:endParaRPr lang="en-US" dirty="0"/>
          </a:p>
        </p:txBody>
      </p:sp>
      <p:sp>
        <p:nvSpPr>
          <p:cNvPr id="15" name="TextBox 14">
            <a:extLst>
              <a:ext uri="{FF2B5EF4-FFF2-40B4-BE49-F238E27FC236}">
                <a16:creationId xmlns:a16="http://schemas.microsoft.com/office/drawing/2014/main" id="{6DD91910-8EF2-1F46-872B-53E18010AC25}"/>
              </a:ext>
            </a:extLst>
          </p:cNvPr>
          <p:cNvSpPr txBox="1"/>
          <p:nvPr/>
        </p:nvSpPr>
        <p:spPr>
          <a:xfrm>
            <a:off x="3019706" y="4146804"/>
            <a:ext cx="6967331" cy="646331"/>
          </a:xfrm>
          <a:prstGeom prst="rect">
            <a:avLst/>
          </a:prstGeom>
          <a:noFill/>
        </p:spPr>
        <p:txBody>
          <a:bodyPr wrap="square" rtlCol="0">
            <a:spAutoFit/>
          </a:bodyPr>
          <a:lstStyle/>
          <a:p>
            <a:r>
              <a:rPr lang="en-US" dirty="0">
                <a:latin typeface="Times New Roman Bold Italic"/>
              </a:rPr>
              <a:t>Consider the following algorithm for sorting numbers: </a:t>
            </a:r>
            <a:endParaRPr lang="en-US" dirty="0"/>
          </a:p>
          <a:p>
            <a:endParaRPr lang="en-US" dirty="0"/>
          </a:p>
        </p:txBody>
      </p:sp>
      <p:sp>
        <p:nvSpPr>
          <p:cNvPr id="16" name="Rectangle 15">
            <a:extLst>
              <a:ext uri="{FF2B5EF4-FFF2-40B4-BE49-F238E27FC236}">
                <a16:creationId xmlns:a16="http://schemas.microsoft.com/office/drawing/2014/main" id="{6561801A-C103-244C-AC08-4A4C17165023}"/>
              </a:ext>
            </a:extLst>
          </p:cNvPr>
          <p:cNvSpPr/>
          <p:nvPr/>
        </p:nvSpPr>
        <p:spPr>
          <a:xfrm>
            <a:off x="2749826" y="4637109"/>
            <a:ext cx="6096000" cy="923330"/>
          </a:xfrm>
          <a:prstGeom prst="rect">
            <a:avLst/>
          </a:prstGeom>
        </p:spPr>
        <p:txBody>
          <a:bodyPr>
            <a:spAutoFit/>
          </a:bodyPr>
          <a:lstStyle/>
          <a:p>
            <a:r>
              <a:rPr lang="en-US" dirty="0">
                <a:latin typeface="Consolas" panose="020B0609020204030204" pitchFamily="49" charset="0"/>
              </a:rPr>
              <a:t>compute the minimum of </a:t>
            </a:r>
            <a:r>
              <a:rPr lang="en-US" dirty="0">
                <a:latin typeface="Cambria Math" panose="02040503050406030204" pitchFamily="18" charset="0"/>
              </a:rPr>
              <a:t>[1. . ] </a:t>
            </a:r>
            <a:r>
              <a:rPr lang="en-US" dirty="0">
                <a:latin typeface="Consolas" panose="020B0609020204030204" pitchFamily="49" charset="0"/>
              </a:rPr>
              <a:t>and store it in </a:t>
            </a:r>
            <a:r>
              <a:rPr lang="en-US" dirty="0">
                <a:latin typeface="Cambria Math" panose="02040503050406030204" pitchFamily="18" charset="0"/>
              </a:rPr>
              <a:t>[1] </a:t>
            </a:r>
            <a:r>
              <a:rPr lang="en-US" dirty="0">
                <a:latin typeface="Consolas" panose="020B0609020204030204" pitchFamily="49" charset="0"/>
              </a:rPr>
              <a:t>compute the minimum of </a:t>
            </a:r>
            <a:r>
              <a:rPr lang="en-US" dirty="0">
                <a:latin typeface="Cambria Math" panose="02040503050406030204" pitchFamily="18" charset="0"/>
              </a:rPr>
              <a:t>[2. . ] </a:t>
            </a:r>
            <a:r>
              <a:rPr lang="en-US" dirty="0">
                <a:latin typeface="Consolas" panose="020B0609020204030204" pitchFamily="49" charset="0"/>
              </a:rPr>
              <a:t>and store it in </a:t>
            </a:r>
            <a:r>
              <a:rPr lang="en-US" dirty="0">
                <a:latin typeface="Cambria Math" panose="02040503050406030204" pitchFamily="18" charset="0"/>
              </a:rPr>
              <a:t>[2] </a:t>
            </a:r>
            <a:r>
              <a:rPr lang="en-US" dirty="0">
                <a:latin typeface="Consolas" panose="020B0609020204030204" pitchFamily="49" charset="0"/>
              </a:rPr>
              <a:t>and so on </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BE738A7-1FA0-EC4A-8BCF-DB3645161AC1}"/>
                  </a:ext>
                </a:extLst>
              </p:cNvPr>
              <p:cNvSpPr txBox="1"/>
              <p:nvPr/>
            </p:nvSpPr>
            <p:spPr>
              <a:xfrm>
                <a:off x="2484783" y="5874026"/>
                <a:ext cx="7136296" cy="369332"/>
              </a:xfrm>
              <a:prstGeom prst="rect">
                <a:avLst/>
              </a:prstGeom>
              <a:noFill/>
            </p:spPr>
            <p:txBody>
              <a:bodyPr wrap="square" rtlCol="0">
                <a:spAutoFit/>
              </a:bodyPr>
              <a:lstStyle/>
              <a:p>
                <a:r>
                  <a:rPr lang="en-US" dirty="0">
                    <a:latin typeface="Times New Roman" panose="02020603050405020304" pitchFamily="18" charset="0"/>
                  </a:rPr>
                  <a:t>the above sorting algorithm is greedy, it has a running-time of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𝑛</m:t>
                        </m:r>
                      </m:e>
                      <m:sup>
                        <m:r>
                          <a:rPr lang="en-US" b="0" i="1" dirty="0" smtClean="0">
                            <a:latin typeface="Cambria Math" panose="02040503050406030204" pitchFamily="18" charset="0"/>
                          </a:rPr>
                          <m:t>2</m:t>
                        </m:r>
                      </m:sup>
                    </m:sSup>
                    <m:r>
                      <a:rPr lang="en-US" i="1" dirty="0" smtClean="0">
                        <a:latin typeface="Cambria Math" panose="02040503050406030204" pitchFamily="18" charset="0"/>
                      </a:rPr>
                      <m:t>)</m:t>
                    </m:r>
                  </m:oMath>
                </a14:m>
                <a:r>
                  <a:rPr lang="en-US" dirty="0">
                    <a:latin typeface="Cambria Math" panose="02040503050406030204" pitchFamily="18" charset="0"/>
                  </a:rPr>
                  <a:t> </a:t>
                </a:r>
                <a:endParaRPr lang="en-US" dirty="0"/>
              </a:p>
            </p:txBody>
          </p:sp>
        </mc:Choice>
        <mc:Fallback xmlns="">
          <p:sp>
            <p:nvSpPr>
              <p:cNvPr id="17" name="TextBox 16">
                <a:extLst>
                  <a:ext uri="{FF2B5EF4-FFF2-40B4-BE49-F238E27FC236}">
                    <a16:creationId xmlns:a16="http://schemas.microsoft.com/office/drawing/2014/main" id="{3BE738A7-1FA0-EC4A-8BCF-DB3645161AC1}"/>
                  </a:ext>
                </a:extLst>
              </p:cNvPr>
              <p:cNvSpPr txBox="1">
                <a:spLocks noRot="1" noChangeAspect="1" noMove="1" noResize="1" noEditPoints="1" noAdjustHandles="1" noChangeArrowheads="1" noChangeShapeType="1" noTextEdit="1"/>
              </p:cNvSpPr>
              <p:nvPr/>
            </p:nvSpPr>
            <p:spPr>
              <a:xfrm>
                <a:off x="2484783" y="5874026"/>
                <a:ext cx="7136296" cy="369332"/>
              </a:xfrm>
              <a:prstGeom prst="rect">
                <a:avLst/>
              </a:prstGeom>
              <a:blipFill>
                <a:blip r:embed="rId2"/>
                <a:stretch>
                  <a:fillRect l="-710"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1561255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a:xfrm>
            <a:off x="1069848" y="484632"/>
            <a:ext cx="10867048" cy="1609344"/>
          </a:xfrm>
        </p:spPr>
        <p:txBody>
          <a:bodyPr/>
          <a:lstStyle/>
          <a:p>
            <a:r>
              <a:rPr lang="en-US" dirty="0"/>
              <a:t>Do all problems have greedy algorithm? </a:t>
            </a:r>
            <a:endParaRPr lang="en-US" dirty="0">
              <a:effectLst/>
            </a:endParaRPr>
          </a:p>
        </p:txBody>
      </p:sp>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lstStyle/>
          <a:p>
            <a:r>
              <a:rPr lang="en-US" dirty="0"/>
              <a:t>The answer is ‘</a:t>
            </a:r>
            <a:r>
              <a:rPr lang="en-US" dirty="0">
                <a:solidFill>
                  <a:srgbClr val="FF0000"/>
                </a:solidFill>
              </a:rPr>
              <a:t>NO</a:t>
            </a:r>
            <a:r>
              <a:rPr lang="en-US" dirty="0"/>
              <a:t>’. Only a few problems have greedy algorithms. For example, LCS problem, Fibonacci problem, bellman ford algorithm, </a:t>
            </a:r>
            <a:r>
              <a:rPr lang="en-US" dirty="0" err="1"/>
              <a:t>mergesort</a:t>
            </a:r>
            <a:r>
              <a:rPr lang="en-US" dirty="0"/>
              <a:t>, Quicksort, etc. are not greedy algorithms! </a:t>
            </a:r>
          </a:p>
          <a:p>
            <a:r>
              <a:rPr lang="en-US" dirty="0"/>
              <a:t>Usually, a greedy algorithm happens to be faster than other algorithms. However, there are many exceptions. It may happen that greedy algorithm is slower than other algorithms (e.g., dynamic algorithm) of the same problem. </a:t>
            </a:r>
          </a:p>
          <a:p>
            <a:endParaRPr lang="en-US" dirty="0"/>
          </a:p>
          <a:p>
            <a:endParaRPr lang="en-US" dirty="0"/>
          </a:p>
        </p:txBody>
      </p:sp>
      <p:sp>
        <p:nvSpPr>
          <p:cNvPr id="15" name="TextBox 14">
            <a:extLst>
              <a:ext uri="{FF2B5EF4-FFF2-40B4-BE49-F238E27FC236}">
                <a16:creationId xmlns:a16="http://schemas.microsoft.com/office/drawing/2014/main" id="{6DD91910-8EF2-1F46-872B-53E18010AC25}"/>
              </a:ext>
            </a:extLst>
          </p:cNvPr>
          <p:cNvSpPr txBox="1"/>
          <p:nvPr/>
        </p:nvSpPr>
        <p:spPr>
          <a:xfrm>
            <a:off x="3019706" y="4146804"/>
            <a:ext cx="6967331" cy="646331"/>
          </a:xfrm>
          <a:prstGeom prst="rect">
            <a:avLst/>
          </a:prstGeom>
          <a:noFill/>
        </p:spPr>
        <p:txBody>
          <a:bodyPr wrap="square" rtlCol="0">
            <a:spAutoFit/>
          </a:bodyPr>
          <a:lstStyle/>
          <a:p>
            <a:r>
              <a:rPr lang="en-US" dirty="0">
                <a:latin typeface="Times New Roman Bold Italic"/>
              </a:rPr>
              <a:t>Consider the following algorithm for sorting numbers: </a:t>
            </a:r>
            <a:endParaRPr lang="en-US" dirty="0"/>
          </a:p>
          <a:p>
            <a:endParaRPr lang="en-US" dirty="0"/>
          </a:p>
        </p:txBody>
      </p:sp>
      <p:sp>
        <p:nvSpPr>
          <p:cNvPr id="16" name="Rectangle 15">
            <a:extLst>
              <a:ext uri="{FF2B5EF4-FFF2-40B4-BE49-F238E27FC236}">
                <a16:creationId xmlns:a16="http://schemas.microsoft.com/office/drawing/2014/main" id="{6561801A-C103-244C-AC08-4A4C17165023}"/>
              </a:ext>
            </a:extLst>
          </p:cNvPr>
          <p:cNvSpPr/>
          <p:nvPr/>
        </p:nvSpPr>
        <p:spPr>
          <a:xfrm>
            <a:off x="2749826" y="4637109"/>
            <a:ext cx="6096000" cy="923330"/>
          </a:xfrm>
          <a:prstGeom prst="rect">
            <a:avLst/>
          </a:prstGeom>
        </p:spPr>
        <p:txBody>
          <a:bodyPr>
            <a:spAutoFit/>
          </a:bodyPr>
          <a:lstStyle/>
          <a:p>
            <a:r>
              <a:rPr lang="en-US" dirty="0">
                <a:latin typeface="Consolas" panose="020B0609020204030204" pitchFamily="49" charset="0"/>
              </a:rPr>
              <a:t>compute the minimum of </a:t>
            </a:r>
            <a:r>
              <a:rPr lang="en-US" dirty="0">
                <a:latin typeface="Cambria Math" panose="02040503050406030204" pitchFamily="18" charset="0"/>
              </a:rPr>
              <a:t>[1. . ] </a:t>
            </a:r>
            <a:r>
              <a:rPr lang="en-US" dirty="0">
                <a:latin typeface="Consolas" panose="020B0609020204030204" pitchFamily="49" charset="0"/>
              </a:rPr>
              <a:t>and store it in </a:t>
            </a:r>
            <a:r>
              <a:rPr lang="en-US" dirty="0">
                <a:latin typeface="Cambria Math" panose="02040503050406030204" pitchFamily="18" charset="0"/>
              </a:rPr>
              <a:t>[1] </a:t>
            </a:r>
            <a:r>
              <a:rPr lang="en-US" dirty="0">
                <a:latin typeface="Consolas" panose="020B0609020204030204" pitchFamily="49" charset="0"/>
              </a:rPr>
              <a:t>compute the minimum of </a:t>
            </a:r>
            <a:r>
              <a:rPr lang="en-US" dirty="0">
                <a:latin typeface="Cambria Math" panose="02040503050406030204" pitchFamily="18" charset="0"/>
              </a:rPr>
              <a:t>[2. . ] </a:t>
            </a:r>
            <a:r>
              <a:rPr lang="en-US" dirty="0">
                <a:latin typeface="Consolas" panose="020B0609020204030204" pitchFamily="49" charset="0"/>
              </a:rPr>
              <a:t>and store it in </a:t>
            </a:r>
            <a:r>
              <a:rPr lang="en-US" dirty="0">
                <a:latin typeface="Cambria Math" panose="02040503050406030204" pitchFamily="18" charset="0"/>
              </a:rPr>
              <a:t>[2] </a:t>
            </a:r>
            <a:r>
              <a:rPr lang="en-US" dirty="0">
                <a:latin typeface="Consolas" panose="020B0609020204030204" pitchFamily="49" charset="0"/>
              </a:rPr>
              <a:t>and so on </a:t>
            </a:r>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BE738A7-1FA0-EC4A-8BCF-DB3645161AC1}"/>
                  </a:ext>
                </a:extLst>
              </p:cNvPr>
              <p:cNvSpPr txBox="1"/>
              <p:nvPr/>
            </p:nvSpPr>
            <p:spPr>
              <a:xfrm>
                <a:off x="2484783" y="5874026"/>
                <a:ext cx="7136296" cy="369332"/>
              </a:xfrm>
              <a:prstGeom prst="rect">
                <a:avLst/>
              </a:prstGeom>
              <a:noFill/>
            </p:spPr>
            <p:txBody>
              <a:bodyPr wrap="square" rtlCol="0">
                <a:spAutoFit/>
              </a:bodyPr>
              <a:lstStyle/>
              <a:p>
                <a:r>
                  <a:rPr lang="en-US" dirty="0">
                    <a:latin typeface="Times New Roman" panose="02020603050405020304" pitchFamily="18" charset="0"/>
                  </a:rPr>
                  <a:t>the above sorting algorithm is greedy, it has a running-time of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𝑛</m:t>
                        </m:r>
                      </m:e>
                      <m:sup>
                        <m:r>
                          <a:rPr lang="en-US" b="0" i="1" dirty="0" smtClean="0">
                            <a:latin typeface="Cambria Math" panose="02040503050406030204" pitchFamily="18" charset="0"/>
                          </a:rPr>
                          <m:t>2</m:t>
                        </m:r>
                      </m:sup>
                    </m:sSup>
                    <m:r>
                      <a:rPr lang="en-US" i="1" dirty="0" smtClean="0">
                        <a:latin typeface="Cambria Math" panose="02040503050406030204" pitchFamily="18" charset="0"/>
                      </a:rPr>
                      <m:t>)</m:t>
                    </m:r>
                  </m:oMath>
                </a14:m>
                <a:r>
                  <a:rPr lang="en-US" dirty="0">
                    <a:latin typeface="Cambria Math" panose="02040503050406030204" pitchFamily="18" charset="0"/>
                  </a:rPr>
                  <a:t> </a:t>
                </a:r>
                <a:endParaRPr lang="en-US" dirty="0"/>
              </a:p>
            </p:txBody>
          </p:sp>
        </mc:Choice>
        <mc:Fallback xmlns="">
          <p:sp>
            <p:nvSpPr>
              <p:cNvPr id="17" name="TextBox 16">
                <a:extLst>
                  <a:ext uri="{FF2B5EF4-FFF2-40B4-BE49-F238E27FC236}">
                    <a16:creationId xmlns:a16="http://schemas.microsoft.com/office/drawing/2014/main" id="{3BE738A7-1FA0-EC4A-8BCF-DB3645161AC1}"/>
                  </a:ext>
                </a:extLst>
              </p:cNvPr>
              <p:cNvSpPr txBox="1">
                <a:spLocks noRot="1" noChangeAspect="1" noMove="1" noResize="1" noEditPoints="1" noAdjustHandles="1" noChangeArrowheads="1" noChangeShapeType="1" noTextEdit="1"/>
              </p:cNvSpPr>
              <p:nvPr/>
            </p:nvSpPr>
            <p:spPr>
              <a:xfrm>
                <a:off x="2484783" y="5874026"/>
                <a:ext cx="7136296" cy="369332"/>
              </a:xfrm>
              <a:prstGeom prst="rect">
                <a:avLst/>
              </a:prstGeom>
              <a:blipFill>
                <a:blip r:embed="rId2"/>
                <a:stretch>
                  <a:fillRect l="-710" t="-6667" b="-23333"/>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4C58876B-3755-D747-9052-DAA7A44BDA32}"/>
              </a:ext>
            </a:extLst>
          </p:cNvPr>
          <p:cNvSpPr txBox="1"/>
          <p:nvPr/>
        </p:nvSpPr>
        <p:spPr>
          <a:xfrm>
            <a:off x="9859617" y="4407660"/>
            <a:ext cx="2077278" cy="1477328"/>
          </a:xfrm>
          <a:prstGeom prst="rect">
            <a:avLst/>
          </a:prstGeom>
          <a:noFill/>
        </p:spPr>
        <p:txBody>
          <a:bodyPr wrap="square" rtlCol="0">
            <a:spAutoFit/>
          </a:bodyPr>
          <a:lstStyle/>
          <a:p>
            <a:r>
              <a:rPr lang="en-US" dirty="0"/>
              <a:t>BTW is this algorithm for sorting really greedy? </a:t>
            </a:r>
          </a:p>
          <a:p>
            <a:endParaRPr lang="en-US" dirty="0"/>
          </a:p>
        </p:txBody>
      </p:sp>
      <p:cxnSp>
        <p:nvCxnSpPr>
          <p:cNvPr id="5" name="Straight Arrow Connector 4">
            <a:extLst>
              <a:ext uri="{FF2B5EF4-FFF2-40B4-BE49-F238E27FC236}">
                <a16:creationId xmlns:a16="http://schemas.microsoft.com/office/drawing/2014/main" id="{D1E4C05D-B1F0-774E-B21E-759BC183CE5A}"/>
              </a:ext>
            </a:extLst>
          </p:cNvPr>
          <p:cNvCxnSpPr/>
          <p:nvPr/>
        </p:nvCxnSpPr>
        <p:spPr>
          <a:xfrm flipH="1">
            <a:off x="8716617" y="5019261"/>
            <a:ext cx="114300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75988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p:txBody>
          <a:bodyPr/>
          <a:lstStyle/>
          <a:p>
            <a:r>
              <a:rPr lang="en-US" dirty="0"/>
              <a:t>Activity Scheduling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normAutofit/>
              </a:bodyPr>
              <a:lstStyle/>
              <a:p>
                <a:r>
                  <a:rPr lang="en-US" dirty="0"/>
                  <a:t>Input: A set of activities,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 =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𝑛</m:t>
                        </m:r>
                      </m:sub>
                    </m:sSub>
                    <m:r>
                      <a:rPr lang="en-US" i="1" dirty="0" smtClean="0">
                        <a:latin typeface="Cambria Math" panose="02040503050406030204" pitchFamily="18" charset="0"/>
                      </a:rPr>
                      <m:t>}</m:t>
                    </m:r>
                  </m:oMath>
                </a14:m>
                <a:endParaRPr lang="en-US" dirty="0"/>
              </a:p>
              <a:p>
                <a:pPr lvl="1">
                  <a:buFont typeface="Courier New" panose="02070309020205020404" pitchFamily="49" charset="0"/>
                  <a:buChar char="o"/>
                </a:pPr>
                <a:r>
                  <a:rPr lang="en-US" dirty="0"/>
                  <a:t>Each activity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b="0" i="1" dirty="0" smtClean="0">
                            <a:latin typeface="Cambria Math" panose="02040503050406030204" pitchFamily="18" charset="0"/>
                          </a:rPr>
                          <m:t>𝑖</m:t>
                        </m:r>
                      </m:sub>
                    </m:sSub>
                  </m:oMath>
                </a14:m>
                <a:r>
                  <a:rPr lang="en-US" dirty="0"/>
                  <a:t> has a start time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oMath>
                </a14:m>
                <a:r>
                  <a:rPr lang="en-US" dirty="0"/>
                  <a:t> and a finish time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𝑖</m:t>
                        </m:r>
                      </m:sub>
                    </m:sSub>
                  </m:oMath>
                </a14:m>
                <a:r>
                  <a:rPr lang="en-US" dirty="0"/>
                  <a:t> where </a:t>
                </a:r>
                <a14:m>
                  <m:oMath xmlns:m="http://schemas.openxmlformats.org/officeDocument/2006/math">
                    <m:r>
                      <a:rPr lang="en-US" b="0" i="0" dirty="0" smtClean="0">
                        <a:latin typeface="Cambria Math" panose="02040503050406030204" pitchFamily="18" charset="0"/>
                      </a:rPr>
                      <m:t>0</m:t>
                    </m:r>
                    <m:sSub>
                      <m:sSubPr>
                        <m:ctrlPr>
                          <a:rPr lang="en-US" i="1" dirty="0">
                            <a:latin typeface="Cambria Math" panose="02040503050406030204" pitchFamily="18" charset="0"/>
                          </a:rPr>
                        </m:ctrlPr>
                      </m:sSubPr>
                      <m:e>
                        <m:r>
                          <a:rPr lang="en-US" b="0" i="1" dirty="0" smtClean="0">
                            <a:latin typeface="Cambria Math" panose="02040503050406030204" pitchFamily="18" charset="0"/>
                          </a:rPr>
                          <m:t>≤</m:t>
                        </m:r>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r>
                      <a:rPr lang="en-US" b="0" i="1" dirty="0" smtClean="0">
                        <a:latin typeface="Cambria Math" panose="02040503050406030204" pitchFamily="18" charset="0"/>
                        <a:ea typeface="Cambria Math" panose="02040503050406030204" pitchFamily="18" charset="0"/>
                      </a:rPr>
                      <m:t>∞</m:t>
                    </m:r>
                  </m:oMath>
                </a14:m>
                <a:endParaRPr lang="en-US" dirty="0"/>
              </a:p>
              <a:p>
                <a:pPr lvl="1">
                  <a:buFont typeface="Courier New" panose="02070309020205020404" pitchFamily="49" charset="0"/>
                  <a:buChar char="o"/>
                </a:pPr>
                <a:r>
                  <a:rPr lang="en-US" dirty="0"/>
                  <a:t>By doing each job, you will get a constant amount of reward</a:t>
                </a:r>
              </a:p>
              <a:p>
                <a:pPr lvl="1">
                  <a:buFont typeface="Courier New" panose="02070309020205020404" pitchFamily="49" charset="0"/>
                  <a:buChar char="o"/>
                </a:pPr>
                <a:r>
                  <a:rPr lang="en-US" dirty="0"/>
                  <a:t>You want to maximize your rewards in a day </a:t>
                </a:r>
              </a:p>
              <a:p>
                <a:pPr lvl="1">
                  <a:buFont typeface="Courier New" panose="02070309020205020404" pitchFamily="49" charset="0"/>
                  <a:buChar char="o"/>
                </a:pPr>
                <a:r>
                  <a:rPr lang="en-US" dirty="0"/>
                  <a:t>This means you want to do as many jobs (e.g., classes) as possible </a:t>
                </a:r>
              </a:p>
              <a:p>
                <a:pPr lvl="1">
                  <a:buFont typeface="Courier New" panose="02070309020205020404" pitchFamily="49" charset="0"/>
                  <a:buChar char="o"/>
                </a:pPr>
                <a:r>
                  <a:rPr lang="en-US" dirty="0"/>
                  <a:t>Surely, we will do all jobs if it is possible. But job times will overlap, and it is not possible to do all jobs.</a:t>
                </a:r>
              </a:p>
              <a:p>
                <a:pPr lvl="1">
                  <a:buFont typeface="Courier New" panose="02070309020205020404" pitchFamily="49" charset="0"/>
                  <a:buChar char="o"/>
                </a:pPr>
                <a:r>
                  <a:rPr lang="en-US" dirty="0"/>
                  <a:t>Some jobs will have to be sacrificed for other jobs</a:t>
                </a:r>
              </a:p>
              <a:p>
                <a:pPr lvl="1">
                  <a:buFont typeface="Courier New" panose="02070309020205020404" pitchFamily="49" charset="0"/>
                  <a:buChar char="o"/>
                </a:pPr>
                <a:r>
                  <a:rPr lang="en-US" dirty="0"/>
                  <a:t>Your task is to find the maximum number of doable jobs</a:t>
                </a:r>
              </a:p>
              <a:p>
                <a:r>
                  <a:rPr lang="en-US" dirty="0"/>
                  <a:t>Two activities are </a:t>
                </a:r>
                <a:r>
                  <a:rPr lang="en-US" dirty="0">
                    <a:solidFill>
                      <a:srgbClr val="FF0000"/>
                    </a:solidFill>
                  </a:rPr>
                  <a:t>compatible</a:t>
                </a:r>
                <a:r>
                  <a:rPr lang="en-US" dirty="0"/>
                  <a:t> if and only if their intervals do not overlap</a:t>
                </a:r>
              </a:p>
              <a:p>
                <a:r>
                  <a:rPr lang="en-US" dirty="0">
                    <a:solidFill>
                      <a:srgbClr val="0000CC"/>
                    </a:solidFill>
                  </a:rPr>
                  <a:t>Output: a maximum-size subset of mutually compatible activities</a:t>
                </a: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p:txBody>
          </p:sp>
        </mc:Choice>
        <mc:Fallback xmlns="">
          <p:sp>
            <p:nvSpPr>
              <p:cNvPr id="3" name="Content Placeholder 2">
                <a:extLst>
                  <a:ext uri="{FF2B5EF4-FFF2-40B4-BE49-F238E27FC236}">
                    <a16:creationId xmlns:a16="http://schemas.microsoft.com/office/drawing/2014/main" id="{E7C676F9-08F7-3D49-93DF-2EF9B6A9945A}"/>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spTree>
    <p:extLst>
      <p:ext uri="{BB962C8B-B14F-4D97-AF65-F5344CB8AC3E}">
        <p14:creationId xmlns:p14="http://schemas.microsoft.com/office/powerpoint/2010/main" val="127151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p:txBody>
          <a:bodyPr/>
          <a:lstStyle/>
          <a:p>
            <a:r>
              <a:rPr lang="en-US" dirty="0"/>
              <a:t>Activity Scheduling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normAutofit/>
              </a:bodyPr>
              <a:lstStyle/>
              <a:p>
                <a:r>
                  <a:rPr lang="en-US" dirty="0"/>
                  <a:t>Formally: </a:t>
                </a:r>
              </a:p>
              <a:p>
                <a:pPr marL="274320" lvl="1" indent="0">
                  <a:buNone/>
                </a:pPr>
                <a:r>
                  <a:rPr lang="en-US" dirty="0"/>
                  <a:t>Input: A set of activities,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 =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𝑛</m:t>
                        </m:r>
                      </m:sub>
                    </m:sSub>
                    <m:r>
                      <a:rPr lang="en-US" i="1" dirty="0" smtClean="0">
                        <a:latin typeface="Cambria Math" panose="02040503050406030204" pitchFamily="18" charset="0"/>
                      </a:rPr>
                      <m:t>}</m:t>
                    </m:r>
                  </m:oMath>
                </a14:m>
                <a:endParaRPr lang="en-US" dirty="0"/>
              </a:p>
              <a:p>
                <a:pPr lvl="1">
                  <a:buFont typeface="Courier New" panose="02070309020205020404" pitchFamily="49" charset="0"/>
                  <a:buChar char="o"/>
                </a:pPr>
                <a:r>
                  <a:rPr lang="en-US" dirty="0"/>
                  <a:t>Given a set </a:t>
                </a:r>
                <a14:m>
                  <m:oMath xmlns:m="http://schemas.openxmlformats.org/officeDocument/2006/math">
                    <m:r>
                      <a:rPr lang="en-US" i="1" dirty="0">
                        <a:latin typeface="Cambria Math" panose="02040503050406030204" pitchFamily="18" charset="0"/>
                      </a:rPr>
                      <m:t>𝑆</m:t>
                    </m:r>
                  </m:oMath>
                </a14:m>
                <a:r>
                  <a:rPr lang="en-US" dirty="0"/>
                  <a:t> of </a:t>
                </a:r>
                <a14:m>
                  <m:oMath xmlns:m="http://schemas.openxmlformats.org/officeDocument/2006/math">
                    <m:r>
                      <a:rPr lang="en-US" b="0" i="1" dirty="0" smtClean="0">
                        <a:latin typeface="Cambria Math" panose="02040503050406030204" pitchFamily="18" charset="0"/>
                      </a:rPr>
                      <m:t>𝑛</m:t>
                    </m:r>
                  </m:oMath>
                </a14:m>
                <a:r>
                  <a:rPr lang="en-US" dirty="0"/>
                  <a:t> activities </a:t>
                </a:r>
              </a:p>
              <a:p>
                <a:pPr lvl="1">
                  <a:buFont typeface="Courier New" panose="02070309020205020404" pitchFamily="49" charset="0"/>
                  <a:buChar char="o"/>
                </a:pP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oMath>
                </a14:m>
                <a:r>
                  <a:rPr lang="en-US" dirty="0"/>
                  <a:t> = start time of activity </a:t>
                </a:r>
                <a14:m>
                  <m:oMath xmlns:m="http://schemas.openxmlformats.org/officeDocument/2006/math">
                    <m:r>
                      <a:rPr lang="en-US" b="0" i="1" dirty="0" smtClean="0">
                        <a:latin typeface="Cambria Math" panose="02040503050406030204" pitchFamily="18" charset="0"/>
                      </a:rPr>
                      <m:t>𝑖</m:t>
                    </m:r>
                  </m:oMath>
                </a14:m>
                <a:r>
                  <a:rPr lang="en-US" dirty="0"/>
                  <a:t> and </a:t>
                </a:r>
              </a:p>
              <a:p>
                <a:pPr lvl="1">
                  <a:buFont typeface="Courier New" panose="02070309020205020404" pitchFamily="49" charset="0"/>
                  <a:buChar char="o"/>
                </a:pP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𝑖</m:t>
                        </m:r>
                      </m:sub>
                    </m:sSub>
                    <m:r>
                      <a:rPr lang="en-US" i="1" dirty="0">
                        <a:latin typeface="Cambria Math" panose="02040503050406030204" pitchFamily="18" charset="0"/>
                      </a:rPr>
                      <m:t> </m:t>
                    </m:r>
                  </m:oMath>
                </a14:m>
                <a:r>
                  <a:rPr lang="en-US" dirty="0"/>
                  <a:t>= finish time activity </a:t>
                </a:r>
                <a14:m>
                  <m:oMath xmlns:m="http://schemas.openxmlformats.org/officeDocument/2006/math">
                    <m:r>
                      <a:rPr lang="en-US" i="1" dirty="0">
                        <a:latin typeface="Cambria Math" panose="02040503050406030204" pitchFamily="18" charset="0"/>
                      </a:rPr>
                      <m:t>𝑖</m:t>
                    </m:r>
                  </m:oMath>
                </a14:m>
                <a:r>
                  <a:rPr lang="en-US" dirty="0"/>
                  <a:t> </a:t>
                </a:r>
              </a:p>
              <a:p>
                <a:pPr lvl="1">
                  <a:buFont typeface="Courier New" panose="02070309020205020404" pitchFamily="49" charset="0"/>
                  <a:buChar char="o"/>
                </a:pPr>
                <a:r>
                  <a:rPr lang="en-US" dirty="0"/>
                  <a:t>where </a:t>
                </a:r>
                <a14:m>
                  <m:oMath xmlns:m="http://schemas.openxmlformats.org/officeDocument/2006/math">
                    <m:r>
                      <a:rPr lang="en-US" b="0" i="0" dirty="0" smtClean="0">
                        <a:latin typeface="Cambria Math" panose="02040503050406030204" pitchFamily="18" charset="0"/>
                      </a:rPr>
                      <m:t>0</m:t>
                    </m:r>
                    <m:sSub>
                      <m:sSubPr>
                        <m:ctrlPr>
                          <a:rPr lang="en-US" i="1" dirty="0">
                            <a:latin typeface="Cambria Math" panose="02040503050406030204" pitchFamily="18" charset="0"/>
                          </a:rPr>
                        </m:ctrlPr>
                      </m:sSubPr>
                      <m:e>
                        <m:r>
                          <a:rPr lang="en-US" b="0" i="1" dirty="0" smtClean="0">
                            <a:latin typeface="Cambria Math" panose="02040503050406030204" pitchFamily="18" charset="0"/>
                          </a:rPr>
                          <m:t>≤</m:t>
                        </m:r>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r>
                      <a:rPr lang="en-US" b="0" i="1" dirty="0" smtClean="0">
                        <a:latin typeface="Cambria Math" panose="02040503050406030204" pitchFamily="18" charset="0"/>
                        <a:ea typeface="Cambria Math" panose="02040503050406030204" pitchFamily="18" charset="0"/>
                      </a:rPr>
                      <m:t>∞</m:t>
                    </m:r>
                  </m:oMath>
                </a14:m>
                <a:endParaRPr lang="en-US" dirty="0"/>
              </a:p>
              <a:p>
                <a:r>
                  <a:rPr lang="en-US" dirty="0"/>
                  <a:t>Find max-size subset </a:t>
                </a:r>
                <a14:m>
                  <m:oMath xmlns:m="http://schemas.openxmlformats.org/officeDocument/2006/math">
                    <m:r>
                      <a:rPr lang="en-US" i="1" dirty="0" smtClean="0">
                        <a:latin typeface="Cambria Math" panose="02040503050406030204" pitchFamily="18" charset="0"/>
                      </a:rPr>
                      <m:t>𝐴</m:t>
                    </m:r>
                  </m:oMath>
                </a14:m>
                <a:r>
                  <a:rPr lang="en-US" dirty="0"/>
                  <a:t> of compatible activities</a:t>
                </a:r>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p:txBody>
          </p:sp>
        </mc:Choice>
        <mc:Fallback xmlns="">
          <p:sp>
            <p:nvSpPr>
              <p:cNvPr id="3" name="Content Placeholder 2">
                <a:extLst>
                  <a:ext uri="{FF2B5EF4-FFF2-40B4-BE49-F238E27FC236}">
                    <a16:creationId xmlns:a16="http://schemas.microsoft.com/office/drawing/2014/main" id="{E7C676F9-08F7-3D49-93DF-2EF9B6A9945A}"/>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sp>
        <p:nvSpPr>
          <p:cNvPr id="4" name="Line 5">
            <a:extLst>
              <a:ext uri="{FF2B5EF4-FFF2-40B4-BE49-F238E27FC236}">
                <a16:creationId xmlns:a16="http://schemas.microsoft.com/office/drawing/2014/main" id="{BD83F4D5-03EE-9C4F-B062-5AA2EFFCA14D}"/>
              </a:ext>
            </a:extLst>
          </p:cNvPr>
          <p:cNvSpPr>
            <a:spLocks noChangeShapeType="1"/>
          </p:cNvSpPr>
          <p:nvPr/>
        </p:nvSpPr>
        <p:spPr bwMode="auto">
          <a:xfrm>
            <a:off x="3282077" y="5930348"/>
            <a:ext cx="8382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5" name="Line 7">
            <a:extLst>
              <a:ext uri="{FF2B5EF4-FFF2-40B4-BE49-F238E27FC236}">
                <a16:creationId xmlns:a16="http://schemas.microsoft.com/office/drawing/2014/main" id="{5377E7F7-B3A2-4843-8423-64AF464D7990}"/>
              </a:ext>
            </a:extLst>
          </p:cNvPr>
          <p:cNvSpPr>
            <a:spLocks noChangeShapeType="1"/>
          </p:cNvSpPr>
          <p:nvPr/>
        </p:nvSpPr>
        <p:spPr bwMode="auto">
          <a:xfrm>
            <a:off x="3510677" y="5015948"/>
            <a:ext cx="17526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6" name="Line 8">
            <a:extLst>
              <a:ext uri="{FF2B5EF4-FFF2-40B4-BE49-F238E27FC236}">
                <a16:creationId xmlns:a16="http://schemas.microsoft.com/office/drawing/2014/main" id="{0F7D996D-F540-5142-937D-B1AF0B219151}"/>
              </a:ext>
            </a:extLst>
          </p:cNvPr>
          <p:cNvSpPr>
            <a:spLocks noChangeShapeType="1"/>
          </p:cNvSpPr>
          <p:nvPr/>
        </p:nvSpPr>
        <p:spPr bwMode="auto">
          <a:xfrm>
            <a:off x="5263277" y="5930348"/>
            <a:ext cx="26670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7" name="Line 9">
            <a:extLst>
              <a:ext uri="{FF2B5EF4-FFF2-40B4-BE49-F238E27FC236}">
                <a16:creationId xmlns:a16="http://schemas.microsoft.com/office/drawing/2014/main" id="{16C53FCD-4298-204F-925F-D122658B29F6}"/>
              </a:ext>
            </a:extLst>
          </p:cNvPr>
          <p:cNvSpPr>
            <a:spLocks noChangeShapeType="1"/>
          </p:cNvSpPr>
          <p:nvPr/>
        </p:nvSpPr>
        <p:spPr bwMode="auto">
          <a:xfrm>
            <a:off x="3815477" y="5320748"/>
            <a:ext cx="28194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8" name="Line 10">
            <a:extLst>
              <a:ext uri="{FF2B5EF4-FFF2-40B4-BE49-F238E27FC236}">
                <a16:creationId xmlns:a16="http://schemas.microsoft.com/office/drawing/2014/main" id="{D1A748AF-2B13-AD40-905F-DE9BC470EA9F}"/>
              </a:ext>
            </a:extLst>
          </p:cNvPr>
          <p:cNvSpPr>
            <a:spLocks noChangeShapeType="1"/>
          </p:cNvSpPr>
          <p:nvPr/>
        </p:nvSpPr>
        <p:spPr bwMode="auto">
          <a:xfrm>
            <a:off x="7244477" y="5320748"/>
            <a:ext cx="16764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9" name="Line 6">
            <a:extLst>
              <a:ext uri="{FF2B5EF4-FFF2-40B4-BE49-F238E27FC236}">
                <a16:creationId xmlns:a16="http://schemas.microsoft.com/office/drawing/2014/main" id="{70A1AC67-1216-5345-A45D-7CFC7154F041}"/>
              </a:ext>
            </a:extLst>
          </p:cNvPr>
          <p:cNvSpPr>
            <a:spLocks noChangeShapeType="1"/>
          </p:cNvSpPr>
          <p:nvPr/>
        </p:nvSpPr>
        <p:spPr bwMode="auto">
          <a:xfrm>
            <a:off x="4378695" y="5585792"/>
            <a:ext cx="4572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Tree>
    <p:extLst>
      <p:ext uri="{BB962C8B-B14F-4D97-AF65-F5344CB8AC3E}">
        <p14:creationId xmlns:p14="http://schemas.microsoft.com/office/powerpoint/2010/main" val="801096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p:txBody>
          <a:bodyPr/>
          <a:lstStyle/>
          <a:p>
            <a:r>
              <a:rPr lang="en-US" dirty="0"/>
              <a:t>Activity Scheduling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normAutofit/>
              </a:bodyPr>
              <a:lstStyle/>
              <a:p>
                <a:r>
                  <a:rPr lang="en-US" dirty="0"/>
                  <a:t>Formally: </a:t>
                </a:r>
              </a:p>
              <a:p>
                <a:pPr marL="274320" lvl="1" indent="0">
                  <a:buNone/>
                </a:pPr>
                <a:r>
                  <a:rPr lang="en-US" dirty="0"/>
                  <a:t>Input: A set of activities,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 =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𝑛</m:t>
                        </m:r>
                      </m:sub>
                    </m:sSub>
                    <m:r>
                      <a:rPr lang="en-US" i="1" dirty="0" smtClean="0">
                        <a:latin typeface="Cambria Math" panose="02040503050406030204" pitchFamily="18" charset="0"/>
                      </a:rPr>
                      <m:t>}</m:t>
                    </m:r>
                  </m:oMath>
                </a14:m>
                <a:endParaRPr lang="en-US" dirty="0"/>
              </a:p>
              <a:p>
                <a:pPr lvl="1">
                  <a:buFont typeface="Courier New" panose="02070309020205020404" pitchFamily="49" charset="0"/>
                  <a:buChar char="o"/>
                </a:pPr>
                <a:r>
                  <a:rPr lang="en-US" dirty="0"/>
                  <a:t>Given a set </a:t>
                </a:r>
                <a14:m>
                  <m:oMath xmlns:m="http://schemas.openxmlformats.org/officeDocument/2006/math">
                    <m:r>
                      <a:rPr lang="en-US" i="1" dirty="0">
                        <a:latin typeface="Cambria Math" panose="02040503050406030204" pitchFamily="18" charset="0"/>
                      </a:rPr>
                      <m:t>𝑆</m:t>
                    </m:r>
                  </m:oMath>
                </a14:m>
                <a:r>
                  <a:rPr lang="en-US" dirty="0"/>
                  <a:t> of </a:t>
                </a:r>
                <a14:m>
                  <m:oMath xmlns:m="http://schemas.openxmlformats.org/officeDocument/2006/math">
                    <m:r>
                      <a:rPr lang="en-US" b="0" i="1" dirty="0" smtClean="0">
                        <a:latin typeface="Cambria Math" panose="02040503050406030204" pitchFamily="18" charset="0"/>
                      </a:rPr>
                      <m:t>𝑛</m:t>
                    </m:r>
                  </m:oMath>
                </a14:m>
                <a:r>
                  <a:rPr lang="en-US" dirty="0"/>
                  <a:t> activities </a:t>
                </a:r>
              </a:p>
              <a:p>
                <a:pPr lvl="1">
                  <a:buFont typeface="Courier New" panose="02070309020205020404" pitchFamily="49" charset="0"/>
                  <a:buChar char="o"/>
                </a:pP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oMath>
                </a14:m>
                <a:r>
                  <a:rPr lang="en-US" dirty="0"/>
                  <a:t> = start time of activity </a:t>
                </a:r>
                <a14:m>
                  <m:oMath xmlns:m="http://schemas.openxmlformats.org/officeDocument/2006/math">
                    <m:r>
                      <a:rPr lang="en-US" b="0" i="1" dirty="0" smtClean="0">
                        <a:latin typeface="Cambria Math" panose="02040503050406030204" pitchFamily="18" charset="0"/>
                      </a:rPr>
                      <m:t>𝑖</m:t>
                    </m:r>
                  </m:oMath>
                </a14:m>
                <a:r>
                  <a:rPr lang="en-US" dirty="0"/>
                  <a:t> and </a:t>
                </a:r>
              </a:p>
              <a:p>
                <a:pPr lvl="1">
                  <a:buFont typeface="Courier New" panose="02070309020205020404" pitchFamily="49" charset="0"/>
                  <a:buChar char="o"/>
                </a:pP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𝑖</m:t>
                        </m:r>
                      </m:sub>
                    </m:sSub>
                    <m:r>
                      <a:rPr lang="en-US" i="1" dirty="0">
                        <a:latin typeface="Cambria Math" panose="02040503050406030204" pitchFamily="18" charset="0"/>
                      </a:rPr>
                      <m:t> </m:t>
                    </m:r>
                  </m:oMath>
                </a14:m>
                <a:r>
                  <a:rPr lang="en-US" dirty="0"/>
                  <a:t>= finish time activity </a:t>
                </a:r>
                <a14:m>
                  <m:oMath xmlns:m="http://schemas.openxmlformats.org/officeDocument/2006/math">
                    <m:r>
                      <a:rPr lang="en-US" i="1" dirty="0">
                        <a:latin typeface="Cambria Math" panose="02040503050406030204" pitchFamily="18" charset="0"/>
                      </a:rPr>
                      <m:t>𝑖</m:t>
                    </m:r>
                  </m:oMath>
                </a14:m>
                <a:r>
                  <a:rPr lang="en-US" dirty="0"/>
                  <a:t> </a:t>
                </a:r>
              </a:p>
              <a:p>
                <a:pPr lvl="1">
                  <a:buFont typeface="Courier New" panose="02070309020205020404" pitchFamily="49" charset="0"/>
                  <a:buChar char="o"/>
                </a:pPr>
                <a:r>
                  <a:rPr lang="en-US" dirty="0"/>
                  <a:t>where </a:t>
                </a:r>
                <a14:m>
                  <m:oMath xmlns:m="http://schemas.openxmlformats.org/officeDocument/2006/math">
                    <m:r>
                      <a:rPr lang="en-US" b="0" i="0" dirty="0" smtClean="0">
                        <a:latin typeface="Cambria Math" panose="02040503050406030204" pitchFamily="18" charset="0"/>
                      </a:rPr>
                      <m:t>0</m:t>
                    </m:r>
                    <m:sSub>
                      <m:sSubPr>
                        <m:ctrlPr>
                          <a:rPr lang="en-US" i="1" dirty="0">
                            <a:latin typeface="Cambria Math" panose="02040503050406030204" pitchFamily="18" charset="0"/>
                          </a:rPr>
                        </m:ctrlPr>
                      </m:sSubPr>
                      <m:e>
                        <m:r>
                          <a:rPr lang="en-US" b="0" i="1" dirty="0" smtClean="0">
                            <a:latin typeface="Cambria Math" panose="02040503050406030204" pitchFamily="18" charset="0"/>
                          </a:rPr>
                          <m:t>≤</m:t>
                        </m:r>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r>
                      <a:rPr lang="en-US" b="0" i="1" dirty="0" smtClean="0">
                        <a:latin typeface="Cambria Math" panose="02040503050406030204" pitchFamily="18" charset="0"/>
                        <a:ea typeface="Cambria Math" panose="02040503050406030204" pitchFamily="18" charset="0"/>
                      </a:rPr>
                      <m:t>∞</m:t>
                    </m:r>
                  </m:oMath>
                </a14:m>
                <a:endParaRPr lang="en-US" dirty="0"/>
              </a:p>
              <a:p>
                <a:r>
                  <a:rPr lang="en-US" dirty="0"/>
                  <a:t>Find max-size subset </a:t>
                </a:r>
                <a14:m>
                  <m:oMath xmlns:m="http://schemas.openxmlformats.org/officeDocument/2006/math">
                    <m:r>
                      <a:rPr lang="en-US" i="1" dirty="0" smtClean="0">
                        <a:latin typeface="Cambria Math" panose="02040503050406030204" pitchFamily="18" charset="0"/>
                      </a:rPr>
                      <m:t>𝐴</m:t>
                    </m:r>
                  </m:oMath>
                </a14:m>
                <a:r>
                  <a:rPr lang="en-US" dirty="0"/>
                  <a:t> of compatible activities</a:t>
                </a:r>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p:txBody>
          </p:sp>
        </mc:Choice>
        <mc:Fallback xmlns="">
          <p:sp>
            <p:nvSpPr>
              <p:cNvPr id="3" name="Content Placeholder 2">
                <a:extLst>
                  <a:ext uri="{FF2B5EF4-FFF2-40B4-BE49-F238E27FC236}">
                    <a16:creationId xmlns:a16="http://schemas.microsoft.com/office/drawing/2014/main" id="{E7C676F9-08F7-3D49-93DF-2EF9B6A9945A}"/>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sp>
        <p:nvSpPr>
          <p:cNvPr id="4" name="Line 5">
            <a:extLst>
              <a:ext uri="{FF2B5EF4-FFF2-40B4-BE49-F238E27FC236}">
                <a16:creationId xmlns:a16="http://schemas.microsoft.com/office/drawing/2014/main" id="{BD83F4D5-03EE-9C4F-B062-5AA2EFFCA14D}"/>
              </a:ext>
            </a:extLst>
          </p:cNvPr>
          <p:cNvSpPr>
            <a:spLocks noChangeShapeType="1"/>
          </p:cNvSpPr>
          <p:nvPr/>
        </p:nvSpPr>
        <p:spPr bwMode="auto">
          <a:xfrm>
            <a:off x="3282077" y="5930348"/>
            <a:ext cx="8382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5" name="Line 7">
            <a:extLst>
              <a:ext uri="{FF2B5EF4-FFF2-40B4-BE49-F238E27FC236}">
                <a16:creationId xmlns:a16="http://schemas.microsoft.com/office/drawing/2014/main" id="{5377E7F7-B3A2-4843-8423-64AF464D7990}"/>
              </a:ext>
            </a:extLst>
          </p:cNvPr>
          <p:cNvSpPr>
            <a:spLocks noChangeShapeType="1"/>
          </p:cNvSpPr>
          <p:nvPr/>
        </p:nvSpPr>
        <p:spPr bwMode="auto">
          <a:xfrm>
            <a:off x="3510677" y="5015948"/>
            <a:ext cx="1752600" cy="0"/>
          </a:xfrm>
          <a:prstGeom prst="line">
            <a:avLst/>
          </a:prstGeom>
          <a:noFill/>
          <a:ln w="28575">
            <a:solidFill>
              <a:schemeClr val="bg1">
                <a:lumMod val="85000"/>
              </a:schemeClr>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6" name="Line 8">
            <a:extLst>
              <a:ext uri="{FF2B5EF4-FFF2-40B4-BE49-F238E27FC236}">
                <a16:creationId xmlns:a16="http://schemas.microsoft.com/office/drawing/2014/main" id="{0F7D996D-F540-5142-937D-B1AF0B219151}"/>
              </a:ext>
            </a:extLst>
          </p:cNvPr>
          <p:cNvSpPr>
            <a:spLocks noChangeShapeType="1"/>
          </p:cNvSpPr>
          <p:nvPr/>
        </p:nvSpPr>
        <p:spPr bwMode="auto">
          <a:xfrm>
            <a:off x="5263277" y="5930348"/>
            <a:ext cx="26670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7" name="Line 9">
            <a:extLst>
              <a:ext uri="{FF2B5EF4-FFF2-40B4-BE49-F238E27FC236}">
                <a16:creationId xmlns:a16="http://schemas.microsoft.com/office/drawing/2014/main" id="{16C53FCD-4298-204F-925F-D122658B29F6}"/>
              </a:ext>
            </a:extLst>
          </p:cNvPr>
          <p:cNvSpPr>
            <a:spLocks noChangeShapeType="1"/>
          </p:cNvSpPr>
          <p:nvPr/>
        </p:nvSpPr>
        <p:spPr bwMode="auto">
          <a:xfrm>
            <a:off x="3815477" y="5320748"/>
            <a:ext cx="2819400" cy="0"/>
          </a:xfrm>
          <a:prstGeom prst="line">
            <a:avLst/>
          </a:prstGeom>
          <a:noFill/>
          <a:ln w="28575">
            <a:solidFill>
              <a:schemeClr val="bg1">
                <a:lumMod val="85000"/>
              </a:schemeClr>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
        <p:nvSpPr>
          <p:cNvPr id="8" name="Line 10">
            <a:extLst>
              <a:ext uri="{FF2B5EF4-FFF2-40B4-BE49-F238E27FC236}">
                <a16:creationId xmlns:a16="http://schemas.microsoft.com/office/drawing/2014/main" id="{D1A748AF-2B13-AD40-905F-DE9BC470EA9F}"/>
              </a:ext>
            </a:extLst>
          </p:cNvPr>
          <p:cNvSpPr>
            <a:spLocks noChangeShapeType="1"/>
          </p:cNvSpPr>
          <p:nvPr/>
        </p:nvSpPr>
        <p:spPr bwMode="auto">
          <a:xfrm>
            <a:off x="7244477" y="5320748"/>
            <a:ext cx="1676400" cy="0"/>
          </a:xfrm>
          <a:prstGeom prst="line">
            <a:avLst/>
          </a:prstGeom>
          <a:noFill/>
          <a:ln w="28575">
            <a:solidFill>
              <a:schemeClr val="bg1">
                <a:lumMod val="85000"/>
              </a:schemeClr>
            </a:solidFill>
            <a:round/>
            <a:headEnd type="oval" w="med" len="med"/>
            <a:tailEnd type="oval" w="med" len="med"/>
          </a:ln>
          <a:effectLst/>
        </p:spPr>
        <p:txBody>
          <a:bodyPr wrap="none" anchor="ctr"/>
          <a:lstStyle/>
          <a:p>
            <a:pPr algn="l" eaLnBrk="0" hangingPunct="0"/>
            <a:endParaRPr lang="en-US" sz="2000" i="1" dirty="0">
              <a:solidFill>
                <a:srgbClr val="000000"/>
              </a:solidFill>
              <a:latin typeface="Arial" charset="0"/>
              <a:cs typeface="+mn-cs"/>
            </a:endParaRPr>
          </a:p>
        </p:txBody>
      </p:sp>
      <p:sp>
        <p:nvSpPr>
          <p:cNvPr id="9" name="Line 6">
            <a:extLst>
              <a:ext uri="{FF2B5EF4-FFF2-40B4-BE49-F238E27FC236}">
                <a16:creationId xmlns:a16="http://schemas.microsoft.com/office/drawing/2014/main" id="{70A1AC67-1216-5345-A45D-7CFC7154F041}"/>
              </a:ext>
            </a:extLst>
          </p:cNvPr>
          <p:cNvSpPr>
            <a:spLocks noChangeShapeType="1"/>
          </p:cNvSpPr>
          <p:nvPr/>
        </p:nvSpPr>
        <p:spPr bwMode="auto">
          <a:xfrm>
            <a:off x="4378695" y="5585792"/>
            <a:ext cx="457200" cy="0"/>
          </a:xfrm>
          <a:prstGeom prst="line">
            <a:avLst/>
          </a:prstGeom>
          <a:noFill/>
          <a:ln w="28575">
            <a:solidFill>
              <a:schemeClr val="accent1"/>
            </a:solidFill>
            <a:round/>
            <a:headEnd type="oval" w="med" len="med"/>
            <a:tailEnd type="oval" w="med" len="med"/>
          </a:ln>
          <a:effectLst/>
        </p:spPr>
        <p:txBody>
          <a:bodyPr wrap="none" anchor="ctr"/>
          <a:lstStyle/>
          <a:p>
            <a:pPr algn="l" eaLnBrk="0" hangingPunct="0"/>
            <a:endParaRPr lang="en-US" sz="2000" i="1">
              <a:solidFill>
                <a:srgbClr val="000000"/>
              </a:solidFill>
              <a:latin typeface="Arial" charset="0"/>
              <a:cs typeface="+mn-cs"/>
            </a:endParaRPr>
          </a:p>
        </p:txBody>
      </p:sp>
    </p:spTree>
    <p:extLst>
      <p:ext uri="{BB962C8B-B14F-4D97-AF65-F5344CB8AC3E}">
        <p14:creationId xmlns:p14="http://schemas.microsoft.com/office/powerpoint/2010/main" val="332571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p:txBody>
          <a:bodyPr/>
          <a:lstStyle/>
          <a:p>
            <a:r>
              <a:rPr lang="en-US" dirty="0"/>
              <a:t>Activity Scheduling Problem</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6800" y="3880634"/>
            <a:ext cx="10058400" cy="4050792"/>
          </a:xfrm>
        </p:spPr>
        <p:txBody>
          <a:bodyPr/>
          <a:lstStyle/>
          <a:p>
            <a:pPr marL="0" indent="0" algn="ctr">
              <a:buNone/>
            </a:pPr>
            <a:r>
              <a:rPr lang="en-US" dirty="0"/>
              <a:t>What is the maximum number of activities that can be completed?</a:t>
            </a:r>
          </a:p>
          <a:p>
            <a:endParaRPr lang="en-US" dirty="0"/>
          </a:p>
        </p:txBody>
      </p:sp>
      <p:sp>
        <p:nvSpPr>
          <p:cNvPr id="6" name="Rectangle 1">
            <a:extLst>
              <a:ext uri="{FF2B5EF4-FFF2-40B4-BE49-F238E27FC236}">
                <a16:creationId xmlns:a16="http://schemas.microsoft.com/office/drawing/2014/main" id="{035DED0C-1016-F44C-ADF5-BC7570BC2F3C}"/>
              </a:ext>
            </a:extLst>
          </p:cNvPr>
          <p:cNvSpPr>
            <a:spLocks noChangeArrowheads="1"/>
          </p:cNvSpPr>
          <p:nvPr/>
        </p:nvSpPr>
        <p:spPr bwMode="auto">
          <a:xfrm>
            <a:off x="2171700" y="2110481"/>
            <a:ext cx="7848600" cy="1262062"/>
          </a:xfrm>
          <a:prstGeom prst="rect">
            <a:avLst/>
          </a:prstGeom>
          <a:noFill/>
          <a:ln w="9525">
            <a:noFill/>
            <a:miter lim="800000"/>
            <a:headEnd/>
            <a:tailEnd/>
          </a:ln>
        </p:spPr>
        <p:txBody>
          <a:bodyPr>
            <a:spAutoFit/>
          </a:bodyPr>
          <a:lstStyle/>
          <a:p>
            <a:pPr defTabSz="515938"/>
            <a:r>
              <a:rPr lang="en-US" sz="2200" dirty="0">
                <a:solidFill>
                  <a:srgbClr val="0000CC"/>
                </a:solidFill>
              </a:rPr>
              <a:t>	</a:t>
            </a:r>
            <a:r>
              <a:rPr lang="en-US" sz="2200" u="sng" dirty="0" err="1">
                <a:solidFill>
                  <a:srgbClr val="0000CC"/>
                </a:solidFill>
              </a:rPr>
              <a:t>i</a:t>
            </a:r>
            <a:r>
              <a:rPr lang="en-US" sz="2200" u="sng" dirty="0">
                <a:solidFill>
                  <a:srgbClr val="0000CC"/>
                </a:solidFill>
              </a:rPr>
              <a:t>		1	2	3	4	5	6	7	 8	 9	10	11</a:t>
            </a:r>
          </a:p>
          <a:p>
            <a:pPr defTabSz="515938">
              <a:spcBef>
                <a:spcPts val="600"/>
              </a:spcBef>
            </a:pPr>
            <a:r>
              <a:rPr lang="en-US" sz="2200" dirty="0">
                <a:solidFill>
                  <a:srgbClr val="0000CC"/>
                </a:solidFill>
              </a:rPr>
              <a:t>	</a:t>
            </a:r>
            <a:r>
              <a:rPr lang="en-US" sz="2200" dirty="0" err="1">
                <a:solidFill>
                  <a:srgbClr val="0000CC"/>
                </a:solidFill>
              </a:rPr>
              <a:t>s</a:t>
            </a:r>
            <a:r>
              <a:rPr lang="en-US" sz="2200" baseline="-25000" dirty="0" err="1">
                <a:solidFill>
                  <a:srgbClr val="0000CC"/>
                </a:solidFill>
              </a:rPr>
              <a:t>i</a:t>
            </a:r>
            <a:r>
              <a:rPr lang="en-US" sz="2200" dirty="0">
                <a:solidFill>
                  <a:srgbClr val="0000CC"/>
                </a:solidFill>
              </a:rPr>
              <a:t>		1	3	0	5	3	5	6	 8	 8	2	12</a:t>
            </a:r>
          </a:p>
          <a:p>
            <a:pPr defTabSz="515938">
              <a:spcBef>
                <a:spcPts val="600"/>
              </a:spcBef>
            </a:pPr>
            <a:r>
              <a:rPr lang="en-US" sz="2200" dirty="0">
                <a:solidFill>
                  <a:srgbClr val="0000CC"/>
                </a:solidFill>
              </a:rPr>
              <a:t>	</a:t>
            </a:r>
            <a:r>
              <a:rPr lang="en-US" sz="2200" dirty="0" err="1">
                <a:solidFill>
                  <a:srgbClr val="0000CC"/>
                </a:solidFill>
              </a:rPr>
              <a:t>f</a:t>
            </a:r>
            <a:r>
              <a:rPr lang="en-US" sz="2200" baseline="-25000" dirty="0" err="1">
                <a:solidFill>
                  <a:srgbClr val="0000CC"/>
                </a:solidFill>
              </a:rPr>
              <a:t>i</a:t>
            </a:r>
            <a:r>
              <a:rPr lang="en-US" sz="2200" dirty="0">
                <a:solidFill>
                  <a:srgbClr val="0000CC"/>
                </a:solidFill>
              </a:rPr>
              <a:t>		4	5	6	7	8	9	10	11	12	13	14</a:t>
            </a:r>
          </a:p>
        </p:txBody>
      </p:sp>
    </p:spTree>
    <p:extLst>
      <p:ext uri="{BB962C8B-B14F-4D97-AF65-F5344CB8AC3E}">
        <p14:creationId xmlns:p14="http://schemas.microsoft.com/office/powerpoint/2010/main" val="758684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extLst>
              <p:ext uri="{D42A27DB-BD31-4B8C-83A1-F6EECF244321}">
                <p14:modId xmlns:p14="http://schemas.microsoft.com/office/powerpoint/2010/main" val="1637545003"/>
              </p:ext>
            </p:extLst>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extLst>
                  <p:ext uri="{D42A27DB-BD31-4B8C-83A1-F6EECF244321}">
                    <p14:modId xmlns:p14="http://schemas.microsoft.com/office/powerpoint/2010/main" val="1831255145"/>
                  </p:ext>
                </p:extLst>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extLst>
                  <p:ext uri="{D42A27DB-BD31-4B8C-83A1-F6EECF244321}">
                    <p14:modId xmlns:p14="http://schemas.microsoft.com/office/powerpoint/2010/main" val="1831255145"/>
                  </p:ext>
                </p:extLst>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p:sp>
        <p:nvSpPr>
          <p:cNvPr id="17" name="Oval 16">
            <a:extLst>
              <a:ext uri="{FF2B5EF4-FFF2-40B4-BE49-F238E27FC236}">
                <a16:creationId xmlns:a16="http://schemas.microsoft.com/office/drawing/2014/main" id="{6D044494-B715-0643-9AA4-40CF97F11FEE}"/>
              </a:ext>
            </a:extLst>
          </p:cNvPr>
          <p:cNvSpPr/>
          <p:nvPr/>
        </p:nvSpPr>
        <p:spPr bwMode="auto">
          <a:xfrm>
            <a:off x="8990988" y="1086781"/>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18" name="Oval 17">
            <a:extLst>
              <a:ext uri="{FF2B5EF4-FFF2-40B4-BE49-F238E27FC236}">
                <a16:creationId xmlns:a16="http://schemas.microsoft.com/office/drawing/2014/main" id="{2897C184-350F-B74E-866C-C57D70B543AA}"/>
              </a:ext>
            </a:extLst>
          </p:cNvPr>
          <p:cNvSpPr/>
          <p:nvPr/>
        </p:nvSpPr>
        <p:spPr bwMode="auto">
          <a:xfrm>
            <a:off x="10921407" y="1131202"/>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19" name="Oval 18">
            <a:extLst>
              <a:ext uri="{FF2B5EF4-FFF2-40B4-BE49-F238E27FC236}">
                <a16:creationId xmlns:a16="http://schemas.microsoft.com/office/drawing/2014/main" id="{54D120C7-6158-FA4D-B3D5-2CE8D9BA15B0}"/>
              </a:ext>
            </a:extLst>
          </p:cNvPr>
          <p:cNvSpPr/>
          <p:nvPr/>
        </p:nvSpPr>
        <p:spPr bwMode="auto">
          <a:xfrm>
            <a:off x="11795389" y="1104593"/>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87C3430-4511-7148-B436-3FA8173C8C46}"/>
                  </a:ext>
                </a:extLst>
              </p:cNvPr>
              <p:cNvSpPr/>
              <p:nvPr/>
            </p:nvSpPr>
            <p:spPr>
              <a:xfrm>
                <a:off x="8723955" y="2243722"/>
                <a:ext cx="3272178" cy="369332"/>
              </a:xfrm>
              <a:prstGeom prst="rect">
                <a:avLst/>
              </a:prstGeom>
            </p:spPr>
            <p:txBody>
              <a:bodyPr wrap="none">
                <a:spAutoFit/>
              </a:bodyPr>
              <a:lstStyle/>
              <a:p>
                <a:pPr lvl="0" algn="ctr">
                  <a:buClr>
                    <a:srgbClr val="D34817">
                      <a:lumMod val="75000"/>
                    </a:srgbClr>
                  </a:buClr>
                </a:pPr>
                <a14:m>
                  <m:oMath xmlns:m="http://schemas.openxmlformats.org/officeDocument/2006/math">
                    <m:d>
                      <m:dPr>
                        <m:begChr m:val="{"/>
                        <m:endChr m:val="}"/>
                        <m:ctrlPr>
                          <a:rPr lang="en-US" i="1" dirty="0">
                            <a:solidFill>
                              <a:prstClr val="black"/>
                            </a:solidFill>
                            <a:latin typeface="Cambria Math" panose="02040503050406030204" pitchFamily="18" charset="0"/>
                          </a:rPr>
                        </m:ctrlPr>
                      </m:dPr>
                      <m:e>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3</m:t>
                            </m:r>
                          </m:sub>
                        </m:sSub>
                        <m:r>
                          <a:rPr lang="en-US" i="1" dirty="0">
                            <a:solidFill>
                              <a:prstClr val="black"/>
                            </a:solidFill>
                            <a:latin typeface="Cambria Math" panose="02040503050406030204" pitchFamily="18" charset="0"/>
                          </a:rPr>
                          <m:t>,</m:t>
                        </m:r>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9</m:t>
                            </m:r>
                          </m:sub>
                        </m:sSub>
                        <m:r>
                          <a:rPr lang="en-US" i="1" dirty="0">
                            <a:solidFill>
                              <a:prstClr val="black"/>
                            </a:solidFill>
                            <a:latin typeface="Cambria Math" panose="02040503050406030204" pitchFamily="18" charset="0"/>
                          </a:rPr>
                          <m:t>,</m:t>
                        </m:r>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11</m:t>
                            </m:r>
                          </m:sub>
                        </m:sSub>
                      </m:e>
                    </m:d>
                  </m:oMath>
                </a14:m>
                <a:r>
                  <a:rPr lang="en-US" dirty="0">
                    <a:solidFill>
                      <a:prstClr val="black"/>
                    </a:solidFill>
                  </a:rPr>
                  <a:t> can be scheduled</a:t>
                </a:r>
              </a:p>
            </p:txBody>
          </p:sp>
        </mc:Choice>
        <mc:Fallback xmlns="">
          <p:sp>
            <p:nvSpPr>
              <p:cNvPr id="2" name="Rectangle 1">
                <a:extLst>
                  <a:ext uri="{FF2B5EF4-FFF2-40B4-BE49-F238E27FC236}">
                    <a16:creationId xmlns:a16="http://schemas.microsoft.com/office/drawing/2014/main" id="{287C3430-4511-7148-B436-3FA8173C8C46}"/>
                  </a:ext>
                </a:extLst>
              </p:cNvPr>
              <p:cNvSpPr>
                <a:spLocks noRot="1" noChangeAspect="1" noMove="1" noResize="1" noEditPoints="1" noAdjustHandles="1" noChangeArrowheads="1" noChangeShapeType="1" noTextEdit="1"/>
              </p:cNvSpPr>
              <p:nvPr/>
            </p:nvSpPr>
            <p:spPr>
              <a:xfrm>
                <a:off x="8723955" y="2243722"/>
                <a:ext cx="3272178" cy="369332"/>
              </a:xfrm>
              <a:prstGeom prst="rect">
                <a:avLst/>
              </a:prstGeom>
              <a:blipFill>
                <a:blip r:embed="rId4"/>
                <a:stretch>
                  <a:fillRect t="-6667" r="-1158" b="-23333"/>
                </a:stretch>
              </a:blipFill>
            </p:spPr>
            <p:txBody>
              <a:bodyPr/>
              <a:lstStyle/>
              <a:p>
                <a:r>
                  <a:rPr lang="en-US">
                    <a:noFill/>
                  </a:rPr>
                  <a:t> </a:t>
                </a:r>
              </a:p>
            </p:txBody>
          </p:sp>
        </mc:Fallback>
      </mc:AlternateContent>
    </p:spTree>
    <p:extLst>
      <p:ext uri="{BB962C8B-B14F-4D97-AF65-F5344CB8AC3E}">
        <p14:creationId xmlns:p14="http://schemas.microsoft.com/office/powerpoint/2010/main" val="1592334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p:sp>
        <p:nvSpPr>
          <p:cNvPr id="17" name="Oval 16">
            <a:extLst>
              <a:ext uri="{FF2B5EF4-FFF2-40B4-BE49-F238E27FC236}">
                <a16:creationId xmlns:a16="http://schemas.microsoft.com/office/drawing/2014/main" id="{6D044494-B715-0643-9AA4-40CF97F11FEE}"/>
              </a:ext>
            </a:extLst>
          </p:cNvPr>
          <p:cNvSpPr/>
          <p:nvPr/>
        </p:nvSpPr>
        <p:spPr bwMode="auto">
          <a:xfrm>
            <a:off x="8990988" y="1086781"/>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18" name="Oval 17">
            <a:extLst>
              <a:ext uri="{FF2B5EF4-FFF2-40B4-BE49-F238E27FC236}">
                <a16:creationId xmlns:a16="http://schemas.microsoft.com/office/drawing/2014/main" id="{2897C184-350F-B74E-866C-C57D70B543AA}"/>
              </a:ext>
            </a:extLst>
          </p:cNvPr>
          <p:cNvSpPr/>
          <p:nvPr/>
        </p:nvSpPr>
        <p:spPr bwMode="auto">
          <a:xfrm>
            <a:off x="10921407" y="1131202"/>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19" name="Oval 18">
            <a:extLst>
              <a:ext uri="{FF2B5EF4-FFF2-40B4-BE49-F238E27FC236}">
                <a16:creationId xmlns:a16="http://schemas.microsoft.com/office/drawing/2014/main" id="{54D120C7-6158-FA4D-B3D5-2CE8D9BA15B0}"/>
              </a:ext>
            </a:extLst>
          </p:cNvPr>
          <p:cNvSpPr/>
          <p:nvPr/>
        </p:nvSpPr>
        <p:spPr bwMode="auto">
          <a:xfrm>
            <a:off x="11795389" y="1104593"/>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87C3430-4511-7148-B436-3FA8173C8C46}"/>
                  </a:ext>
                </a:extLst>
              </p:cNvPr>
              <p:cNvSpPr/>
              <p:nvPr/>
            </p:nvSpPr>
            <p:spPr>
              <a:xfrm>
                <a:off x="8211920" y="2243722"/>
                <a:ext cx="4137223" cy="1200329"/>
              </a:xfrm>
              <a:prstGeom prst="rect">
                <a:avLst/>
              </a:prstGeom>
            </p:spPr>
            <p:txBody>
              <a:bodyPr wrap="none">
                <a:spAutoFit/>
              </a:bodyPr>
              <a:lstStyle/>
              <a:p>
                <a:pPr lvl="0" algn="ctr">
                  <a:buClr>
                    <a:srgbClr val="D34817">
                      <a:lumMod val="75000"/>
                    </a:srgbClr>
                  </a:buClr>
                </a:pPr>
                <a14:m>
                  <m:oMath xmlns:m="http://schemas.openxmlformats.org/officeDocument/2006/math">
                    <m:d>
                      <m:dPr>
                        <m:begChr m:val="{"/>
                        <m:endChr m:val="}"/>
                        <m:ctrlPr>
                          <a:rPr lang="en-US" i="1" dirty="0">
                            <a:solidFill>
                              <a:prstClr val="black"/>
                            </a:solidFill>
                            <a:latin typeface="Cambria Math" panose="02040503050406030204" pitchFamily="18" charset="0"/>
                          </a:rPr>
                        </m:ctrlPr>
                      </m:dPr>
                      <m:e>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3</m:t>
                            </m:r>
                          </m:sub>
                        </m:sSub>
                        <m:r>
                          <a:rPr lang="en-US" i="1" dirty="0">
                            <a:solidFill>
                              <a:prstClr val="black"/>
                            </a:solidFill>
                            <a:latin typeface="Cambria Math" panose="02040503050406030204" pitchFamily="18" charset="0"/>
                          </a:rPr>
                          <m:t>,</m:t>
                        </m:r>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9</m:t>
                            </m:r>
                          </m:sub>
                        </m:sSub>
                        <m:r>
                          <a:rPr lang="en-US" i="1" dirty="0">
                            <a:solidFill>
                              <a:prstClr val="black"/>
                            </a:solidFill>
                            <a:latin typeface="Cambria Math" panose="02040503050406030204" pitchFamily="18" charset="0"/>
                          </a:rPr>
                          <m:t>,</m:t>
                        </m:r>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11</m:t>
                            </m:r>
                          </m:sub>
                        </m:sSub>
                      </m:e>
                    </m:d>
                  </m:oMath>
                </a14:m>
                <a:r>
                  <a:rPr lang="en-US" dirty="0">
                    <a:solidFill>
                      <a:prstClr val="black"/>
                    </a:solidFill>
                  </a:rPr>
                  <a:t> can be scheduled</a:t>
                </a:r>
              </a:p>
              <a:p>
                <a:pPr lvl="0" algn="ctr">
                  <a:buClr>
                    <a:srgbClr val="D34817">
                      <a:lumMod val="75000"/>
                    </a:srgbClr>
                  </a:buClr>
                </a:pPr>
                <a14:m>
                  <m:oMath xmlns:m="http://schemas.openxmlformats.org/officeDocument/2006/math">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4</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8</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11</m:t>
                            </m:r>
                          </m:sub>
                        </m:sSub>
                      </m:e>
                    </m:d>
                  </m:oMath>
                </a14:m>
                <a:r>
                  <a:rPr lang="en-US" dirty="0"/>
                  <a:t> can also be scheduled </a:t>
                </a:r>
              </a:p>
              <a:p>
                <a:pPr algn="ctr">
                  <a:buClr>
                    <a:srgbClr val="D34817">
                      <a:lumMod val="75000"/>
                    </a:srgbClr>
                  </a:buClr>
                </a:pPr>
                <a:r>
                  <a:rPr lang="en-US" dirty="0">
                    <a:sym typeface="Wingdings" pitchFamily="2" charset="2"/>
                  </a:rPr>
                  <a:t> larger set</a:t>
                </a:r>
                <a:r>
                  <a:rPr lang="en-US" dirty="0"/>
                  <a:t> </a:t>
                </a:r>
              </a:p>
              <a:p>
                <a:pPr lvl="0" algn="ctr">
                  <a:buClr>
                    <a:srgbClr val="D34817">
                      <a:lumMod val="75000"/>
                    </a:srgbClr>
                  </a:buClr>
                </a:pPr>
                <a:endParaRPr lang="en-US" dirty="0">
                  <a:solidFill>
                    <a:prstClr val="black"/>
                  </a:solidFill>
                </a:endParaRPr>
              </a:p>
            </p:txBody>
          </p:sp>
        </mc:Choice>
        <mc:Fallback xmlns="">
          <p:sp>
            <p:nvSpPr>
              <p:cNvPr id="2" name="Rectangle 1">
                <a:extLst>
                  <a:ext uri="{FF2B5EF4-FFF2-40B4-BE49-F238E27FC236}">
                    <a16:creationId xmlns:a16="http://schemas.microsoft.com/office/drawing/2014/main" id="{287C3430-4511-7148-B436-3FA8173C8C46}"/>
                  </a:ext>
                </a:extLst>
              </p:cNvPr>
              <p:cNvSpPr>
                <a:spLocks noRot="1" noChangeAspect="1" noMove="1" noResize="1" noEditPoints="1" noAdjustHandles="1" noChangeArrowheads="1" noChangeShapeType="1" noTextEdit="1"/>
              </p:cNvSpPr>
              <p:nvPr/>
            </p:nvSpPr>
            <p:spPr>
              <a:xfrm>
                <a:off x="8211920" y="2243722"/>
                <a:ext cx="4137223" cy="1200329"/>
              </a:xfrm>
              <a:prstGeom prst="rect">
                <a:avLst/>
              </a:prstGeom>
              <a:blipFill>
                <a:blip r:embed="rId4"/>
                <a:stretch>
                  <a:fillRect t="-2083" r="-612"/>
                </a:stretch>
              </a:blipFill>
            </p:spPr>
            <p:txBody>
              <a:bodyPr/>
              <a:lstStyle/>
              <a:p>
                <a:r>
                  <a:rPr lang="en-US">
                    <a:noFill/>
                  </a:rPr>
                  <a:t> </a:t>
                </a:r>
              </a:p>
            </p:txBody>
          </p:sp>
        </mc:Fallback>
      </mc:AlternateContent>
    </p:spTree>
    <p:extLst>
      <p:ext uri="{BB962C8B-B14F-4D97-AF65-F5344CB8AC3E}">
        <p14:creationId xmlns:p14="http://schemas.microsoft.com/office/powerpoint/2010/main" val="279356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p:sp>
        <p:nvSpPr>
          <p:cNvPr id="17" name="Oval 16">
            <a:extLst>
              <a:ext uri="{FF2B5EF4-FFF2-40B4-BE49-F238E27FC236}">
                <a16:creationId xmlns:a16="http://schemas.microsoft.com/office/drawing/2014/main" id="{6D044494-B715-0643-9AA4-40CF97F11FEE}"/>
              </a:ext>
            </a:extLst>
          </p:cNvPr>
          <p:cNvSpPr/>
          <p:nvPr/>
        </p:nvSpPr>
        <p:spPr bwMode="auto">
          <a:xfrm>
            <a:off x="8990988" y="1086781"/>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18" name="Oval 17">
            <a:extLst>
              <a:ext uri="{FF2B5EF4-FFF2-40B4-BE49-F238E27FC236}">
                <a16:creationId xmlns:a16="http://schemas.microsoft.com/office/drawing/2014/main" id="{2897C184-350F-B74E-866C-C57D70B543AA}"/>
              </a:ext>
            </a:extLst>
          </p:cNvPr>
          <p:cNvSpPr/>
          <p:nvPr/>
        </p:nvSpPr>
        <p:spPr bwMode="auto">
          <a:xfrm>
            <a:off x="10921407" y="1131202"/>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19" name="Oval 18">
            <a:extLst>
              <a:ext uri="{FF2B5EF4-FFF2-40B4-BE49-F238E27FC236}">
                <a16:creationId xmlns:a16="http://schemas.microsoft.com/office/drawing/2014/main" id="{54D120C7-6158-FA4D-B3D5-2CE8D9BA15B0}"/>
              </a:ext>
            </a:extLst>
          </p:cNvPr>
          <p:cNvSpPr/>
          <p:nvPr/>
        </p:nvSpPr>
        <p:spPr bwMode="auto">
          <a:xfrm>
            <a:off x="11795389" y="1104593"/>
            <a:ext cx="401489" cy="1074485"/>
          </a:xfrm>
          <a:prstGeom prst="ellipse">
            <a:avLst/>
          </a:prstGeom>
          <a:noFill/>
          <a:ln w="31750" cap="flat" cmpd="sng" algn="ctr">
            <a:solidFill>
              <a:srgbClr val="660066"/>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87C3430-4511-7148-B436-3FA8173C8C46}"/>
                  </a:ext>
                </a:extLst>
              </p:cNvPr>
              <p:cNvSpPr/>
              <p:nvPr/>
            </p:nvSpPr>
            <p:spPr>
              <a:xfrm>
                <a:off x="8211664" y="2243722"/>
                <a:ext cx="4137735" cy="2031325"/>
              </a:xfrm>
              <a:prstGeom prst="rect">
                <a:avLst/>
              </a:prstGeom>
            </p:spPr>
            <p:txBody>
              <a:bodyPr wrap="none">
                <a:spAutoFit/>
              </a:bodyPr>
              <a:lstStyle/>
              <a:p>
                <a:pPr lvl="0" algn="ctr">
                  <a:buClr>
                    <a:srgbClr val="D34817">
                      <a:lumMod val="75000"/>
                    </a:srgbClr>
                  </a:buClr>
                </a:pPr>
                <a14:m>
                  <m:oMath xmlns:m="http://schemas.openxmlformats.org/officeDocument/2006/math">
                    <m:d>
                      <m:dPr>
                        <m:begChr m:val="{"/>
                        <m:endChr m:val="}"/>
                        <m:ctrlPr>
                          <a:rPr lang="en-US" i="1" dirty="0">
                            <a:solidFill>
                              <a:prstClr val="black"/>
                            </a:solidFill>
                            <a:latin typeface="Cambria Math" panose="02040503050406030204" pitchFamily="18" charset="0"/>
                          </a:rPr>
                        </m:ctrlPr>
                      </m:dPr>
                      <m:e>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3</m:t>
                            </m:r>
                          </m:sub>
                        </m:sSub>
                        <m:r>
                          <a:rPr lang="en-US" i="1" dirty="0">
                            <a:solidFill>
                              <a:prstClr val="black"/>
                            </a:solidFill>
                            <a:latin typeface="Cambria Math" panose="02040503050406030204" pitchFamily="18" charset="0"/>
                          </a:rPr>
                          <m:t>,</m:t>
                        </m:r>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9</m:t>
                            </m:r>
                          </m:sub>
                        </m:sSub>
                        <m:r>
                          <a:rPr lang="en-US" i="1" dirty="0">
                            <a:solidFill>
                              <a:prstClr val="black"/>
                            </a:solidFill>
                            <a:latin typeface="Cambria Math" panose="02040503050406030204" pitchFamily="18" charset="0"/>
                          </a:rPr>
                          <m:t>,</m:t>
                        </m:r>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𝑎</m:t>
                            </m:r>
                          </m:e>
                          <m:sub>
                            <m:r>
                              <a:rPr lang="en-US" i="1" dirty="0">
                                <a:solidFill>
                                  <a:prstClr val="black"/>
                                </a:solidFill>
                                <a:latin typeface="Cambria Math" panose="02040503050406030204" pitchFamily="18" charset="0"/>
                              </a:rPr>
                              <m:t>11</m:t>
                            </m:r>
                          </m:sub>
                        </m:sSub>
                      </m:e>
                    </m:d>
                  </m:oMath>
                </a14:m>
                <a:r>
                  <a:rPr lang="en-US" dirty="0">
                    <a:solidFill>
                      <a:prstClr val="black"/>
                    </a:solidFill>
                  </a:rPr>
                  <a:t> can be scheduled</a:t>
                </a:r>
              </a:p>
              <a:p>
                <a:pPr lvl="0" algn="ctr">
                  <a:buClr>
                    <a:srgbClr val="D34817">
                      <a:lumMod val="75000"/>
                    </a:srgbClr>
                  </a:buClr>
                </a:pPr>
                <a14:m>
                  <m:oMath xmlns:m="http://schemas.openxmlformats.org/officeDocument/2006/math">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4</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8</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11</m:t>
                            </m:r>
                          </m:sub>
                        </m:sSub>
                      </m:e>
                    </m:d>
                  </m:oMath>
                </a14:m>
                <a:r>
                  <a:rPr lang="en-US" dirty="0"/>
                  <a:t> can also be scheduled </a:t>
                </a:r>
              </a:p>
              <a:p>
                <a:pPr marL="285750" indent="-285750" algn="ctr">
                  <a:buClr>
                    <a:srgbClr val="D34817">
                      <a:lumMod val="75000"/>
                    </a:srgbClr>
                  </a:buClr>
                  <a:buFont typeface="Wingdings" pitchFamily="2" charset="2"/>
                  <a:buChar char="à"/>
                </a:pPr>
                <a:r>
                  <a:rPr lang="en-US" dirty="0">
                    <a:sym typeface="Wingdings" pitchFamily="2" charset="2"/>
                  </a:rPr>
                  <a:t>larger set</a:t>
                </a:r>
                <a:r>
                  <a:rPr lang="en-US" dirty="0"/>
                  <a:t> </a:t>
                </a:r>
              </a:p>
              <a:p>
                <a:pPr lvl="0" algn="ctr">
                  <a:buClr>
                    <a:srgbClr val="D34817">
                      <a:lumMod val="75000"/>
                    </a:srgbClr>
                  </a:buClr>
                </a:pPr>
                <a14:m>
                  <m:oMath xmlns:m="http://schemas.openxmlformats.org/officeDocument/2006/math">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4</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9</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11</m:t>
                            </m:r>
                          </m:sub>
                        </m:sSub>
                      </m:e>
                    </m:d>
                  </m:oMath>
                </a14:m>
                <a:r>
                  <a:rPr lang="en-US" dirty="0"/>
                  <a:t> can also be scheduled </a:t>
                </a:r>
              </a:p>
              <a:p>
                <a:pPr marL="285750" indent="-285750" algn="ctr">
                  <a:buClr>
                    <a:srgbClr val="D34817">
                      <a:lumMod val="75000"/>
                    </a:srgbClr>
                  </a:buClr>
                  <a:buFont typeface="Wingdings" pitchFamily="2" charset="2"/>
                  <a:buChar char="à"/>
                </a:pPr>
                <a:r>
                  <a:rPr lang="en-US" dirty="0">
                    <a:sym typeface="Wingdings" pitchFamily="2" charset="2"/>
                  </a:rPr>
                  <a:t>another larger set</a:t>
                </a:r>
                <a:r>
                  <a:rPr lang="en-US" dirty="0"/>
                  <a:t> </a:t>
                </a:r>
              </a:p>
              <a:p>
                <a:pPr algn="ctr">
                  <a:buClr>
                    <a:srgbClr val="D34817">
                      <a:lumMod val="75000"/>
                    </a:srgbClr>
                  </a:buClr>
                </a:pPr>
                <a:endParaRPr lang="en-US" dirty="0"/>
              </a:p>
              <a:p>
                <a:pPr lvl="0" algn="ctr">
                  <a:buClr>
                    <a:srgbClr val="D34817">
                      <a:lumMod val="75000"/>
                    </a:srgbClr>
                  </a:buClr>
                </a:pPr>
                <a:endParaRPr lang="en-US" dirty="0">
                  <a:solidFill>
                    <a:prstClr val="black"/>
                  </a:solidFill>
                </a:endParaRPr>
              </a:p>
            </p:txBody>
          </p:sp>
        </mc:Choice>
        <mc:Fallback xmlns="">
          <p:sp>
            <p:nvSpPr>
              <p:cNvPr id="2" name="Rectangle 1">
                <a:extLst>
                  <a:ext uri="{FF2B5EF4-FFF2-40B4-BE49-F238E27FC236}">
                    <a16:creationId xmlns:a16="http://schemas.microsoft.com/office/drawing/2014/main" id="{287C3430-4511-7148-B436-3FA8173C8C46}"/>
                  </a:ext>
                </a:extLst>
              </p:cNvPr>
              <p:cNvSpPr>
                <a:spLocks noRot="1" noChangeAspect="1" noMove="1" noResize="1" noEditPoints="1" noAdjustHandles="1" noChangeArrowheads="1" noChangeShapeType="1" noTextEdit="1"/>
              </p:cNvSpPr>
              <p:nvPr/>
            </p:nvSpPr>
            <p:spPr>
              <a:xfrm>
                <a:off x="8211664" y="2243722"/>
                <a:ext cx="4137735" cy="2031325"/>
              </a:xfrm>
              <a:prstGeom prst="rect">
                <a:avLst/>
              </a:prstGeom>
              <a:blipFill>
                <a:blip r:embed="rId4"/>
                <a:stretch>
                  <a:fillRect t="-1242" r="-612"/>
                </a:stretch>
              </a:blipFill>
            </p:spPr>
            <p:txBody>
              <a:bodyPr/>
              <a:lstStyle/>
              <a:p>
                <a:r>
                  <a:rPr lang="en-US">
                    <a:noFill/>
                  </a:rPr>
                  <a:t> </a:t>
                </a:r>
              </a:p>
            </p:txBody>
          </p:sp>
        </mc:Fallback>
      </mc:AlternateContent>
    </p:spTree>
    <p:extLst>
      <p:ext uri="{BB962C8B-B14F-4D97-AF65-F5344CB8AC3E}">
        <p14:creationId xmlns:p14="http://schemas.microsoft.com/office/powerpoint/2010/main" val="1487523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p:txBody>
          <a:bodyPr/>
          <a:lstStyle/>
          <a:p>
            <a:r>
              <a:rPr lang="en-US" dirty="0"/>
              <a:t>Activity Scheduling Problem</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9848" y="2093976"/>
            <a:ext cx="10058400" cy="4050792"/>
          </a:xfrm>
        </p:spPr>
        <p:txBody>
          <a:bodyPr/>
          <a:lstStyle/>
          <a:p>
            <a:r>
              <a:rPr lang="en-US" altLang="zh-TW" dirty="0">
                <a:ea typeface="PMingLiU" pitchFamily="18" charset="-120"/>
              </a:rPr>
              <a:t>The greedy choice can be applied to </a:t>
            </a:r>
            <a:r>
              <a:rPr lang="en-US" altLang="zh-TW" dirty="0"/>
              <a:t>f</a:t>
            </a:r>
            <a:r>
              <a:rPr lang="en-US" dirty="0"/>
              <a:t>ind </a:t>
            </a:r>
            <a:r>
              <a:rPr lang="en-US" i="1" dirty="0"/>
              <a:t>solutions</a:t>
            </a:r>
            <a:r>
              <a:rPr lang="en-US" dirty="0"/>
              <a:t> (the maximum number of activities that can be performed) by using</a:t>
            </a:r>
          </a:p>
          <a:p>
            <a:pPr marL="0" indent="0">
              <a:buNone/>
            </a:pPr>
            <a:endParaRPr lang="en-US" dirty="0"/>
          </a:p>
          <a:p>
            <a:pPr lvl="1">
              <a:buFont typeface="Courier New" panose="02070309020205020404" pitchFamily="49" charset="0"/>
              <a:buChar char="o"/>
            </a:pPr>
            <a:r>
              <a:rPr lang="en-US" dirty="0"/>
              <a:t>earliest finish time</a:t>
            </a:r>
          </a:p>
          <a:p>
            <a:pPr marL="274320" lvl="1" indent="0">
              <a:buNone/>
            </a:pPr>
            <a:endParaRPr lang="en-US" dirty="0"/>
          </a:p>
          <a:p>
            <a:pPr lvl="1">
              <a:buFont typeface="Courier New" panose="02070309020205020404" pitchFamily="49" charset="0"/>
              <a:buChar char="o"/>
            </a:pPr>
            <a:r>
              <a:rPr lang="en-US" dirty="0"/>
              <a:t>earliest start time</a:t>
            </a:r>
          </a:p>
          <a:p>
            <a:pPr marL="274320" lvl="1" indent="0">
              <a:buNone/>
            </a:pPr>
            <a:endParaRPr lang="en-US" dirty="0"/>
          </a:p>
          <a:p>
            <a:pPr lvl="1">
              <a:buFont typeface="Courier New" panose="02070309020205020404" pitchFamily="49" charset="0"/>
              <a:buChar char="o"/>
            </a:pPr>
            <a:r>
              <a:rPr lang="en-US" dirty="0"/>
              <a:t>shortest interval</a:t>
            </a:r>
          </a:p>
        </p:txBody>
      </p:sp>
    </p:spTree>
    <p:extLst>
      <p:ext uri="{BB962C8B-B14F-4D97-AF65-F5344CB8AC3E}">
        <p14:creationId xmlns:p14="http://schemas.microsoft.com/office/powerpoint/2010/main" val="4267122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p:txBody>
          <a:bodyPr/>
          <a:lstStyle/>
          <a:p>
            <a:r>
              <a:rPr lang="en-US" dirty="0"/>
              <a:t>Activity Scheduling Problem</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9848" y="2093976"/>
            <a:ext cx="10058400" cy="4050792"/>
          </a:xfrm>
        </p:spPr>
        <p:txBody>
          <a:bodyPr/>
          <a:lstStyle/>
          <a:p>
            <a:r>
              <a:rPr lang="en-US" altLang="zh-TW" dirty="0">
                <a:ea typeface="PMingLiU" pitchFamily="18" charset="-120"/>
              </a:rPr>
              <a:t>The greedy choice can be applied to </a:t>
            </a:r>
            <a:r>
              <a:rPr lang="en-US" altLang="zh-TW" dirty="0"/>
              <a:t>f</a:t>
            </a:r>
            <a:r>
              <a:rPr lang="en-US" dirty="0"/>
              <a:t>ind </a:t>
            </a:r>
            <a:r>
              <a:rPr lang="en-US" i="1" dirty="0"/>
              <a:t>solutions</a:t>
            </a:r>
            <a:r>
              <a:rPr lang="en-US" dirty="0"/>
              <a:t> (the maximum number of activities that can be performed) by using</a:t>
            </a:r>
          </a:p>
          <a:p>
            <a:pPr marL="0" indent="0">
              <a:buNone/>
            </a:pPr>
            <a:endParaRPr lang="en-US" dirty="0"/>
          </a:p>
          <a:p>
            <a:pPr lvl="1">
              <a:buFont typeface="Courier New" panose="02070309020205020404" pitchFamily="49" charset="0"/>
              <a:buChar char="o"/>
            </a:pPr>
            <a:r>
              <a:rPr lang="en-US" dirty="0"/>
              <a:t>earliest finish time</a:t>
            </a:r>
          </a:p>
          <a:p>
            <a:pPr marL="274320" lvl="1" indent="0">
              <a:buNone/>
            </a:pPr>
            <a:endParaRPr lang="en-US" dirty="0"/>
          </a:p>
          <a:p>
            <a:pPr lvl="1">
              <a:buFont typeface="Courier New" panose="02070309020205020404" pitchFamily="49" charset="0"/>
              <a:buChar char="o"/>
            </a:pPr>
            <a:r>
              <a:rPr lang="en-US" dirty="0"/>
              <a:t>earliest start time</a:t>
            </a:r>
          </a:p>
          <a:p>
            <a:pPr marL="274320" lvl="1" indent="0">
              <a:buNone/>
            </a:pPr>
            <a:endParaRPr lang="en-US" dirty="0"/>
          </a:p>
          <a:p>
            <a:pPr lvl="1">
              <a:buFont typeface="Courier New" panose="02070309020205020404" pitchFamily="49" charset="0"/>
              <a:buChar char="o"/>
            </a:pPr>
            <a:r>
              <a:rPr lang="en-US" dirty="0"/>
              <a:t>shortest interval</a:t>
            </a:r>
          </a:p>
        </p:txBody>
      </p:sp>
      <p:grpSp>
        <p:nvGrpSpPr>
          <p:cNvPr id="12" name="Group 11">
            <a:extLst>
              <a:ext uri="{FF2B5EF4-FFF2-40B4-BE49-F238E27FC236}">
                <a16:creationId xmlns:a16="http://schemas.microsoft.com/office/drawing/2014/main" id="{6C0B56BE-840E-0E44-999B-C84C4639E0A4}"/>
              </a:ext>
            </a:extLst>
          </p:cNvPr>
          <p:cNvGrpSpPr/>
          <p:nvPr/>
        </p:nvGrpSpPr>
        <p:grpSpPr>
          <a:xfrm>
            <a:off x="4306890" y="2919275"/>
            <a:ext cx="2249422" cy="749808"/>
            <a:chOff x="4722440" y="2227511"/>
            <a:chExt cx="2369840" cy="985465"/>
          </a:xfrm>
        </p:grpSpPr>
        <p:sp>
          <p:nvSpPr>
            <p:cNvPr id="13" name="TextBox 12">
              <a:extLst>
                <a:ext uri="{FF2B5EF4-FFF2-40B4-BE49-F238E27FC236}">
                  <a16:creationId xmlns:a16="http://schemas.microsoft.com/office/drawing/2014/main" id="{0D21DA94-016A-4D43-8B1E-D9A559474DB1}"/>
                </a:ext>
              </a:extLst>
            </p:cNvPr>
            <p:cNvSpPr txBox="1"/>
            <p:nvPr/>
          </p:nvSpPr>
          <p:spPr>
            <a:xfrm>
              <a:off x="4777680" y="2322166"/>
              <a:ext cx="2314600" cy="584775"/>
            </a:xfrm>
            <a:prstGeom prst="rect">
              <a:avLst/>
            </a:prstGeom>
            <a:noFill/>
          </p:spPr>
          <p:txBody>
            <a:bodyPr wrap="square" rtlCol="0">
              <a:spAutoFit/>
            </a:bodyPr>
            <a:lstStyle/>
            <a:p>
              <a:r>
                <a:rPr lang="en-US" sz="1600" dirty="0">
                  <a:solidFill>
                    <a:srgbClr val="0000CC"/>
                  </a:solidFill>
                  <a:latin typeface="+mn-lt"/>
                </a:rPr>
                <a:t>Always gives optimal solution</a:t>
              </a:r>
            </a:p>
          </p:txBody>
        </p:sp>
        <p:sp>
          <p:nvSpPr>
            <p:cNvPr id="14" name="Rounded Rectangular Callout 13">
              <a:extLst>
                <a:ext uri="{FF2B5EF4-FFF2-40B4-BE49-F238E27FC236}">
                  <a16:creationId xmlns:a16="http://schemas.microsoft.com/office/drawing/2014/main" id="{9E58994B-4AD4-0646-8652-723F008F3112}"/>
                </a:ext>
              </a:extLst>
            </p:cNvPr>
            <p:cNvSpPr/>
            <p:nvPr/>
          </p:nvSpPr>
          <p:spPr bwMode="auto">
            <a:xfrm>
              <a:off x="4722440" y="2227511"/>
              <a:ext cx="2359496" cy="985465"/>
            </a:xfrm>
            <a:prstGeom prst="wedgeRoundRectCallout">
              <a:avLst>
                <a:gd name="adj1" fmla="val -83798"/>
                <a:gd name="adj2" fmla="val -1141"/>
                <a:gd name="adj3" fmla="val 16667"/>
              </a:avLst>
            </a:prstGeom>
            <a:noFill/>
            <a:ln w="25400" cap="flat" cmpd="sng" algn="ctr">
              <a:solidFill>
                <a:srgbClr val="0000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grpSp>
    </p:spTree>
    <p:extLst>
      <p:ext uri="{BB962C8B-B14F-4D97-AF65-F5344CB8AC3E}">
        <p14:creationId xmlns:p14="http://schemas.microsoft.com/office/powerpoint/2010/main" val="1382948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p:txBody>
          <a:bodyPr/>
          <a:lstStyle/>
          <a:p>
            <a:r>
              <a:rPr lang="en-US" dirty="0"/>
              <a:t>Activity Scheduling Problem</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9848" y="2093976"/>
            <a:ext cx="10058400" cy="4050792"/>
          </a:xfrm>
        </p:spPr>
        <p:txBody>
          <a:bodyPr/>
          <a:lstStyle/>
          <a:p>
            <a:r>
              <a:rPr lang="en-US" altLang="zh-TW" dirty="0">
                <a:ea typeface="PMingLiU" pitchFamily="18" charset="-120"/>
              </a:rPr>
              <a:t>The greedy choice can be applied to </a:t>
            </a:r>
            <a:r>
              <a:rPr lang="en-US" altLang="zh-TW" dirty="0"/>
              <a:t>f</a:t>
            </a:r>
            <a:r>
              <a:rPr lang="en-US" dirty="0"/>
              <a:t>ind </a:t>
            </a:r>
            <a:r>
              <a:rPr lang="en-US" i="1" dirty="0"/>
              <a:t>solutions</a:t>
            </a:r>
            <a:r>
              <a:rPr lang="en-US" dirty="0"/>
              <a:t> (the maximum number of activities that can be performed) by using</a:t>
            </a:r>
          </a:p>
          <a:p>
            <a:pPr marL="0" indent="0">
              <a:buNone/>
            </a:pPr>
            <a:endParaRPr lang="en-US" dirty="0"/>
          </a:p>
          <a:p>
            <a:pPr lvl="1">
              <a:buFont typeface="Courier New" panose="02070309020205020404" pitchFamily="49" charset="0"/>
              <a:buChar char="o"/>
            </a:pPr>
            <a:r>
              <a:rPr lang="en-US" dirty="0"/>
              <a:t>earliest finish time</a:t>
            </a:r>
          </a:p>
          <a:p>
            <a:pPr marL="274320" lvl="1" indent="0">
              <a:buNone/>
            </a:pPr>
            <a:endParaRPr lang="en-US" dirty="0"/>
          </a:p>
          <a:p>
            <a:pPr lvl="1">
              <a:buFont typeface="Courier New" panose="02070309020205020404" pitchFamily="49" charset="0"/>
              <a:buChar char="o"/>
            </a:pPr>
            <a:r>
              <a:rPr lang="en-US" dirty="0"/>
              <a:t>earliest start time</a:t>
            </a:r>
          </a:p>
          <a:p>
            <a:pPr marL="274320" lvl="1" indent="0">
              <a:buNone/>
            </a:pPr>
            <a:endParaRPr lang="en-US" dirty="0"/>
          </a:p>
          <a:p>
            <a:pPr lvl="1">
              <a:buFont typeface="Courier New" panose="02070309020205020404" pitchFamily="49" charset="0"/>
              <a:buChar char="o"/>
            </a:pPr>
            <a:r>
              <a:rPr lang="en-US" dirty="0"/>
              <a:t>shortest interval</a:t>
            </a:r>
          </a:p>
        </p:txBody>
      </p:sp>
      <p:grpSp>
        <p:nvGrpSpPr>
          <p:cNvPr id="5" name="Group 4">
            <a:extLst>
              <a:ext uri="{FF2B5EF4-FFF2-40B4-BE49-F238E27FC236}">
                <a16:creationId xmlns:a16="http://schemas.microsoft.com/office/drawing/2014/main" id="{8EBE3FCD-378C-2F47-B558-2103CBD16F3C}"/>
              </a:ext>
            </a:extLst>
          </p:cNvPr>
          <p:cNvGrpSpPr/>
          <p:nvPr/>
        </p:nvGrpSpPr>
        <p:grpSpPr>
          <a:xfrm>
            <a:off x="4306890" y="4902293"/>
            <a:ext cx="2249422" cy="745436"/>
            <a:chOff x="4716016" y="4653136"/>
            <a:chExt cx="2736304" cy="985465"/>
          </a:xfrm>
        </p:grpSpPr>
        <p:sp>
          <p:nvSpPr>
            <p:cNvPr id="7" name="Rounded Rectangular Callout 6">
              <a:extLst>
                <a:ext uri="{FF2B5EF4-FFF2-40B4-BE49-F238E27FC236}">
                  <a16:creationId xmlns:a16="http://schemas.microsoft.com/office/drawing/2014/main" id="{9800B1BC-9A49-FB4A-BDEE-A2396578E542}"/>
                </a:ext>
              </a:extLst>
            </p:cNvPr>
            <p:cNvSpPr/>
            <p:nvPr/>
          </p:nvSpPr>
          <p:spPr bwMode="auto">
            <a:xfrm>
              <a:off x="4716016" y="4653136"/>
              <a:ext cx="2736304" cy="985465"/>
            </a:xfrm>
            <a:prstGeom prst="wedgeRoundRectCallout">
              <a:avLst>
                <a:gd name="adj1" fmla="val -87951"/>
                <a:gd name="adj2" fmla="val -85495"/>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sp>
          <p:nvSpPr>
            <p:cNvPr id="8" name="TextBox 7">
              <a:extLst>
                <a:ext uri="{FF2B5EF4-FFF2-40B4-BE49-F238E27FC236}">
                  <a16:creationId xmlns:a16="http://schemas.microsoft.com/office/drawing/2014/main" id="{949C3C1B-0480-7942-AC4C-43D63CA0C82F}"/>
                </a:ext>
              </a:extLst>
            </p:cNvPr>
            <p:cNvSpPr txBox="1"/>
            <p:nvPr/>
          </p:nvSpPr>
          <p:spPr>
            <a:xfrm>
              <a:off x="4716016" y="4747791"/>
              <a:ext cx="2736304" cy="584775"/>
            </a:xfrm>
            <a:prstGeom prst="rect">
              <a:avLst/>
            </a:prstGeom>
            <a:noFill/>
          </p:spPr>
          <p:txBody>
            <a:bodyPr wrap="square" rtlCol="0">
              <a:spAutoFit/>
            </a:bodyPr>
            <a:lstStyle/>
            <a:p>
              <a:r>
                <a:rPr lang="en-US" sz="1600" dirty="0">
                  <a:solidFill>
                    <a:srgbClr val="FF0000"/>
                  </a:solidFill>
                  <a:latin typeface="+mn-lt"/>
                </a:rPr>
                <a:t>Does not always give optimal solution</a:t>
              </a:r>
            </a:p>
          </p:txBody>
        </p:sp>
      </p:grpSp>
      <p:grpSp>
        <p:nvGrpSpPr>
          <p:cNvPr id="9" name="Group 8">
            <a:extLst>
              <a:ext uri="{FF2B5EF4-FFF2-40B4-BE49-F238E27FC236}">
                <a16:creationId xmlns:a16="http://schemas.microsoft.com/office/drawing/2014/main" id="{DA885DE4-0A66-5C47-A405-B059D1029D2D}"/>
              </a:ext>
            </a:extLst>
          </p:cNvPr>
          <p:cNvGrpSpPr/>
          <p:nvPr/>
        </p:nvGrpSpPr>
        <p:grpSpPr>
          <a:xfrm>
            <a:off x="4306890" y="3927504"/>
            <a:ext cx="2249422" cy="745435"/>
            <a:chOff x="4716016" y="3429000"/>
            <a:chExt cx="2736304" cy="985465"/>
          </a:xfrm>
        </p:grpSpPr>
        <p:sp>
          <p:nvSpPr>
            <p:cNvPr id="10" name="Rounded Rectangular Callout 9">
              <a:extLst>
                <a:ext uri="{FF2B5EF4-FFF2-40B4-BE49-F238E27FC236}">
                  <a16:creationId xmlns:a16="http://schemas.microsoft.com/office/drawing/2014/main" id="{B27BBBC1-AF5E-7A41-B7A5-FAD13381BDBB}"/>
                </a:ext>
              </a:extLst>
            </p:cNvPr>
            <p:cNvSpPr/>
            <p:nvPr/>
          </p:nvSpPr>
          <p:spPr bwMode="auto">
            <a:xfrm>
              <a:off x="4716016" y="3429000"/>
              <a:ext cx="2736304" cy="985465"/>
            </a:xfrm>
            <a:prstGeom prst="wedgeRoundRectCallout">
              <a:avLst>
                <a:gd name="adj1" fmla="val -84913"/>
                <a:gd name="adj2" fmla="val -44724"/>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E061F263-854E-C348-9694-BA5C25A4AFBA}"/>
                </a:ext>
              </a:extLst>
            </p:cNvPr>
            <p:cNvSpPr txBox="1"/>
            <p:nvPr/>
          </p:nvSpPr>
          <p:spPr>
            <a:xfrm>
              <a:off x="4716016" y="3523655"/>
              <a:ext cx="2736304" cy="584775"/>
            </a:xfrm>
            <a:prstGeom prst="rect">
              <a:avLst/>
            </a:prstGeom>
            <a:noFill/>
          </p:spPr>
          <p:txBody>
            <a:bodyPr wrap="square" rtlCol="0">
              <a:spAutoFit/>
            </a:bodyPr>
            <a:lstStyle/>
            <a:p>
              <a:r>
                <a:rPr lang="en-US" sz="1600" dirty="0">
                  <a:solidFill>
                    <a:srgbClr val="FF0000"/>
                  </a:solidFill>
                  <a:latin typeface="+mn-lt"/>
                </a:rPr>
                <a:t>Does not always give optimal solution</a:t>
              </a:r>
            </a:p>
          </p:txBody>
        </p:sp>
      </p:grpSp>
      <p:grpSp>
        <p:nvGrpSpPr>
          <p:cNvPr id="12" name="Group 11">
            <a:extLst>
              <a:ext uri="{FF2B5EF4-FFF2-40B4-BE49-F238E27FC236}">
                <a16:creationId xmlns:a16="http://schemas.microsoft.com/office/drawing/2014/main" id="{6C0B56BE-840E-0E44-999B-C84C4639E0A4}"/>
              </a:ext>
            </a:extLst>
          </p:cNvPr>
          <p:cNvGrpSpPr/>
          <p:nvPr/>
        </p:nvGrpSpPr>
        <p:grpSpPr>
          <a:xfrm>
            <a:off x="4306890" y="2919275"/>
            <a:ext cx="2249422" cy="749808"/>
            <a:chOff x="4722440" y="2227511"/>
            <a:chExt cx="2369840" cy="985465"/>
          </a:xfrm>
        </p:grpSpPr>
        <p:sp>
          <p:nvSpPr>
            <p:cNvPr id="13" name="TextBox 12">
              <a:extLst>
                <a:ext uri="{FF2B5EF4-FFF2-40B4-BE49-F238E27FC236}">
                  <a16:creationId xmlns:a16="http://schemas.microsoft.com/office/drawing/2014/main" id="{0D21DA94-016A-4D43-8B1E-D9A559474DB1}"/>
                </a:ext>
              </a:extLst>
            </p:cNvPr>
            <p:cNvSpPr txBox="1"/>
            <p:nvPr/>
          </p:nvSpPr>
          <p:spPr>
            <a:xfrm>
              <a:off x="4777680" y="2322166"/>
              <a:ext cx="2314600" cy="584775"/>
            </a:xfrm>
            <a:prstGeom prst="rect">
              <a:avLst/>
            </a:prstGeom>
            <a:noFill/>
          </p:spPr>
          <p:txBody>
            <a:bodyPr wrap="square" rtlCol="0">
              <a:spAutoFit/>
            </a:bodyPr>
            <a:lstStyle/>
            <a:p>
              <a:r>
                <a:rPr lang="en-US" sz="1600" dirty="0">
                  <a:solidFill>
                    <a:srgbClr val="0000CC"/>
                  </a:solidFill>
                  <a:latin typeface="+mn-lt"/>
                </a:rPr>
                <a:t>Always gives optimal solution</a:t>
              </a:r>
            </a:p>
          </p:txBody>
        </p:sp>
        <p:sp>
          <p:nvSpPr>
            <p:cNvPr id="14" name="Rounded Rectangular Callout 13">
              <a:extLst>
                <a:ext uri="{FF2B5EF4-FFF2-40B4-BE49-F238E27FC236}">
                  <a16:creationId xmlns:a16="http://schemas.microsoft.com/office/drawing/2014/main" id="{9E58994B-4AD4-0646-8652-723F008F3112}"/>
                </a:ext>
              </a:extLst>
            </p:cNvPr>
            <p:cNvSpPr/>
            <p:nvPr/>
          </p:nvSpPr>
          <p:spPr bwMode="auto">
            <a:xfrm>
              <a:off x="4722440" y="2227511"/>
              <a:ext cx="2359496" cy="985465"/>
            </a:xfrm>
            <a:prstGeom prst="wedgeRoundRectCallout">
              <a:avLst>
                <a:gd name="adj1" fmla="val -83798"/>
                <a:gd name="adj2" fmla="val -1141"/>
                <a:gd name="adj3" fmla="val 16667"/>
              </a:avLst>
            </a:prstGeom>
            <a:noFill/>
            <a:ln w="25400" cap="flat" cmpd="sng" algn="ctr">
              <a:solidFill>
                <a:srgbClr val="0000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grpSp>
    </p:spTree>
    <p:extLst>
      <p:ext uri="{BB962C8B-B14F-4D97-AF65-F5344CB8AC3E}">
        <p14:creationId xmlns:p14="http://schemas.microsoft.com/office/powerpoint/2010/main" val="403313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a:xfrm>
            <a:off x="1069848" y="484632"/>
            <a:ext cx="10837230" cy="1609344"/>
          </a:xfrm>
        </p:spPr>
        <p:txBody>
          <a:bodyPr/>
          <a:lstStyle/>
          <a:p>
            <a:r>
              <a:rPr lang="en-US" dirty="0"/>
              <a:t>Activity Scheduling: Early Finish Time</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9848" y="2093976"/>
            <a:ext cx="10058400" cy="4050792"/>
          </a:xfrm>
        </p:spPr>
        <p:txBody>
          <a:bodyPr/>
          <a:lstStyle/>
          <a:p>
            <a:r>
              <a:rPr lang="en-US" altLang="zh-TW" dirty="0">
                <a:ea typeface="PMingLiU" pitchFamily="18" charset="-120"/>
              </a:rPr>
              <a:t>Select the activity with the earliest finish time </a:t>
            </a:r>
            <a:r>
              <a:rPr lang="en-US" dirty="0">
                <a:ea typeface="PMingLiU" pitchFamily="18" charset="-120"/>
              </a:rPr>
              <a:t>from the consideration list</a:t>
            </a:r>
            <a:endParaRPr lang="en-US" altLang="zh-TW" dirty="0">
              <a:ea typeface="PMingLiU" pitchFamily="18" charset="-120"/>
            </a:endParaRPr>
          </a:p>
          <a:p>
            <a:r>
              <a:rPr lang="en-US" dirty="0">
                <a:ea typeface="PMingLiU" pitchFamily="18" charset="-120"/>
              </a:rPr>
              <a:t>Eliminate the activity from consideration list</a:t>
            </a:r>
          </a:p>
          <a:p>
            <a:r>
              <a:rPr lang="en-US" dirty="0">
                <a:ea typeface="PMingLiU" pitchFamily="18" charset="-120"/>
              </a:rPr>
              <a:t>Eliminate all non-compatible activities from the consideration list</a:t>
            </a:r>
          </a:p>
          <a:p>
            <a:r>
              <a:rPr lang="en-US" dirty="0">
                <a:ea typeface="PMingLiU" pitchFamily="18" charset="-120"/>
              </a:rPr>
              <a:t>Repeat unless the consideration list is empty</a:t>
            </a:r>
            <a:endParaRPr lang="en-US" dirty="0"/>
          </a:p>
        </p:txBody>
      </p:sp>
    </p:spTree>
    <p:extLst>
      <p:ext uri="{BB962C8B-B14F-4D97-AF65-F5344CB8AC3E}">
        <p14:creationId xmlns:p14="http://schemas.microsoft.com/office/powerpoint/2010/main" val="1524994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p:spTree>
    <p:extLst>
      <p:ext uri="{BB962C8B-B14F-4D97-AF65-F5344CB8AC3E}">
        <p14:creationId xmlns:p14="http://schemas.microsoft.com/office/powerpoint/2010/main" val="1687996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69332"/>
              </a:xfrm>
              <a:prstGeom prst="rect">
                <a:avLst/>
              </a:prstGeom>
              <a:blipFill>
                <a:blip r:embed="rId4"/>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2754543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69332"/>
              </a:xfrm>
              <a:prstGeom prst="rect">
                <a:avLst/>
              </a:prstGeom>
              <a:blipFill>
                <a:blip r:embed="rId4"/>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2475474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4</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69332"/>
              </a:xfrm>
              <a:prstGeom prst="rect">
                <a:avLst/>
              </a:prstGeom>
              <a:blipFill>
                <a:blip r:embed="rId4"/>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1055745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69332"/>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4</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69332"/>
              </a:xfrm>
              <a:prstGeom prst="rect">
                <a:avLst/>
              </a:prstGeom>
              <a:blipFill>
                <a:blip r:embed="rId4"/>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4217810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8151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8</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81515"/>
              </a:xfrm>
              <a:prstGeom prst="rect">
                <a:avLst/>
              </a:prstGeom>
              <a:blipFill>
                <a:blip r:embed="rId4"/>
                <a:stretch>
                  <a:fillRect b="-9677"/>
                </a:stretch>
              </a:blipFill>
            </p:spPr>
            <p:txBody>
              <a:bodyPr/>
              <a:lstStyle/>
              <a:p>
                <a:r>
                  <a:rPr lang="en-US">
                    <a:noFill/>
                  </a:rPr>
                  <a:t> </a:t>
                </a:r>
              </a:p>
            </p:txBody>
          </p:sp>
        </mc:Fallback>
      </mc:AlternateContent>
    </p:spTree>
    <p:extLst>
      <p:ext uri="{BB962C8B-B14F-4D97-AF65-F5344CB8AC3E}">
        <p14:creationId xmlns:p14="http://schemas.microsoft.com/office/powerpoint/2010/main" val="3673008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8151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8</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81515"/>
              </a:xfrm>
              <a:prstGeom prst="rect">
                <a:avLst/>
              </a:prstGeom>
              <a:blipFill>
                <a:blip r:embed="rId4"/>
                <a:stretch>
                  <a:fillRect b="-9677"/>
                </a:stretch>
              </a:blipFill>
            </p:spPr>
            <p:txBody>
              <a:bodyPr/>
              <a:lstStyle/>
              <a:p>
                <a:r>
                  <a:rPr lang="en-US">
                    <a:noFill/>
                  </a:rPr>
                  <a:t> </a:t>
                </a:r>
              </a:p>
            </p:txBody>
          </p:sp>
        </mc:Fallback>
      </mc:AlternateContent>
    </p:spTree>
    <p:extLst>
      <p:ext uri="{BB962C8B-B14F-4D97-AF65-F5344CB8AC3E}">
        <p14:creationId xmlns:p14="http://schemas.microsoft.com/office/powerpoint/2010/main" val="1064353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8151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8</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11</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81515"/>
              </a:xfrm>
              <a:prstGeom prst="rect">
                <a:avLst/>
              </a:prstGeom>
              <a:blipFill>
                <a:blip r:embed="rId4"/>
                <a:stretch>
                  <a:fillRect b="-9677"/>
                </a:stretch>
              </a:blipFill>
            </p:spPr>
            <p:txBody>
              <a:bodyPr/>
              <a:lstStyle/>
              <a:p>
                <a:r>
                  <a:rPr lang="en-US">
                    <a:noFill/>
                  </a:rPr>
                  <a:t> </a:t>
                </a:r>
              </a:p>
            </p:txBody>
          </p:sp>
        </mc:Fallback>
      </mc:AlternateContent>
    </p:spTree>
    <p:extLst>
      <p:ext uri="{BB962C8B-B14F-4D97-AF65-F5344CB8AC3E}">
        <p14:creationId xmlns:p14="http://schemas.microsoft.com/office/powerpoint/2010/main" val="2542315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a:xfrm>
            <a:off x="1069848" y="484632"/>
            <a:ext cx="10837230" cy="1609344"/>
          </a:xfrm>
        </p:spPr>
        <p:txBody>
          <a:bodyPr/>
          <a:lstStyle/>
          <a:p>
            <a:r>
              <a:rPr lang="en-US" dirty="0"/>
              <a:t>Activity Scheduling: Early Finish Time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6610C8B-69C1-A842-AB6F-0C3061573890}"/>
                  </a:ext>
                </a:extLst>
              </p:cNvPr>
              <p:cNvSpPr txBox="1"/>
              <p:nvPr/>
            </p:nvSpPr>
            <p:spPr>
              <a:xfrm>
                <a:off x="1530626" y="2093976"/>
                <a:ext cx="6202017" cy="3194785"/>
              </a:xfrm>
              <a:prstGeom prst="rect">
                <a:avLst/>
              </a:prstGeom>
              <a:solidFill>
                <a:srgbClr val="ECECEC"/>
              </a:solidFill>
            </p:spPr>
            <p:txBody>
              <a:bodyPr wrap="square" rtlCol="0">
                <a:spAutoFit/>
              </a:bodyPr>
              <a:lstStyle/>
              <a:p>
                <a:r>
                  <a:rPr lang="en-US" sz="2000" dirty="0">
                    <a:latin typeface="Times" pitchFamily="2" charset="0"/>
                  </a:rPr>
                  <a:t>Greedy-Activity-Scheduling (</a:t>
                </a:r>
                <a14:m>
                  <m:oMath xmlns:m="http://schemas.openxmlformats.org/officeDocument/2006/math">
                    <m:r>
                      <a:rPr lang="en-US" sz="2000" i="1" dirty="0" smtClean="0">
                        <a:latin typeface="Cambria Math" panose="02040503050406030204" pitchFamily="18" charset="0"/>
                      </a:rPr>
                      <m:t>𝑆</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𝑛</m:t>
                        </m:r>
                      </m:sub>
                    </m:sSub>
                    <m:r>
                      <a:rPr lang="en-US" sz="2000" i="1" dirty="0" smtClean="0">
                        <a:latin typeface="Cambria Math" panose="02040503050406030204" pitchFamily="18" charset="0"/>
                      </a:rPr>
                      <m:t>], </m:t>
                    </m:r>
                    <m:r>
                      <a:rPr lang="en-US" sz="2000" i="1" dirty="0" smtClean="0">
                        <a:latin typeface="Cambria Math" panose="02040503050406030204" pitchFamily="18" charset="0"/>
                      </a:rPr>
                      <m:t>𝐹</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𝑛</m:t>
                        </m:r>
                      </m:sub>
                    </m:sSub>
                    <m:r>
                      <a:rPr lang="en-US" sz="2000" i="1" dirty="0">
                        <a:latin typeface="Cambria Math" panose="02040503050406030204" pitchFamily="18" charset="0"/>
                      </a:rPr>
                      <m:t>]</m:t>
                    </m:r>
                  </m:oMath>
                </a14:m>
                <a:r>
                  <a:rPr lang="en-US" sz="2000" dirty="0">
                    <a:latin typeface="Times" pitchFamily="2" charset="0"/>
                  </a:rPr>
                  <a:t>)</a:t>
                </a:r>
              </a:p>
              <a:p>
                <a:endParaRPr lang="en-US" sz="2000" i="1" dirty="0">
                  <a:latin typeface="Times" pitchFamily="2" charset="0"/>
                </a:endParaRPr>
              </a:p>
              <a:p>
                <a:r>
                  <a:rPr lang="en-US" sz="2000" dirty="0">
                    <a:latin typeface="Times" pitchFamily="2" charset="0"/>
                  </a:rPr>
                  <a:t>1     sort arrays </a:t>
                </a:r>
                <a14:m>
                  <m:oMath xmlns:m="http://schemas.openxmlformats.org/officeDocument/2006/math">
                    <m:r>
                      <a:rPr lang="en-US" sz="2000" i="1" dirty="0" smtClean="0">
                        <a:latin typeface="Cambria Math" panose="02040503050406030204" pitchFamily="18" charset="0"/>
                      </a:rPr>
                      <m:t>𝑆</m:t>
                    </m:r>
                    <m:r>
                      <a:rPr lang="en-US" sz="2000" b="0" i="1" dirty="0" smtClean="0">
                        <a:latin typeface="Cambria Math" panose="02040503050406030204" pitchFamily="18" charset="0"/>
                      </a:rPr>
                      <m:t> </m:t>
                    </m:r>
                  </m:oMath>
                </a14:m>
                <a:r>
                  <a:rPr lang="en-US" sz="2000" dirty="0">
                    <a:latin typeface="Times" pitchFamily="2" charset="0"/>
                  </a:rPr>
                  <a:t>and </a:t>
                </a:r>
                <a14:m>
                  <m:oMath xmlns:m="http://schemas.openxmlformats.org/officeDocument/2006/math">
                    <m:r>
                      <a:rPr lang="en-US" sz="2000" i="1" dirty="0" smtClean="0">
                        <a:latin typeface="Cambria Math" panose="02040503050406030204" pitchFamily="18" charset="0"/>
                      </a:rPr>
                      <m:t>𝐹</m:t>
                    </m:r>
                  </m:oMath>
                </a14:m>
                <a:r>
                  <a:rPr lang="en-US" sz="2000" dirty="0">
                    <a:latin typeface="Times" pitchFamily="2" charset="0"/>
                  </a:rPr>
                  <a:t> based on finish times </a:t>
                </a:r>
                <a14:m>
                  <m:oMath xmlns:m="http://schemas.openxmlformats.org/officeDocument/2006/math">
                    <m:r>
                      <a:rPr lang="en-US" sz="2000" i="1" dirty="0">
                        <a:latin typeface="Cambria Math" panose="02040503050406030204" pitchFamily="18" charset="0"/>
                      </a:rPr>
                      <m:t>𝐹</m:t>
                    </m:r>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i="1" dirty="0">
                            <a:latin typeface="Cambria Math" panose="02040503050406030204" pitchFamily="18" charset="0"/>
                          </a:rPr>
                          <m:t>1</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i="1" dirty="0">
                            <a:latin typeface="Cambria Math" panose="02040503050406030204" pitchFamily="18" charset="0"/>
                          </a:rPr>
                          <m:t>𝑛</m:t>
                        </m:r>
                      </m:sub>
                    </m:sSub>
                    <m:r>
                      <a:rPr lang="en-US" sz="2000" i="1" dirty="0">
                        <a:latin typeface="Cambria Math" panose="02040503050406030204" pitchFamily="18" charset="0"/>
                      </a:rPr>
                      <m:t>]</m:t>
                    </m:r>
                  </m:oMath>
                </a14:m>
                <a:endParaRPr lang="en-US" sz="2000" dirty="0">
                  <a:latin typeface="Times" pitchFamily="2" charset="0"/>
                </a:endParaRPr>
              </a:p>
              <a:p>
                <a:r>
                  <a:rPr lang="en-US" sz="2000" b="0" dirty="0">
                    <a:latin typeface="Times" pitchFamily="2" charset="0"/>
                  </a:rPr>
                  <a:t>2</a:t>
                </a:r>
                <a:r>
                  <a:rPr lang="en-US" sz="2000" b="0" dirty="0"/>
                  <a:t>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1</m:t>
                    </m:r>
                  </m:oMath>
                </a14:m>
                <a:endParaRPr lang="en-US" sz="2000" b="0" dirty="0">
                  <a:latin typeface="Times" pitchFamily="2" charset="0"/>
                </a:endParaRPr>
              </a:p>
              <a:p>
                <a:r>
                  <a:rPr lang="en-US" sz="2000" b="0" dirty="0">
                    <a:latin typeface="Times" pitchFamily="2" charset="0"/>
                  </a:rPr>
                  <a:t>3</a:t>
                </a:r>
                <a:r>
                  <a:rPr lang="en-US" sz="2000" b="0" dirty="0"/>
                  <a:t> </a:t>
                </a:r>
                <a14:m>
                  <m:oMath xmlns:m="http://schemas.openxmlformats.org/officeDocument/2006/math">
                    <m:r>
                      <a:rPr lang="en-US" sz="2000" b="0" i="1" smtClean="0">
                        <a:latin typeface="Cambria Math" panose="02040503050406030204" pitchFamily="18" charset="0"/>
                      </a:rPr>
                      <m:t>     </m:t>
                    </m:r>
                    <m:r>
                      <a:rPr lang="en-US" sz="2000" b="0" i="1" smtClean="0">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i="1">
                            <a:latin typeface="Cambria Math" panose="02040503050406030204" pitchFamily="18" charset="0"/>
                          </a:rPr>
                          <m:t>𝑖</m:t>
                        </m:r>
                      </m:e>
                    </m:d>
                    <m:r>
                      <a:rPr lang="en-US" sz="2000" i="1">
                        <a:latin typeface="Cambria Math" panose="02040503050406030204" pitchFamily="18" charset="0"/>
                      </a:rPr>
                      <m:t>       </m:t>
                    </m:r>
                    <m:r>
                      <a:rPr lang="en-US" sz="2000" b="0" i="1" smtClean="0">
                        <a:latin typeface="Cambria Math" panose="02040503050406030204" pitchFamily="18" charset="0"/>
                      </a:rPr>
                      <m:t>  </m:t>
                    </m:r>
                    <m:r>
                      <a:rPr lang="en-US" sz="2000" i="1">
                        <a:latin typeface="Cambria Math" panose="02040503050406030204" pitchFamily="18" charset="0"/>
                      </a:rPr>
                      <m:t>1</m:t>
                    </m:r>
                  </m:oMath>
                </a14:m>
                <a:endParaRPr lang="en-US" sz="2000" dirty="0">
                  <a:latin typeface="Times" pitchFamily="2" charset="0"/>
                </a:endParaRPr>
              </a:p>
              <a:p>
                <a:r>
                  <a:rPr lang="en-US" sz="2000" dirty="0">
                    <a:latin typeface="Times" pitchFamily="2" charset="0"/>
                  </a:rPr>
                  <a:t>4     for</a:t>
                </a:r>
                <a:r>
                  <a:rPr lang="en-US" sz="2000" dirty="0"/>
                  <a:t> </a:t>
                </a:r>
                <a14:m>
                  <m:oMath xmlns:m="http://schemas.openxmlformats.org/officeDocument/2006/math">
                    <m:r>
                      <a:rPr lang="en-US" sz="2000" b="0" i="1" smtClean="0">
                        <a:latin typeface="Cambria Math" panose="02040503050406030204" pitchFamily="18" charset="0"/>
                      </a:rPr>
                      <m:t>𝑗</m:t>
                    </m:r>
                    <m:r>
                      <a:rPr lang="en-US" sz="2000" i="1">
                        <a:latin typeface="Cambria Math" panose="02040503050406030204" pitchFamily="18" charset="0"/>
                      </a:rPr>
                      <m:t>       </m:t>
                    </m:r>
                    <m:r>
                      <a:rPr lang="en-US" sz="2000" b="0" i="1" smtClean="0">
                        <a:latin typeface="Cambria Math" panose="02040503050406030204" pitchFamily="18" charset="0"/>
                      </a:rPr>
                      <m:t>  2</m:t>
                    </m:r>
                  </m:oMath>
                </a14:m>
                <a:r>
                  <a:rPr lang="en-US" sz="2000" dirty="0">
                    <a:latin typeface="Times" pitchFamily="2" charset="0"/>
                  </a:rPr>
                  <a:t> to </a:t>
                </a:r>
                <a14:m>
                  <m:oMath xmlns:m="http://schemas.openxmlformats.org/officeDocument/2006/math">
                    <m:r>
                      <a:rPr lang="en-US" sz="2000" b="0" i="1" smtClean="0">
                        <a:latin typeface="Cambria Math" panose="02040503050406030204" pitchFamily="18" charset="0"/>
                      </a:rPr>
                      <m:t>𝑛</m:t>
                    </m:r>
                  </m:oMath>
                </a14:m>
                <a:endParaRPr lang="en-US" sz="2000" dirty="0">
                  <a:latin typeface="Times" pitchFamily="2" charset="0"/>
                </a:endParaRPr>
              </a:p>
              <a:p>
                <a:r>
                  <a:rPr lang="en-US" sz="2000" dirty="0">
                    <a:latin typeface="Times" pitchFamily="2" charset="0"/>
                  </a:rPr>
                  <a:t>5	if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m:t>
                    </m:r>
                    <m:r>
                      <a:rPr lang="en-US" sz="2000" b="0" i="1" smtClean="0">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m:t>
                    </m:r>
                  </m:oMath>
                </a14:m>
                <a:endParaRPr lang="en-US" sz="2000" dirty="0">
                  <a:latin typeface="Times" pitchFamily="2" charset="0"/>
                </a:endParaRPr>
              </a:p>
              <a:p>
                <a:r>
                  <a:rPr lang="en-US" sz="2000" dirty="0">
                    <a:latin typeface="Times" pitchFamily="2" charset="0"/>
                  </a:rPr>
                  <a:t>6		</a:t>
                </a:r>
                <a:r>
                  <a:rPr lang="en-US" sz="2000" dirty="0"/>
                  <a:t>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+1 </m:t>
                    </m:r>
                  </m:oMath>
                </a14:m>
                <a:endParaRPr lang="en-US" sz="2000" b="0" dirty="0"/>
              </a:p>
              <a:p>
                <a:r>
                  <a:rPr lang="en-US" sz="2000" dirty="0">
                    <a:latin typeface="Times" pitchFamily="2" charset="0"/>
                  </a:rPr>
                  <a:t>7		</a:t>
                </a:r>
                <a:r>
                  <a:rPr lang="en-US" sz="2000" dirty="0"/>
                  <a:t> </a:t>
                </a:r>
                <a14:m>
                  <m:oMath xmlns:m="http://schemas.openxmlformats.org/officeDocument/2006/math">
                    <m:r>
                      <a:rPr lang="en-US" sz="2000" i="1">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 </m:t>
                        </m:r>
                        <m:r>
                          <a:rPr lang="en-US" sz="2000" b="0" i="1" smtClean="0">
                            <a:latin typeface="Cambria Math" panose="02040503050406030204" pitchFamily="18" charset="0"/>
                          </a:rPr>
                          <m:t>𝑎</m:t>
                        </m:r>
                      </m:e>
                      <m:sub>
                        <m:r>
                          <a:rPr lang="en-US" sz="2000" b="0" i="1" smtClean="0">
                            <a:latin typeface="Cambria Math" panose="02040503050406030204" pitchFamily="18" charset="0"/>
                          </a:rPr>
                          <m:t>𝑗</m:t>
                        </m:r>
                      </m:sub>
                    </m:sSub>
                  </m:oMath>
                </a14:m>
                <a:endParaRPr lang="en-US" sz="2000" dirty="0">
                  <a:latin typeface="Times" pitchFamily="2" charset="0"/>
                </a:endParaRPr>
              </a:p>
              <a:p>
                <a:r>
                  <a:rPr lang="en-US" sz="2000" dirty="0">
                    <a:latin typeface="Times" pitchFamily="2" charset="0"/>
                  </a:rPr>
                  <a:t>8     return </a:t>
                </a:r>
                <a14:m>
                  <m:oMath xmlns:m="http://schemas.openxmlformats.org/officeDocument/2006/math">
                    <m:r>
                      <a:rPr lang="en-US" sz="2000" i="1">
                        <a:latin typeface="Cambria Math" panose="02040503050406030204" pitchFamily="18" charset="0"/>
                      </a:rPr>
                      <m:t>𝐴</m:t>
                    </m:r>
                  </m:oMath>
                </a14:m>
                <a:r>
                  <a:rPr lang="en-US" dirty="0">
                    <a:latin typeface="Times" pitchFamily="2" charset="0"/>
                  </a:rPr>
                  <a:t> </a:t>
                </a:r>
              </a:p>
            </p:txBody>
          </p:sp>
        </mc:Choice>
        <mc:Fallback xmlns="">
          <p:sp>
            <p:nvSpPr>
              <p:cNvPr id="6" name="TextBox 5">
                <a:extLst>
                  <a:ext uri="{FF2B5EF4-FFF2-40B4-BE49-F238E27FC236}">
                    <a16:creationId xmlns:a16="http://schemas.microsoft.com/office/drawing/2014/main" id="{B6610C8B-69C1-A842-AB6F-0C3061573890}"/>
                  </a:ext>
                </a:extLst>
              </p:cNvPr>
              <p:cNvSpPr txBox="1">
                <a:spLocks noRot="1" noChangeAspect="1" noMove="1" noResize="1" noEditPoints="1" noAdjustHandles="1" noChangeArrowheads="1" noChangeShapeType="1" noTextEdit="1"/>
              </p:cNvSpPr>
              <p:nvPr/>
            </p:nvSpPr>
            <p:spPr>
              <a:xfrm>
                <a:off x="1530626" y="2093976"/>
                <a:ext cx="6202017" cy="3194785"/>
              </a:xfrm>
              <a:prstGeom prst="rect">
                <a:avLst/>
              </a:prstGeom>
              <a:blipFill>
                <a:blip r:embed="rId2"/>
                <a:stretch>
                  <a:fillRect l="-1022" t="-1190" b="-2381"/>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A1FF99BD-0529-054C-9E8A-00E59A1FC57C}"/>
              </a:ext>
            </a:extLst>
          </p:cNvPr>
          <p:cNvCxnSpPr>
            <a:cxnSpLocks/>
          </p:cNvCxnSpPr>
          <p:nvPr/>
        </p:nvCxnSpPr>
        <p:spPr>
          <a:xfrm flipH="1">
            <a:off x="2196546" y="320715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B928FAE-CD55-1342-A165-B1EFA18F87F7}"/>
              </a:ext>
            </a:extLst>
          </p:cNvPr>
          <p:cNvCxnSpPr>
            <a:cxnSpLocks/>
          </p:cNvCxnSpPr>
          <p:nvPr/>
        </p:nvCxnSpPr>
        <p:spPr>
          <a:xfrm flipH="1">
            <a:off x="2562306" y="3528524"/>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E966DD4-8B4A-9B4F-898F-4FDD64AA27A5}"/>
              </a:ext>
            </a:extLst>
          </p:cNvPr>
          <p:cNvCxnSpPr>
            <a:cxnSpLocks/>
          </p:cNvCxnSpPr>
          <p:nvPr/>
        </p:nvCxnSpPr>
        <p:spPr>
          <a:xfrm flipH="1">
            <a:off x="2562306" y="384657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0D94EAB9-5AB9-5B4F-9649-53E0C1058FDD}"/>
              </a:ext>
            </a:extLst>
          </p:cNvPr>
          <p:cNvCxnSpPr>
            <a:cxnSpLocks/>
          </p:cNvCxnSpPr>
          <p:nvPr/>
        </p:nvCxnSpPr>
        <p:spPr>
          <a:xfrm flipH="1">
            <a:off x="3660911" y="443298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79CB178-FF12-084E-BA2C-CC7E2F7481A3}"/>
              </a:ext>
            </a:extLst>
          </p:cNvPr>
          <p:cNvCxnSpPr>
            <a:cxnSpLocks/>
          </p:cNvCxnSpPr>
          <p:nvPr/>
        </p:nvCxnSpPr>
        <p:spPr>
          <a:xfrm flipH="1">
            <a:off x="3959085" y="475103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40899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a:xfrm>
            <a:off x="1069848" y="484632"/>
            <a:ext cx="10837230" cy="1609344"/>
          </a:xfrm>
        </p:spPr>
        <p:txBody>
          <a:bodyPr/>
          <a:lstStyle/>
          <a:p>
            <a:r>
              <a:rPr lang="en-US" dirty="0"/>
              <a:t>Activity Scheduling: Early Finish Time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6610C8B-69C1-A842-AB6F-0C3061573890}"/>
                  </a:ext>
                </a:extLst>
              </p:cNvPr>
              <p:cNvSpPr txBox="1"/>
              <p:nvPr/>
            </p:nvSpPr>
            <p:spPr>
              <a:xfrm>
                <a:off x="1530626" y="2093976"/>
                <a:ext cx="6202017" cy="3194785"/>
              </a:xfrm>
              <a:prstGeom prst="rect">
                <a:avLst/>
              </a:prstGeom>
              <a:solidFill>
                <a:srgbClr val="ECECEC"/>
              </a:solidFill>
            </p:spPr>
            <p:txBody>
              <a:bodyPr wrap="square" rtlCol="0">
                <a:spAutoFit/>
              </a:bodyPr>
              <a:lstStyle/>
              <a:p>
                <a:r>
                  <a:rPr lang="en-US" sz="2000" dirty="0">
                    <a:latin typeface="Times" pitchFamily="2" charset="0"/>
                  </a:rPr>
                  <a:t>Greedy-Activity-Scheduling (</a:t>
                </a:r>
                <a14:m>
                  <m:oMath xmlns:m="http://schemas.openxmlformats.org/officeDocument/2006/math">
                    <m:r>
                      <a:rPr lang="en-US" sz="2000" i="1" dirty="0" smtClean="0">
                        <a:latin typeface="Cambria Math" panose="02040503050406030204" pitchFamily="18" charset="0"/>
                      </a:rPr>
                      <m:t>𝑆</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𝑛</m:t>
                        </m:r>
                      </m:sub>
                    </m:sSub>
                    <m:r>
                      <a:rPr lang="en-US" sz="2000" i="1" dirty="0" smtClean="0">
                        <a:latin typeface="Cambria Math" panose="02040503050406030204" pitchFamily="18" charset="0"/>
                      </a:rPr>
                      <m:t>], </m:t>
                    </m:r>
                    <m:r>
                      <a:rPr lang="en-US" sz="2000" i="1" dirty="0" smtClean="0">
                        <a:latin typeface="Cambria Math" panose="02040503050406030204" pitchFamily="18" charset="0"/>
                      </a:rPr>
                      <m:t>𝐹</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𝑛</m:t>
                        </m:r>
                      </m:sub>
                    </m:sSub>
                    <m:r>
                      <a:rPr lang="en-US" sz="2000" i="1" dirty="0">
                        <a:latin typeface="Cambria Math" panose="02040503050406030204" pitchFamily="18" charset="0"/>
                      </a:rPr>
                      <m:t>]</m:t>
                    </m:r>
                  </m:oMath>
                </a14:m>
                <a:r>
                  <a:rPr lang="en-US" sz="2000" dirty="0">
                    <a:latin typeface="Times" pitchFamily="2" charset="0"/>
                  </a:rPr>
                  <a:t>)</a:t>
                </a:r>
              </a:p>
              <a:p>
                <a:endParaRPr lang="en-US" sz="2000" i="1" dirty="0">
                  <a:latin typeface="Times" pitchFamily="2" charset="0"/>
                </a:endParaRPr>
              </a:p>
              <a:p>
                <a:r>
                  <a:rPr lang="en-US" sz="2000" dirty="0">
                    <a:latin typeface="Times" pitchFamily="2" charset="0"/>
                  </a:rPr>
                  <a:t>1     sort arrays </a:t>
                </a:r>
                <a14:m>
                  <m:oMath xmlns:m="http://schemas.openxmlformats.org/officeDocument/2006/math">
                    <m:r>
                      <a:rPr lang="en-US" sz="2000" i="1" dirty="0" smtClean="0">
                        <a:latin typeface="Cambria Math" panose="02040503050406030204" pitchFamily="18" charset="0"/>
                      </a:rPr>
                      <m:t>𝑆</m:t>
                    </m:r>
                    <m:r>
                      <a:rPr lang="en-US" sz="2000" b="0" i="1" dirty="0" smtClean="0">
                        <a:latin typeface="Cambria Math" panose="02040503050406030204" pitchFamily="18" charset="0"/>
                      </a:rPr>
                      <m:t> </m:t>
                    </m:r>
                  </m:oMath>
                </a14:m>
                <a:r>
                  <a:rPr lang="en-US" sz="2000" dirty="0">
                    <a:latin typeface="Times" pitchFamily="2" charset="0"/>
                  </a:rPr>
                  <a:t>and </a:t>
                </a:r>
                <a14:m>
                  <m:oMath xmlns:m="http://schemas.openxmlformats.org/officeDocument/2006/math">
                    <m:r>
                      <a:rPr lang="en-US" sz="2000" i="1" dirty="0" smtClean="0">
                        <a:latin typeface="Cambria Math" panose="02040503050406030204" pitchFamily="18" charset="0"/>
                      </a:rPr>
                      <m:t>𝐹</m:t>
                    </m:r>
                  </m:oMath>
                </a14:m>
                <a:r>
                  <a:rPr lang="en-US" sz="2000" dirty="0">
                    <a:latin typeface="Times" pitchFamily="2" charset="0"/>
                  </a:rPr>
                  <a:t> based on finish times </a:t>
                </a:r>
                <a14:m>
                  <m:oMath xmlns:m="http://schemas.openxmlformats.org/officeDocument/2006/math">
                    <m:r>
                      <a:rPr lang="en-US" sz="2000" i="1" dirty="0">
                        <a:latin typeface="Cambria Math" panose="02040503050406030204" pitchFamily="18" charset="0"/>
                      </a:rPr>
                      <m:t>𝐹</m:t>
                    </m:r>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i="1" dirty="0">
                            <a:latin typeface="Cambria Math" panose="02040503050406030204" pitchFamily="18" charset="0"/>
                          </a:rPr>
                          <m:t>1</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i="1" dirty="0">
                            <a:latin typeface="Cambria Math" panose="02040503050406030204" pitchFamily="18" charset="0"/>
                          </a:rPr>
                          <m:t>𝑛</m:t>
                        </m:r>
                      </m:sub>
                    </m:sSub>
                    <m:r>
                      <a:rPr lang="en-US" sz="2000" i="1" dirty="0">
                        <a:latin typeface="Cambria Math" panose="02040503050406030204" pitchFamily="18" charset="0"/>
                      </a:rPr>
                      <m:t>]</m:t>
                    </m:r>
                  </m:oMath>
                </a14:m>
                <a:endParaRPr lang="en-US" sz="2000" dirty="0">
                  <a:latin typeface="Times" pitchFamily="2" charset="0"/>
                </a:endParaRPr>
              </a:p>
              <a:p>
                <a:r>
                  <a:rPr lang="en-US" sz="2000" b="0" dirty="0">
                    <a:latin typeface="Times" pitchFamily="2" charset="0"/>
                  </a:rPr>
                  <a:t>2</a:t>
                </a:r>
                <a:r>
                  <a:rPr lang="en-US" sz="2000" b="0" dirty="0"/>
                  <a:t>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1</m:t>
                    </m:r>
                  </m:oMath>
                </a14:m>
                <a:endParaRPr lang="en-US" sz="2000" b="0" dirty="0">
                  <a:latin typeface="Times" pitchFamily="2" charset="0"/>
                </a:endParaRPr>
              </a:p>
              <a:p>
                <a:r>
                  <a:rPr lang="en-US" sz="2000" b="0" dirty="0">
                    <a:latin typeface="Times" pitchFamily="2" charset="0"/>
                  </a:rPr>
                  <a:t>3</a:t>
                </a:r>
                <a:r>
                  <a:rPr lang="en-US" sz="2000" b="0" dirty="0"/>
                  <a:t> </a:t>
                </a:r>
                <a14:m>
                  <m:oMath xmlns:m="http://schemas.openxmlformats.org/officeDocument/2006/math">
                    <m:r>
                      <a:rPr lang="en-US" sz="2000" b="0" i="1" smtClean="0">
                        <a:latin typeface="Cambria Math" panose="02040503050406030204" pitchFamily="18" charset="0"/>
                      </a:rPr>
                      <m:t>     </m:t>
                    </m:r>
                    <m:r>
                      <a:rPr lang="en-US" sz="2000" b="0" i="1" smtClean="0">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i="1">
                            <a:latin typeface="Cambria Math" panose="02040503050406030204" pitchFamily="18" charset="0"/>
                          </a:rPr>
                          <m:t>𝑖</m:t>
                        </m:r>
                      </m:e>
                    </m:d>
                    <m:r>
                      <a:rPr lang="en-US" sz="2000" i="1">
                        <a:latin typeface="Cambria Math" panose="02040503050406030204" pitchFamily="18" charset="0"/>
                      </a:rPr>
                      <m:t>       </m:t>
                    </m:r>
                    <m:r>
                      <a:rPr lang="en-US" sz="2000" b="0" i="1" smtClean="0">
                        <a:latin typeface="Cambria Math" panose="02040503050406030204" pitchFamily="18" charset="0"/>
                      </a:rPr>
                      <m:t>  </m:t>
                    </m:r>
                    <m:r>
                      <a:rPr lang="en-US" sz="2000" i="1">
                        <a:latin typeface="Cambria Math" panose="02040503050406030204" pitchFamily="18" charset="0"/>
                      </a:rPr>
                      <m:t>1</m:t>
                    </m:r>
                  </m:oMath>
                </a14:m>
                <a:endParaRPr lang="en-US" sz="2000" dirty="0">
                  <a:latin typeface="Times" pitchFamily="2" charset="0"/>
                </a:endParaRPr>
              </a:p>
              <a:p>
                <a:r>
                  <a:rPr lang="en-US" sz="2000" dirty="0">
                    <a:latin typeface="Times" pitchFamily="2" charset="0"/>
                  </a:rPr>
                  <a:t>4     for</a:t>
                </a:r>
                <a:r>
                  <a:rPr lang="en-US" sz="2000" dirty="0"/>
                  <a:t> </a:t>
                </a:r>
                <a14:m>
                  <m:oMath xmlns:m="http://schemas.openxmlformats.org/officeDocument/2006/math">
                    <m:r>
                      <a:rPr lang="en-US" sz="2000" b="0" i="1" smtClean="0">
                        <a:latin typeface="Cambria Math" panose="02040503050406030204" pitchFamily="18" charset="0"/>
                      </a:rPr>
                      <m:t>𝑗</m:t>
                    </m:r>
                    <m:r>
                      <a:rPr lang="en-US" sz="2000" i="1">
                        <a:latin typeface="Cambria Math" panose="02040503050406030204" pitchFamily="18" charset="0"/>
                      </a:rPr>
                      <m:t>       </m:t>
                    </m:r>
                    <m:r>
                      <a:rPr lang="en-US" sz="2000" b="0" i="1" smtClean="0">
                        <a:latin typeface="Cambria Math" panose="02040503050406030204" pitchFamily="18" charset="0"/>
                      </a:rPr>
                      <m:t>  2</m:t>
                    </m:r>
                  </m:oMath>
                </a14:m>
                <a:r>
                  <a:rPr lang="en-US" sz="2000" dirty="0">
                    <a:latin typeface="Times" pitchFamily="2" charset="0"/>
                  </a:rPr>
                  <a:t> to </a:t>
                </a:r>
                <a14:m>
                  <m:oMath xmlns:m="http://schemas.openxmlformats.org/officeDocument/2006/math">
                    <m:r>
                      <a:rPr lang="en-US" sz="2000" b="0" i="1" smtClean="0">
                        <a:latin typeface="Cambria Math" panose="02040503050406030204" pitchFamily="18" charset="0"/>
                      </a:rPr>
                      <m:t>𝑛</m:t>
                    </m:r>
                  </m:oMath>
                </a14:m>
                <a:endParaRPr lang="en-US" sz="2000" dirty="0">
                  <a:latin typeface="Times" pitchFamily="2" charset="0"/>
                </a:endParaRPr>
              </a:p>
              <a:p>
                <a:r>
                  <a:rPr lang="en-US" sz="2000" dirty="0">
                    <a:latin typeface="Times" pitchFamily="2" charset="0"/>
                  </a:rPr>
                  <a:t>5	if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m:t>
                    </m:r>
                    <m:r>
                      <a:rPr lang="en-US" sz="2000" b="0" i="1" smtClean="0">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m:t>
                    </m:r>
                  </m:oMath>
                </a14:m>
                <a:endParaRPr lang="en-US" sz="2000" dirty="0">
                  <a:latin typeface="Times" pitchFamily="2" charset="0"/>
                </a:endParaRPr>
              </a:p>
              <a:p>
                <a:r>
                  <a:rPr lang="en-US" sz="2000" dirty="0">
                    <a:latin typeface="Times" pitchFamily="2" charset="0"/>
                  </a:rPr>
                  <a:t>6		</a:t>
                </a:r>
                <a:r>
                  <a:rPr lang="en-US" sz="2000" dirty="0"/>
                  <a:t>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+1 </m:t>
                    </m:r>
                  </m:oMath>
                </a14:m>
                <a:endParaRPr lang="en-US" sz="2000" b="0" dirty="0"/>
              </a:p>
              <a:p>
                <a:r>
                  <a:rPr lang="en-US" sz="2000" dirty="0">
                    <a:latin typeface="Times" pitchFamily="2" charset="0"/>
                  </a:rPr>
                  <a:t>7		</a:t>
                </a:r>
                <a:r>
                  <a:rPr lang="en-US" sz="2000" dirty="0"/>
                  <a:t> </a:t>
                </a:r>
                <a14:m>
                  <m:oMath xmlns:m="http://schemas.openxmlformats.org/officeDocument/2006/math">
                    <m:r>
                      <a:rPr lang="en-US" sz="2000" i="1">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 </m:t>
                        </m:r>
                        <m:r>
                          <a:rPr lang="en-US" sz="2000" b="0" i="1" smtClean="0">
                            <a:latin typeface="Cambria Math" panose="02040503050406030204" pitchFamily="18" charset="0"/>
                          </a:rPr>
                          <m:t>𝑎</m:t>
                        </m:r>
                      </m:e>
                      <m:sub>
                        <m:r>
                          <a:rPr lang="en-US" sz="2000" b="0" i="1" smtClean="0">
                            <a:latin typeface="Cambria Math" panose="02040503050406030204" pitchFamily="18" charset="0"/>
                          </a:rPr>
                          <m:t>𝑗</m:t>
                        </m:r>
                      </m:sub>
                    </m:sSub>
                  </m:oMath>
                </a14:m>
                <a:endParaRPr lang="en-US" sz="2000" dirty="0">
                  <a:latin typeface="Times" pitchFamily="2" charset="0"/>
                </a:endParaRPr>
              </a:p>
              <a:p>
                <a:r>
                  <a:rPr lang="en-US" sz="2000" dirty="0">
                    <a:latin typeface="Times" pitchFamily="2" charset="0"/>
                  </a:rPr>
                  <a:t>8     return </a:t>
                </a:r>
                <a14:m>
                  <m:oMath xmlns:m="http://schemas.openxmlformats.org/officeDocument/2006/math">
                    <m:r>
                      <a:rPr lang="en-US" sz="2000" i="1">
                        <a:latin typeface="Cambria Math" panose="02040503050406030204" pitchFamily="18" charset="0"/>
                      </a:rPr>
                      <m:t>𝐴</m:t>
                    </m:r>
                  </m:oMath>
                </a14:m>
                <a:r>
                  <a:rPr lang="en-US" dirty="0">
                    <a:latin typeface="Times" pitchFamily="2" charset="0"/>
                  </a:rPr>
                  <a:t> </a:t>
                </a:r>
              </a:p>
            </p:txBody>
          </p:sp>
        </mc:Choice>
        <mc:Fallback xmlns="">
          <p:sp>
            <p:nvSpPr>
              <p:cNvPr id="6" name="TextBox 5">
                <a:extLst>
                  <a:ext uri="{FF2B5EF4-FFF2-40B4-BE49-F238E27FC236}">
                    <a16:creationId xmlns:a16="http://schemas.microsoft.com/office/drawing/2014/main" id="{B6610C8B-69C1-A842-AB6F-0C3061573890}"/>
                  </a:ext>
                </a:extLst>
              </p:cNvPr>
              <p:cNvSpPr txBox="1">
                <a:spLocks noRot="1" noChangeAspect="1" noMove="1" noResize="1" noEditPoints="1" noAdjustHandles="1" noChangeArrowheads="1" noChangeShapeType="1" noTextEdit="1"/>
              </p:cNvSpPr>
              <p:nvPr/>
            </p:nvSpPr>
            <p:spPr>
              <a:xfrm>
                <a:off x="1530626" y="2093976"/>
                <a:ext cx="6202017" cy="3194785"/>
              </a:xfrm>
              <a:prstGeom prst="rect">
                <a:avLst/>
              </a:prstGeom>
              <a:blipFill>
                <a:blip r:embed="rId2"/>
                <a:stretch>
                  <a:fillRect l="-1022" t="-1190" b="-2381"/>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A1FF99BD-0529-054C-9E8A-00E59A1FC57C}"/>
              </a:ext>
            </a:extLst>
          </p:cNvPr>
          <p:cNvCxnSpPr>
            <a:cxnSpLocks/>
          </p:cNvCxnSpPr>
          <p:nvPr/>
        </p:nvCxnSpPr>
        <p:spPr>
          <a:xfrm flipH="1">
            <a:off x="2196546" y="320715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B928FAE-CD55-1342-A165-B1EFA18F87F7}"/>
              </a:ext>
            </a:extLst>
          </p:cNvPr>
          <p:cNvCxnSpPr>
            <a:cxnSpLocks/>
          </p:cNvCxnSpPr>
          <p:nvPr/>
        </p:nvCxnSpPr>
        <p:spPr>
          <a:xfrm flipH="1">
            <a:off x="2562306" y="3528524"/>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E966DD4-8B4A-9B4F-898F-4FDD64AA27A5}"/>
              </a:ext>
            </a:extLst>
          </p:cNvPr>
          <p:cNvCxnSpPr>
            <a:cxnSpLocks/>
          </p:cNvCxnSpPr>
          <p:nvPr/>
        </p:nvCxnSpPr>
        <p:spPr>
          <a:xfrm flipH="1">
            <a:off x="2562306" y="384657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0D94EAB9-5AB9-5B4F-9649-53E0C1058FDD}"/>
              </a:ext>
            </a:extLst>
          </p:cNvPr>
          <p:cNvCxnSpPr>
            <a:cxnSpLocks/>
          </p:cNvCxnSpPr>
          <p:nvPr/>
        </p:nvCxnSpPr>
        <p:spPr>
          <a:xfrm flipH="1">
            <a:off x="3660911" y="443298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79CB178-FF12-084E-BA2C-CC7E2F7481A3}"/>
              </a:ext>
            </a:extLst>
          </p:cNvPr>
          <p:cNvCxnSpPr>
            <a:cxnSpLocks/>
          </p:cNvCxnSpPr>
          <p:nvPr/>
        </p:nvCxnSpPr>
        <p:spPr>
          <a:xfrm flipH="1">
            <a:off x="3959085" y="475103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0933F01-2E4D-7742-8482-D7C84E99A2D8}"/>
                  </a:ext>
                </a:extLst>
              </p:cNvPr>
              <p:cNvSpPr txBox="1"/>
              <p:nvPr/>
            </p:nvSpPr>
            <p:spPr>
              <a:xfrm>
                <a:off x="1490870" y="5585791"/>
                <a:ext cx="6202017" cy="369332"/>
              </a:xfrm>
              <a:prstGeom prst="rect">
                <a:avLst/>
              </a:prstGeom>
              <a:noFill/>
            </p:spPr>
            <p:txBody>
              <a:bodyPr wrap="square" rtlCol="0">
                <a:spAutoFit/>
              </a:bodyPr>
              <a:lstStyle/>
              <a:p>
                <a:r>
                  <a:rPr lang="en-US" dirty="0">
                    <a:latin typeface="Times" pitchFamily="2" charset="0"/>
                  </a:rPr>
                  <a:t>Running time is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err="1" smtClean="0">
                        <a:latin typeface="Cambria Math" panose="02040503050406030204" pitchFamily="18" charset="0"/>
                      </a:rPr>
                      <m:t>𝑛𝑙𝑜𝑔𝑛</m:t>
                    </m:r>
                    <m:r>
                      <a:rPr lang="en-US" i="1" dirty="0" smtClean="0">
                        <a:latin typeface="Cambria Math" panose="02040503050406030204" pitchFamily="18" charset="0"/>
                      </a:rPr>
                      <m:t>)</m:t>
                    </m:r>
                  </m:oMath>
                </a14:m>
                <a:r>
                  <a:rPr lang="en-US" dirty="0"/>
                  <a:t> </a:t>
                </a:r>
                <a:r>
                  <a:rPr lang="en-US" dirty="0">
                    <a:sym typeface="Wingdings" pitchFamily="2" charset="2"/>
                  </a:rPr>
                  <a:t> </a:t>
                </a:r>
                <a:r>
                  <a:rPr lang="en-US" i="0" dirty="0">
                    <a:latin typeface="Times" pitchFamily="2" charset="0"/>
                    <a:sym typeface="Wingdings" pitchFamily="2" charset="2"/>
                  </a:rPr>
                  <a:t>from sorting operation</a:t>
                </a:r>
                <a:endParaRPr lang="en-US" dirty="0">
                  <a:latin typeface="Times" pitchFamily="2" charset="0"/>
                </a:endParaRPr>
              </a:p>
            </p:txBody>
          </p:sp>
        </mc:Choice>
        <mc:Fallback xmlns="">
          <p:sp>
            <p:nvSpPr>
              <p:cNvPr id="15" name="TextBox 14">
                <a:extLst>
                  <a:ext uri="{FF2B5EF4-FFF2-40B4-BE49-F238E27FC236}">
                    <a16:creationId xmlns:a16="http://schemas.microsoft.com/office/drawing/2014/main" id="{70933F01-2E4D-7742-8482-D7C84E99A2D8}"/>
                  </a:ext>
                </a:extLst>
              </p:cNvPr>
              <p:cNvSpPr txBox="1">
                <a:spLocks noRot="1" noChangeAspect="1" noMove="1" noResize="1" noEditPoints="1" noAdjustHandles="1" noChangeArrowheads="1" noChangeShapeType="1" noTextEdit="1"/>
              </p:cNvSpPr>
              <p:nvPr/>
            </p:nvSpPr>
            <p:spPr>
              <a:xfrm>
                <a:off x="1490870" y="5585791"/>
                <a:ext cx="6202017" cy="369332"/>
              </a:xfrm>
              <a:prstGeom prst="rect">
                <a:avLst/>
              </a:prstGeom>
              <a:blipFill>
                <a:blip r:embed="rId3"/>
                <a:stretch>
                  <a:fillRect l="-818" t="-6667" b="-26667"/>
                </a:stretch>
              </a:blipFill>
            </p:spPr>
            <p:txBody>
              <a:bodyPr/>
              <a:lstStyle/>
              <a:p>
                <a:r>
                  <a:rPr lang="en-US">
                    <a:noFill/>
                  </a:rPr>
                  <a:t> </a:t>
                </a:r>
              </a:p>
            </p:txBody>
          </p:sp>
        </mc:Fallback>
      </mc:AlternateContent>
    </p:spTree>
    <p:extLst>
      <p:ext uri="{BB962C8B-B14F-4D97-AF65-F5344CB8AC3E}">
        <p14:creationId xmlns:p14="http://schemas.microsoft.com/office/powerpoint/2010/main" val="457951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Finish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2121408"/>
                <a:ext cx="10360152" cy="4527870"/>
              </a:xfrm>
            </p:spPr>
            <p:txBody>
              <a:bodyPr>
                <a:normAutofit/>
              </a:bodyPr>
              <a:lstStyle/>
              <a:p>
                <a:pPr marL="0" indent="0">
                  <a:buNone/>
                </a:pPr>
                <a:r>
                  <a:rPr lang="en-US" b="1" dirty="0">
                    <a:latin typeface="Times New Roman Bold Italic"/>
                  </a:rPr>
                  <a:t>Theorem 1. The job with the earliest finish time is in an optimal solution. </a:t>
                </a:r>
              </a:p>
              <a:p>
                <a:pPr marL="0" indent="0">
                  <a:buNone/>
                </a:pPr>
                <a:endParaRPr lang="en-US" sz="800" b="1" dirty="0">
                  <a:latin typeface="Times New Roman Bold Italic"/>
                </a:endParaRPr>
              </a:p>
              <a:p>
                <a:r>
                  <a:rPr lang="en-US" sz="2400" dirty="0">
                    <a:latin typeface="Angsana New" panose="02020603050405020304" pitchFamily="18" charset="-34"/>
                    <a:cs typeface="Angsana New" panose="02020603050405020304" pitchFamily="18" charset="-34"/>
                  </a:rPr>
                  <a:t>We will prove this by contradiction! </a:t>
                </a:r>
              </a:p>
              <a:p>
                <a:r>
                  <a:rPr lang="en-US" sz="2400" dirty="0">
                    <a:latin typeface="Angsana New" panose="02020603050405020304" pitchFamily="18" charset="-34"/>
                    <a:cs typeface="Angsana New" panose="02020603050405020304" pitchFamily="18" charset="-34"/>
                  </a:rPr>
                  <a:t>Suppose that the job (say job id </a:t>
                </a:r>
                <a14:m>
                  <m:oMath xmlns:m="http://schemas.openxmlformats.org/officeDocument/2006/math">
                    <m:r>
                      <a:rPr lang="en-US" sz="1800" i="1" dirty="0" smtClean="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with the earliest finish time is not in any of the optimal solutions (there can be multiple optimal solutions) </a:t>
                </a:r>
              </a:p>
              <a:p>
                <a:r>
                  <a:rPr lang="en-US" sz="2400" dirty="0">
                    <a:latin typeface="Angsana New" panose="02020603050405020304" pitchFamily="18" charset="-34"/>
                    <a:cs typeface="Angsana New" panose="02020603050405020304" pitchFamily="18" charset="-34"/>
                  </a:rPr>
                  <a:t>Consider arbitrarily any one of these optimal solution sets (say </a:t>
                </a:r>
                <a14:m>
                  <m:oMath xmlns:m="http://schemas.openxmlformats.org/officeDocument/2006/math">
                    <m:r>
                      <a:rPr lang="en-US" sz="1800" i="1" dirty="0" smtClean="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a:t>
                </a:r>
              </a:p>
              <a:p>
                <a:r>
                  <a:rPr lang="en-US" sz="2400" dirty="0">
                    <a:latin typeface="Angsana New" panose="02020603050405020304" pitchFamily="18" charset="-34"/>
                    <a:cs typeface="Angsana New" panose="02020603050405020304" pitchFamily="18" charset="-34"/>
                  </a:rPr>
                  <a:t>Select the job that has the earliest finish (or start time) time in this solution set </a:t>
                </a:r>
                <a14:m>
                  <m:oMath xmlns:m="http://schemas.openxmlformats.org/officeDocument/2006/math">
                    <m:r>
                      <a:rPr lang="en-US" sz="1800" i="1" dirty="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Let, the job id of this selected job be </a:t>
                </a:r>
                <a14:m>
                  <m:oMath xmlns:m="http://schemas.openxmlformats.org/officeDocument/2006/math">
                    <m:r>
                      <a:rPr lang="en-US" sz="1800" b="0" i="1" dirty="0" smtClean="0">
                        <a:latin typeface="Cambria Math" panose="02040503050406030204" pitchFamily="18" charset="0"/>
                      </a:rPr>
                      <m:t>𝑗</m:t>
                    </m:r>
                  </m:oMath>
                </a14:m>
                <a:r>
                  <a:rPr lang="en-US" sz="2400" dirty="0">
                    <a:latin typeface="Angsana New" panose="02020603050405020304" pitchFamily="18" charset="-34"/>
                    <a:cs typeface="Angsana New" panose="02020603050405020304" pitchFamily="18" charset="-34"/>
                  </a:rPr>
                  <a:t>.</a:t>
                </a:r>
              </a:p>
              <a:p>
                <a:r>
                  <a:rPr lang="en-US" sz="2400" dirty="0">
                    <a:latin typeface="Angsana New" panose="02020603050405020304" pitchFamily="18" charset="-34"/>
                    <a:cs typeface="Angsana New" panose="02020603050405020304" pitchFamily="18" charset="-34"/>
                  </a:rPr>
                  <a:t>Surely, </a:t>
                </a:r>
                <a14:m>
                  <m:oMath xmlns:m="http://schemas.openxmlformats.org/officeDocument/2006/math">
                    <m:r>
                      <a:rPr lang="en-US" sz="1800" i="1" dirty="0" smtClean="0">
                        <a:latin typeface="Cambria Math" panose="02040503050406030204" pitchFamily="18" charset="0"/>
                      </a:rPr>
                      <m:t>𝐹</m:t>
                    </m:r>
                    <m:r>
                      <a:rPr lang="en-US" sz="1800" i="1" dirty="0" smtClean="0">
                        <a:latin typeface="Cambria Math" panose="02040503050406030204" pitchFamily="18" charset="0"/>
                      </a:rPr>
                      <m:t>[</m:t>
                    </m:r>
                    <m:r>
                      <a:rPr lang="en-US" sz="1800" i="1" dirty="0" smtClean="0">
                        <a:latin typeface="Cambria Math" panose="02040503050406030204" pitchFamily="18" charset="0"/>
                      </a:rPr>
                      <m:t>𝑗</m:t>
                    </m:r>
                    <m:r>
                      <a:rPr lang="en-US" sz="1800" i="1" dirty="0" smtClean="0">
                        <a:latin typeface="Cambria Math" panose="02040503050406030204" pitchFamily="18" charset="0"/>
                      </a:rPr>
                      <m:t>] ≥ </m:t>
                    </m:r>
                    <m:r>
                      <a:rPr lang="en-US" sz="1800" i="1" dirty="0" smtClean="0">
                        <a:latin typeface="Cambria Math" panose="02040503050406030204" pitchFamily="18" charset="0"/>
                      </a:rPr>
                      <m:t>𝐹</m:t>
                    </m:r>
                    <m:r>
                      <a:rPr lang="en-US" sz="1800" i="1" dirty="0" smtClean="0">
                        <a:latin typeface="Cambria Math" panose="02040503050406030204" pitchFamily="18" charset="0"/>
                      </a:rPr>
                      <m:t>[</m:t>
                    </m:r>
                    <m:r>
                      <a:rPr lang="en-US" sz="1800" i="1" dirty="0" err="1" smtClean="0">
                        <a:latin typeface="Cambria Math" panose="02040503050406030204" pitchFamily="18" charset="0"/>
                      </a:rPr>
                      <m:t>𝑖</m:t>
                    </m:r>
                    <m:r>
                      <a:rPr lang="en-US" sz="1800" i="1" dirty="0" smtClean="0">
                        <a:latin typeface="Cambria Math" panose="02040503050406030204" pitchFamily="18" charset="0"/>
                      </a:rPr>
                      <m:t>]</m:t>
                    </m:r>
                  </m:oMath>
                </a14:m>
                <a:r>
                  <a:rPr lang="en-US" sz="1800" dirty="0">
                    <a:latin typeface="Angsana New" panose="02020603050405020304" pitchFamily="18" charset="-34"/>
                    <a:cs typeface="Angsana New" panose="02020603050405020304" pitchFamily="18" charset="-34"/>
                  </a:rPr>
                  <a:t> </a:t>
                </a:r>
                <a:r>
                  <a:rPr lang="en-US" sz="2400" dirty="0">
                    <a:latin typeface="Angsana New" panose="02020603050405020304" pitchFamily="18" charset="-34"/>
                    <a:cs typeface="Angsana New" panose="02020603050405020304" pitchFamily="18" charset="-34"/>
                  </a:rPr>
                  <a:t>because job </a:t>
                </a:r>
                <a14:m>
                  <m:oMath xmlns:m="http://schemas.openxmlformats.org/officeDocument/2006/math">
                    <m:r>
                      <a:rPr lang="en-US" sz="1800" b="0" i="1" dirty="0" smtClean="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has the earliest finish time among all jobs initially</a:t>
                </a:r>
              </a:p>
              <a:p>
                <a:r>
                  <a:rPr lang="en-US" sz="2400" dirty="0">
                    <a:latin typeface="Angsana New" panose="02020603050405020304" pitchFamily="18" charset="-34"/>
                    <a:cs typeface="Angsana New" panose="02020603050405020304" pitchFamily="18" charset="-34"/>
                  </a:rPr>
                  <a:t>Observer that, we can replace job </a:t>
                </a:r>
                <a14:m>
                  <m:oMath xmlns:m="http://schemas.openxmlformats.org/officeDocument/2006/math">
                    <m:r>
                      <a:rPr lang="en-US" sz="1800" i="1" dirty="0">
                        <a:latin typeface="Cambria Math" panose="02040503050406030204" pitchFamily="18" charset="0"/>
                      </a:rPr>
                      <m:t>𝑗</m:t>
                    </m:r>
                  </m:oMath>
                </a14:m>
                <a:r>
                  <a:rPr lang="en-US" sz="2400" dirty="0">
                    <a:latin typeface="Angsana New" panose="02020603050405020304" pitchFamily="18" charset="-34"/>
                    <a:cs typeface="Angsana New" panose="02020603050405020304" pitchFamily="18" charset="-34"/>
                  </a:rPr>
                  <a:t> with job </a:t>
                </a:r>
                <a14:m>
                  <m:oMath xmlns:m="http://schemas.openxmlformats.org/officeDocument/2006/math">
                    <m:r>
                      <a:rPr lang="en-US" sz="1800" b="0" i="1" dirty="0" smtClean="0">
                        <a:latin typeface="Cambria Math" panose="02040503050406030204" pitchFamily="18" charset="0"/>
                      </a:rPr>
                      <m:t>𝑖</m:t>
                    </m:r>
                    <m:r>
                      <a:rPr lang="en-US" sz="2400" i="1" dirty="0">
                        <a:latin typeface="Cambria Math" panose="02040503050406030204" pitchFamily="18" charset="0"/>
                      </a:rPr>
                      <m:t> </m:t>
                    </m:r>
                  </m:oMath>
                </a14:m>
                <a:r>
                  <a:rPr lang="en-US" sz="2400" dirty="0">
                    <a:latin typeface="Angsana New" panose="02020603050405020304" pitchFamily="18" charset="-34"/>
                    <a:cs typeface="Angsana New" panose="02020603050405020304" pitchFamily="18" charset="-34"/>
                  </a:rPr>
                  <a:t>without creating any conflict with the other jobs in set </a:t>
                </a:r>
                <a14:m>
                  <m:oMath xmlns:m="http://schemas.openxmlformats.org/officeDocument/2006/math">
                    <m:r>
                      <a:rPr lang="en-US" sz="1800" b="0" i="1" dirty="0" smtClean="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and still </a:t>
                </a:r>
                <a14:m>
                  <m:oMath xmlns:m="http://schemas.openxmlformats.org/officeDocument/2006/math">
                    <m:r>
                      <a:rPr lang="en-US" sz="1800" b="0" i="1" dirty="0" smtClean="0">
                        <a:latin typeface="Cambria Math" panose="02040503050406030204" pitchFamily="18" charset="0"/>
                      </a:rPr>
                      <m:t>𝑃</m:t>
                    </m:r>
                    <m:r>
                      <a:rPr lang="en-US" sz="2400" i="1" dirty="0">
                        <a:latin typeface="Cambria Math" panose="02040503050406030204" pitchFamily="18" charset="0"/>
                      </a:rPr>
                      <m:t> </m:t>
                    </m:r>
                  </m:oMath>
                </a14:m>
                <a:r>
                  <a:rPr lang="en-US" sz="2400" dirty="0">
                    <a:latin typeface="Angsana New" panose="02020603050405020304" pitchFamily="18" charset="-34"/>
                    <a:cs typeface="Angsana New" panose="02020603050405020304" pitchFamily="18" charset="-34"/>
                  </a:rPr>
                  <a:t>remains to be optimal [same size] </a:t>
                </a:r>
                <a:r>
                  <a:rPr lang="en-US" sz="1600" dirty="0">
                    <a:latin typeface="Angsana New" panose="02020603050405020304" pitchFamily="18" charset="-34"/>
                    <a:cs typeface="Angsana New" panose="02020603050405020304" pitchFamily="18" charset="-34"/>
                    <a:sym typeface="Wingdings" pitchFamily="2" charset="2"/>
                  </a:rPr>
                  <a:t></a:t>
                </a:r>
                <a:r>
                  <a:rPr lang="en-US" sz="2400" dirty="0">
                    <a:latin typeface="Angsana New" panose="02020603050405020304" pitchFamily="18" charset="-34"/>
                    <a:cs typeface="Angsana New" panose="02020603050405020304" pitchFamily="18" charset="-34"/>
                    <a:sym typeface="Wingdings" pitchFamily="2" charset="2"/>
                  </a:rPr>
                  <a:t> </a:t>
                </a:r>
                <a:r>
                  <a:rPr lang="en-US" sz="2400" dirty="0">
                    <a:latin typeface="Angsana New" panose="02020603050405020304" pitchFamily="18" charset="-34"/>
                    <a:cs typeface="Angsana New" panose="02020603050405020304" pitchFamily="18" charset="-34"/>
                  </a:rPr>
                  <a:t>A contraction to our assumption that job </a:t>
                </a:r>
                <a14:m>
                  <m:oMath xmlns:m="http://schemas.openxmlformats.org/officeDocument/2006/math">
                    <m:r>
                      <a:rPr lang="en-US" sz="1800" i="1" dirty="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is not in any optimal solutions!  </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Choice>
        <mc:Fallback xmlns="">
          <p:sp>
            <p:nvSpPr>
              <p:cNvPr id="3" name="Content Placeholder 2">
                <a:extLst>
                  <a:ext uri="{FF2B5EF4-FFF2-40B4-BE49-F238E27FC236}">
                    <a16:creationId xmlns:a16="http://schemas.microsoft.com/office/drawing/2014/main" id="{1F507BE6-6C66-494C-AAF4-FCF714F3AD4E}"/>
                  </a:ext>
                </a:extLst>
              </p:cNvPr>
              <p:cNvSpPr>
                <a:spLocks noGrp="1" noRot="1" noChangeAspect="1" noMove="1" noResize="1" noEditPoints="1" noAdjustHandles="1" noChangeArrowheads="1" noChangeShapeType="1" noTextEdit="1"/>
              </p:cNvSpPr>
              <p:nvPr>
                <p:ph idx="1"/>
              </p:nvPr>
            </p:nvSpPr>
            <p:spPr>
              <a:xfrm>
                <a:off x="1069848" y="2121408"/>
                <a:ext cx="10360152" cy="4527870"/>
              </a:xfrm>
              <a:blipFill>
                <a:blip r:embed="rId2"/>
                <a:stretch>
                  <a:fillRect l="-612" t="-1401"/>
                </a:stretch>
              </a:blipFill>
            </p:spPr>
            <p:txBody>
              <a:bodyPr/>
              <a:lstStyle/>
              <a:p>
                <a:r>
                  <a:rPr lang="en-US">
                    <a:noFill/>
                  </a:rPr>
                  <a:t> </a:t>
                </a:r>
              </a:p>
            </p:txBody>
          </p:sp>
        </mc:Fallback>
      </mc:AlternateContent>
    </p:spTree>
    <p:extLst>
      <p:ext uri="{BB962C8B-B14F-4D97-AF65-F5344CB8AC3E}">
        <p14:creationId xmlns:p14="http://schemas.microsoft.com/office/powerpoint/2010/main" val="3688004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Finish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2121408"/>
            <a:ext cx="10360152" cy="4527870"/>
          </a:xfrm>
        </p:spPr>
        <p:txBody>
          <a:bodyPr>
            <a:normAutofit/>
          </a:bodyPr>
          <a:lstStyle/>
          <a:p>
            <a:pPr marL="0" indent="0">
              <a:buNone/>
            </a:pPr>
            <a:r>
              <a:rPr lang="en-US" b="1" dirty="0">
                <a:latin typeface="Times New Roman Bold Italic"/>
              </a:rPr>
              <a:t>Prove that </a:t>
            </a:r>
            <a:r>
              <a:rPr lang="en-US" i="1" dirty="0">
                <a:latin typeface="Times" pitchFamily="2" charset="0"/>
              </a:rPr>
              <a:t>Greedy-Activity-Scheduling</a:t>
            </a:r>
            <a:r>
              <a:rPr lang="en-US" b="1" dirty="0">
                <a:latin typeface="Times New Roman Bold Italic"/>
              </a:rPr>
              <a:t> generate an optimal solution. </a:t>
            </a:r>
          </a:p>
          <a:p>
            <a:pPr marL="0" indent="0">
              <a:buNone/>
            </a:pPr>
            <a:endParaRPr lang="en-US" sz="800" b="1" dirty="0">
              <a:latin typeface="Times New Roman Bold Italic"/>
            </a:endParaRPr>
          </a:p>
          <a:p>
            <a:r>
              <a:rPr lang="en-US" sz="2400" dirty="0">
                <a:latin typeface="Angsana New" panose="02020603050405020304" pitchFamily="18" charset="-34"/>
                <a:cs typeface="Angsana New" panose="02020603050405020304" pitchFamily="18" charset="-34"/>
              </a:rPr>
              <a:t>According </a:t>
            </a:r>
            <a:r>
              <a:rPr lang="en-US" sz="2400" b="1" dirty="0">
                <a:latin typeface="Angsana New" panose="02020603050405020304" pitchFamily="18" charset="-34"/>
                <a:cs typeface="Angsana New" panose="02020603050405020304" pitchFamily="18" charset="-34"/>
              </a:rPr>
              <a:t>theorem 1</a:t>
            </a:r>
            <a:r>
              <a:rPr lang="en-US" sz="2400" dirty="0">
                <a:latin typeface="Angsana New" panose="02020603050405020304" pitchFamily="18" charset="-34"/>
                <a:cs typeface="Angsana New" panose="02020603050405020304" pitchFamily="18" charset="-34"/>
              </a:rPr>
              <a:t>, we select the first job since it is in optimal solution. </a:t>
            </a:r>
          </a:p>
          <a:p>
            <a:r>
              <a:rPr lang="en-US" sz="2400" dirty="0">
                <a:latin typeface="Angsana New" panose="02020603050405020304" pitchFamily="18" charset="-34"/>
                <a:cs typeface="Angsana New" panose="02020603050405020304" pitchFamily="18" charset="-34"/>
              </a:rPr>
              <a:t>Then, we remove all conflicting jobs from the job set. </a:t>
            </a:r>
          </a:p>
          <a:p>
            <a:r>
              <a:rPr lang="en-US" sz="2400" dirty="0">
                <a:latin typeface="Angsana New" panose="02020603050405020304" pitchFamily="18" charset="-34"/>
                <a:cs typeface="Angsana New" panose="02020603050405020304" pitchFamily="18" charset="-34"/>
              </a:rPr>
              <a:t>The original problem is then transformed to a similar problem of smaller size. </a:t>
            </a:r>
          </a:p>
          <a:p>
            <a:r>
              <a:rPr lang="en-US" sz="2400" dirty="0">
                <a:latin typeface="Angsana New" panose="02020603050405020304" pitchFamily="18" charset="-34"/>
                <a:cs typeface="Angsana New" panose="02020603050405020304" pitchFamily="18" charset="-34"/>
              </a:rPr>
              <a:t>So, we continue selecting jobs following </a:t>
            </a:r>
            <a:r>
              <a:rPr lang="en-US" sz="2400" b="1" dirty="0">
                <a:latin typeface="Angsana New" panose="02020603050405020304" pitchFamily="18" charset="-34"/>
                <a:cs typeface="Angsana New" panose="02020603050405020304" pitchFamily="18" charset="-34"/>
              </a:rPr>
              <a:t>theorem 1</a:t>
            </a:r>
            <a:r>
              <a:rPr lang="en-US" sz="2400" dirty="0">
                <a:latin typeface="Angsana New" panose="02020603050405020304" pitchFamily="18" charset="-34"/>
                <a:cs typeface="Angsana New" panose="02020603050405020304" pitchFamily="18" charset="-34"/>
              </a:rPr>
              <a:t> and we always remain optimal. </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Tree>
    <p:extLst>
      <p:ext uri="{BB962C8B-B14F-4D97-AF65-F5344CB8AC3E}">
        <p14:creationId xmlns:p14="http://schemas.microsoft.com/office/powerpoint/2010/main" val="477241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chemeClr val="tx1"/>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p:spTree>
    <p:extLst>
      <p:ext uri="{BB962C8B-B14F-4D97-AF65-F5344CB8AC3E}">
        <p14:creationId xmlns:p14="http://schemas.microsoft.com/office/powerpoint/2010/main" val="40524119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rgbClr val="FF0000"/>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 {</m:t>
                      </m:r>
                      <m:r>
                        <a:rPr lang="en-US" sz="2400" i="1" kern="0" dirty="0" smtClean="0">
                          <a:solidFill>
                            <a:srgbClr val="0000CC"/>
                          </a:solidFill>
                          <a:latin typeface="Cambria Math" panose="02040503050406030204" pitchFamily="18" charset="0"/>
                          <a:cs typeface="Arial"/>
                        </a:rPr>
                        <m:t>𝑎</m:t>
                      </m:r>
                      <m:r>
                        <a:rPr lang="en-US" sz="2400" i="1" kern="0" baseline="-25000" dirty="0" smtClean="0">
                          <a:solidFill>
                            <a:srgbClr val="0000CC"/>
                          </a:solidFill>
                          <a:latin typeface="Cambria Math" panose="02040503050406030204" pitchFamily="18" charset="0"/>
                          <a:cs typeface="Arial"/>
                        </a:rPr>
                        <m:t>3</m:t>
                      </m:r>
                      <m:r>
                        <a:rPr lang="en-US" sz="240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Tree>
    <p:extLst>
      <p:ext uri="{BB962C8B-B14F-4D97-AF65-F5344CB8AC3E}">
        <p14:creationId xmlns:p14="http://schemas.microsoft.com/office/powerpoint/2010/main" val="52527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rgbClr val="FF0000"/>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CAC7EA87-5919-B44D-8B2F-57C970F57070}"/>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 {</m:t>
                      </m:r>
                      <m:r>
                        <a:rPr lang="en-US" sz="2400" i="1" kern="0" dirty="0" smtClean="0">
                          <a:solidFill>
                            <a:srgbClr val="0000CC"/>
                          </a:solidFill>
                          <a:latin typeface="Cambria Math" panose="02040503050406030204" pitchFamily="18" charset="0"/>
                          <a:cs typeface="Arial"/>
                        </a:rPr>
                        <m:t>𝑎</m:t>
                      </m:r>
                      <m:r>
                        <a:rPr lang="en-US" sz="2400" i="1" kern="0" baseline="-25000" dirty="0" smtClean="0">
                          <a:solidFill>
                            <a:srgbClr val="0000CC"/>
                          </a:solidFill>
                          <a:latin typeface="Cambria Math" panose="02040503050406030204" pitchFamily="18" charset="0"/>
                          <a:cs typeface="Arial"/>
                        </a:rPr>
                        <m:t>3</m:t>
                      </m:r>
                      <m:r>
                        <a:rPr lang="en-US" sz="240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17" name="Rectangle 16">
                <a:extLst>
                  <a:ext uri="{FF2B5EF4-FFF2-40B4-BE49-F238E27FC236}">
                    <a16:creationId xmlns:a16="http://schemas.microsoft.com/office/drawing/2014/main" id="{CAC7EA87-5919-B44D-8B2F-57C970F57070}"/>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Tree>
    <p:extLst>
      <p:ext uri="{BB962C8B-B14F-4D97-AF65-F5344CB8AC3E}">
        <p14:creationId xmlns:p14="http://schemas.microsoft.com/office/powerpoint/2010/main" val="16868157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rgbClr val="FF0000"/>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7</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Tree>
    <p:extLst>
      <p:ext uri="{BB962C8B-B14F-4D97-AF65-F5344CB8AC3E}">
        <p14:creationId xmlns:p14="http://schemas.microsoft.com/office/powerpoint/2010/main" val="158694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rgbClr val="FF0000"/>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7</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Tree>
    <p:extLst>
      <p:ext uri="{BB962C8B-B14F-4D97-AF65-F5344CB8AC3E}">
        <p14:creationId xmlns:p14="http://schemas.microsoft.com/office/powerpoint/2010/main" val="2661955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rgbClr val="FF0000"/>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7</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11</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Tree>
    <p:extLst>
      <p:ext uri="{BB962C8B-B14F-4D97-AF65-F5344CB8AC3E}">
        <p14:creationId xmlns:p14="http://schemas.microsoft.com/office/powerpoint/2010/main" val="41284186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rgbClr val="FF0000"/>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7</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11</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0EB892BC-97DC-764D-B180-3F1424E73397}"/>
              </a:ext>
            </a:extLst>
          </p:cNvPr>
          <p:cNvGrpSpPr/>
          <p:nvPr/>
        </p:nvGrpSpPr>
        <p:grpSpPr>
          <a:xfrm>
            <a:off x="7326111" y="4181280"/>
            <a:ext cx="2221904" cy="985465"/>
            <a:chOff x="4716016" y="3429000"/>
            <a:chExt cx="2736304" cy="985465"/>
          </a:xfrm>
        </p:grpSpPr>
        <p:sp>
          <p:nvSpPr>
            <p:cNvPr id="21" name="Rounded Rectangular Callout 20">
              <a:extLst>
                <a:ext uri="{FF2B5EF4-FFF2-40B4-BE49-F238E27FC236}">
                  <a16:creationId xmlns:a16="http://schemas.microsoft.com/office/drawing/2014/main" id="{007AD4F5-8EF5-CF4F-925E-7FE91AA676AB}"/>
                </a:ext>
              </a:extLst>
            </p:cNvPr>
            <p:cNvSpPr/>
            <p:nvPr/>
          </p:nvSpPr>
          <p:spPr bwMode="auto">
            <a:xfrm>
              <a:off x="4716016" y="3429000"/>
              <a:ext cx="2736304" cy="985465"/>
            </a:xfrm>
            <a:prstGeom prst="wedgeRoundRectCallout">
              <a:avLst>
                <a:gd name="adj1" fmla="val -74280"/>
                <a:gd name="adj2" fmla="val -100960"/>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22" name="TextBox 21">
              <a:extLst>
                <a:ext uri="{FF2B5EF4-FFF2-40B4-BE49-F238E27FC236}">
                  <a16:creationId xmlns:a16="http://schemas.microsoft.com/office/drawing/2014/main" id="{8A5F6CBE-A58C-5342-A80D-80245283A1E8}"/>
                </a:ext>
              </a:extLst>
            </p:cNvPr>
            <p:cNvSpPr txBox="1"/>
            <p:nvPr/>
          </p:nvSpPr>
          <p:spPr>
            <a:xfrm>
              <a:off x="4716016" y="3523655"/>
              <a:ext cx="2736304" cy="769441"/>
            </a:xfrm>
            <a:prstGeom prst="rect">
              <a:avLst/>
            </a:prstGeom>
            <a:noFill/>
          </p:spPr>
          <p:txBody>
            <a:bodyPr wrap="square" rtlCol="0">
              <a:spAutoFit/>
            </a:bodyPr>
            <a:lstStyle/>
            <a:p>
              <a:pPr algn="ctr" fontAlgn="base">
                <a:spcBef>
                  <a:spcPct val="0"/>
                </a:spcBef>
                <a:spcAft>
                  <a:spcPct val="0"/>
                </a:spcAft>
              </a:pPr>
              <a:r>
                <a:rPr lang="en-US" sz="2200" dirty="0">
                  <a:solidFill>
                    <a:srgbClr val="FF0000"/>
                  </a:solidFill>
                  <a:latin typeface="Times New Roman"/>
                  <a:cs typeface="Arial" charset="0"/>
                </a:rPr>
                <a:t>Not an optimal solution</a:t>
              </a:r>
            </a:p>
          </p:txBody>
        </p:sp>
      </p:grpSp>
    </p:spTree>
    <p:extLst>
      <p:ext uri="{BB962C8B-B14F-4D97-AF65-F5344CB8AC3E}">
        <p14:creationId xmlns:p14="http://schemas.microsoft.com/office/powerpoint/2010/main" val="1854142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Shortest interval</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shortest interval</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chemeClr val="tx1"/>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p:spTree>
    <p:extLst>
      <p:ext uri="{BB962C8B-B14F-4D97-AF65-F5344CB8AC3E}">
        <p14:creationId xmlns:p14="http://schemas.microsoft.com/office/powerpoint/2010/main" val="909882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chemeClr val="tx1"/>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 {</m:t>
                      </m:r>
                      <m:sSub>
                        <m:sSubPr>
                          <m:ctrlPr>
                            <a:rPr lang="en-US" sz="2400" b="0" i="1" kern="0" dirty="0" smtClean="0">
                              <a:solidFill>
                                <a:srgbClr val="0000CC"/>
                              </a:solidFill>
                              <a:latin typeface="Cambria Math" panose="02040503050406030204" pitchFamily="18" charset="0"/>
                              <a:cs typeface="Arial"/>
                            </a:rPr>
                          </m:ctrlPr>
                        </m:sSubPr>
                        <m:e>
                          <m:r>
                            <a:rPr lang="en-US" sz="240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2</m:t>
                          </m:r>
                        </m:sub>
                      </m:sSub>
                      <m:r>
                        <a:rPr lang="en-US" sz="240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Tree>
    <p:extLst>
      <p:ext uri="{BB962C8B-B14F-4D97-AF65-F5344CB8AC3E}">
        <p14:creationId xmlns:p14="http://schemas.microsoft.com/office/powerpoint/2010/main" val="1035646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
        <p:nvSpPr>
          <p:cNvPr id="30" name="Line 196">
            <a:extLst>
              <a:ext uri="{FF2B5EF4-FFF2-40B4-BE49-F238E27FC236}">
                <a16:creationId xmlns:a16="http://schemas.microsoft.com/office/drawing/2014/main" id="{20D6F0C5-3B51-2043-A45C-6DDFE0961C2D}"/>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1" name="Line 197">
            <a:extLst>
              <a:ext uri="{FF2B5EF4-FFF2-40B4-BE49-F238E27FC236}">
                <a16:creationId xmlns:a16="http://schemas.microsoft.com/office/drawing/2014/main" id="{42AE4319-EFF6-1D4C-8C00-5D26C9212ADD}"/>
              </a:ext>
            </a:extLst>
          </p:cNvPr>
          <p:cNvSpPr>
            <a:spLocks noChangeShapeType="1"/>
          </p:cNvSpPr>
          <p:nvPr/>
        </p:nvSpPr>
        <p:spPr bwMode="auto">
          <a:xfrm>
            <a:off x="3102334" y="3787893"/>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2" name="Line 198">
            <a:extLst>
              <a:ext uri="{FF2B5EF4-FFF2-40B4-BE49-F238E27FC236}">
                <a16:creationId xmlns:a16="http://schemas.microsoft.com/office/drawing/2014/main" id="{6EA67EC6-C219-2244-9509-73C4C2E66053}"/>
              </a:ext>
            </a:extLst>
          </p:cNvPr>
          <p:cNvSpPr>
            <a:spLocks noChangeShapeType="1"/>
          </p:cNvSpPr>
          <p:nvPr/>
        </p:nvSpPr>
        <p:spPr bwMode="auto">
          <a:xfrm>
            <a:off x="2176466" y="3995878"/>
            <a:ext cx="1807646" cy="0"/>
          </a:xfrm>
          <a:prstGeom prst="line">
            <a:avLst/>
          </a:prstGeom>
          <a:noFill/>
          <a:ln w="57150">
            <a:solidFill>
              <a:schemeClr val="bg1">
                <a:lumMod val="85000"/>
              </a:schemeClr>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33" name="Line 199">
            <a:extLst>
              <a:ext uri="{FF2B5EF4-FFF2-40B4-BE49-F238E27FC236}">
                <a16:creationId xmlns:a16="http://schemas.microsoft.com/office/drawing/2014/main" id="{722BE7B6-F8B0-5340-9682-92305B6F7DB1}"/>
              </a:ext>
            </a:extLst>
          </p:cNvPr>
          <p:cNvSpPr>
            <a:spLocks noChangeShapeType="1"/>
          </p:cNvSpPr>
          <p:nvPr/>
        </p:nvSpPr>
        <p:spPr bwMode="auto">
          <a:xfrm>
            <a:off x="3675490" y="4238526"/>
            <a:ext cx="881779" cy="0"/>
          </a:xfrm>
          <a:prstGeom prst="line">
            <a:avLst/>
          </a:prstGeom>
          <a:noFill/>
          <a:ln w="57150">
            <a:solidFill>
              <a:schemeClr val="tx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4" name="Line 200">
            <a:extLst>
              <a:ext uri="{FF2B5EF4-FFF2-40B4-BE49-F238E27FC236}">
                <a16:creationId xmlns:a16="http://schemas.microsoft.com/office/drawing/2014/main" id="{BB9F1CC0-A77D-1843-8173-DD1D960F2D4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5" name="Line 201">
            <a:extLst>
              <a:ext uri="{FF2B5EF4-FFF2-40B4-BE49-F238E27FC236}">
                <a16:creationId xmlns:a16="http://schemas.microsoft.com/office/drawing/2014/main" id="{72C17662-320A-F644-9B81-875CD8841F25}"/>
              </a:ext>
            </a:extLst>
          </p:cNvPr>
          <p:cNvSpPr>
            <a:spLocks noChangeShapeType="1"/>
          </p:cNvSpPr>
          <p:nvPr/>
        </p:nvSpPr>
        <p:spPr bwMode="auto">
          <a:xfrm>
            <a:off x="3675490" y="4689160"/>
            <a:ext cx="1190401" cy="0"/>
          </a:xfrm>
          <a:prstGeom prst="line">
            <a:avLst/>
          </a:prstGeom>
          <a:noFill/>
          <a:ln w="57150">
            <a:solidFill>
              <a:schemeClr val="tx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6" name="Line 202">
            <a:extLst>
              <a:ext uri="{FF2B5EF4-FFF2-40B4-BE49-F238E27FC236}">
                <a16:creationId xmlns:a16="http://schemas.microsoft.com/office/drawing/2014/main" id="{FB2FDB45-62DA-0A4A-80B6-A11F80B1E503}"/>
              </a:ext>
            </a:extLst>
          </p:cNvPr>
          <p:cNvSpPr>
            <a:spLocks noChangeShapeType="1"/>
          </p:cNvSpPr>
          <p:nvPr/>
        </p:nvSpPr>
        <p:spPr bwMode="auto">
          <a:xfrm>
            <a:off x="3984112" y="4931808"/>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7" name="Line 203">
            <a:extLst>
              <a:ext uri="{FF2B5EF4-FFF2-40B4-BE49-F238E27FC236}">
                <a16:creationId xmlns:a16="http://schemas.microsoft.com/office/drawing/2014/main" id="{ADAB0687-EDCC-7D47-BE84-B51053334F3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8" name="Line 204">
            <a:extLst>
              <a:ext uri="{FF2B5EF4-FFF2-40B4-BE49-F238E27FC236}">
                <a16:creationId xmlns:a16="http://schemas.microsoft.com/office/drawing/2014/main" id="{66883637-5076-C14C-91A7-3BF3D336C9FF}"/>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39" name="Line 205">
            <a:extLst>
              <a:ext uri="{FF2B5EF4-FFF2-40B4-BE49-F238E27FC236}">
                <a16:creationId xmlns:a16="http://schemas.microsoft.com/office/drawing/2014/main" id="{3686A335-EDFF-7D4E-BB09-82806C05EB94}"/>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0" name="Line 206">
            <a:extLst>
              <a:ext uri="{FF2B5EF4-FFF2-40B4-BE49-F238E27FC236}">
                <a16:creationId xmlns:a16="http://schemas.microsoft.com/office/drawing/2014/main" id="{B10DFC5B-F0A2-1B43-B0BA-A80443CEC446}"/>
              </a:ext>
            </a:extLst>
          </p:cNvPr>
          <p:cNvSpPr>
            <a:spLocks noChangeShapeType="1"/>
          </p:cNvSpPr>
          <p:nvPr/>
        </p:nvSpPr>
        <p:spPr bwMode="auto">
          <a:xfrm>
            <a:off x="5791758" y="5867739"/>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1" name="Text Box 220">
            <a:extLst>
              <a:ext uri="{FF2B5EF4-FFF2-40B4-BE49-F238E27FC236}">
                <a16:creationId xmlns:a16="http://schemas.microsoft.com/office/drawing/2014/main" id="{DCDDF7F7-F8CD-574A-BBE3-44EE3C666543}"/>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CAC7EA87-5919-B44D-8B2F-57C970F57070}"/>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 {</m:t>
                      </m:r>
                      <m:r>
                        <a:rPr lang="en-US" sz="2400" i="1" kern="0" dirty="0" smtClean="0">
                          <a:solidFill>
                            <a:srgbClr val="0000CC"/>
                          </a:solidFill>
                          <a:latin typeface="Cambria Math" panose="02040503050406030204" pitchFamily="18" charset="0"/>
                          <a:cs typeface="Arial"/>
                        </a:rPr>
                        <m:t>𝑎</m:t>
                      </m:r>
                      <m:r>
                        <a:rPr lang="en-US" sz="2400" i="1" kern="0" baseline="-25000" dirty="0" smtClean="0">
                          <a:solidFill>
                            <a:srgbClr val="0000CC"/>
                          </a:solidFill>
                          <a:latin typeface="Cambria Math" panose="02040503050406030204" pitchFamily="18" charset="0"/>
                          <a:cs typeface="Arial"/>
                        </a:rPr>
                        <m:t>3</m:t>
                      </m:r>
                      <m:r>
                        <a:rPr lang="en-US" sz="240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17" name="Rectangle 16">
                <a:extLst>
                  <a:ext uri="{FF2B5EF4-FFF2-40B4-BE49-F238E27FC236}">
                    <a16:creationId xmlns:a16="http://schemas.microsoft.com/office/drawing/2014/main" id="{CAC7EA87-5919-B44D-8B2F-57C970F57070}"/>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Tree>
    <p:extLst>
      <p:ext uri="{BB962C8B-B14F-4D97-AF65-F5344CB8AC3E}">
        <p14:creationId xmlns:p14="http://schemas.microsoft.com/office/powerpoint/2010/main" val="1502262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11</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
        <p:nvSpPr>
          <p:cNvPr id="17" name="Line 196">
            <a:extLst>
              <a:ext uri="{FF2B5EF4-FFF2-40B4-BE49-F238E27FC236}">
                <a16:creationId xmlns:a16="http://schemas.microsoft.com/office/drawing/2014/main" id="{39CB54D6-EED9-A842-82D3-C2B201DD3452}"/>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18" name="Line 197">
            <a:extLst>
              <a:ext uri="{FF2B5EF4-FFF2-40B4-BE49-F238E27FC236}">
                <a16:creationId xmlns:a16="http://schemas.microsoft.com/office/drawing/2014/main" id="{BEF72733-5D18-F64C-BAA7-F3949E5CA442}"/>
              </a:ext>
            </a:extLst>
          </p:cNvPr>
          <p:cNvSpPr>
            <a:spLocks noChangeShapeType="1"/>
          </p:cNvSpPr>
          <p:nvPr/>
        </p:nvSpPr>
        <p:spPr bwMode="auto">
          <a:xfrm>
            <a:off x="3102334" y="3787893"/>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19" name="Line 198">
            <a:extLst>
              <a:ext uri="{FF2B5EF4-FFF2-40B4-BE49-F238E27FC236}">
                <a16:creationId xmlns:a16="http://schemas.microsoft.com/office/drawing/2014/main" id="{4C7F5C72-6201-5B41-B105-B036F99F49F1}"/>
              </a:ext>
            </a:extLst>
          </p:cNvPr>
          <p:cNvSpPr>
            <a:spLocks noChangeShapeType="1"/>
          </p:cNvSpPr>
          <p:nvPr/>
        </p:nvSpPr>
        <p:spPr bwMode="auto">
          <a:xfrm>
            <a:off x="2176466" y="3995878"/>
            <a:ext cx="1807646" cy="0"/>
          </a:xfrm>
          <a:prstGeom prst="line">
            <a:avLst/>
          </a:prstGeom>
          <a:noFill/>
          <a:ln w="57150">
            <a:solidFill>
              <a:schemeClr val="bg1">
                <a:lumMod val="85000"/>
              </a:schemeClr>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20" name="Line 199">
            <a:extLst>
              <a:ext uri="{FF2B5EF4-FFF2-40B4-BE49-F238E27FC236}">
                <a16:creationId xmlns:a16="http://schemas.microsoft.com/office/drawing/2014/main" id="{3F264777-48C9-D54D-89B8-146D3971ACE5}"/>
              </a:ext>
            </a:extLst>
          </p:cNvPr>
          <p:cNvSpPr>
            <a:spLocks noChangeShapeType="1"/>
          </p:cNvSpPr>
          <p:nvPr/>
        </p:nvSpPr>
        <p:spPr bwMode="auto">
          <a:xfrm>
            <a:off x="3675490" y="4238526"/>
            <a:ext cx="881779" cy="0"/>
          </a:xfrm>
          <a:prstGeom prst="line">
            <a:avLst/>
          </a:prstGeom>
          <a:noFill/>
          <a:ln w="57150">
            <a:solidFill>
              <a:schemeClr val="tx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1" name="Line 200">
            <a:extLst>
              <a:ext uri="{FF2B5EF4-FFF2-40B4-BE49-F238E27FC236}">
                <a16:creationId xmlns:a16="http://schemas.microsoft.com/office/drawing/2014/main" id="{B3868FDD-D3AA-004A-BA5F-24C67BEB0864}"/>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2" name="Line 201">
            <a:extLst>
              <a:ext uri="{FF2B5EF4-FFF2-40B4-BE49-F238E27FC236}">
                <a16:creationId xmlns:a16="http://schemas.microsoft.com/office/drawing/2014/main" id="{C0E9B597-986F-9141-ABAA-214DBBFC1EDC}"/>
              </a:ext>
            </a:extLst>
          </p:cNvPr>
          <p:cNvSpPr>
            <a:spLocks noChangeShapeType="1"/>
          </p:cNvSpPr>
          <p:nvPr/>
        </p:nvSpPr>
        <p:spPr bwMode="auto">
          <a:xfrm>
            <a:off x="3675490" y="4689160"/>
            <a:ext cx="1190401" cy="0"/>
          </a:xfrm>
          <a:prstGeom prst="line">
            <a:avLst/>
          </a:prstGeom>
          <a:noFill/>
          <a:ln w="57150">
            <a:solidFill>
              <a:schemeClr val="tx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3" name="Line 202">
            <a:extLst>
              <a:ext uri="{FF2B5EF4-FFF2-40B4-BE49-F238E27FC236}">
                <a16:creationId xmlns:a16="http://schemas.microsoft.com/office/drawing/2014/main" id="{68752D6C-2293-F74F-AC0F-E1D2CE5E0D16}"/>
              </a:ext>
            </a:extLst>
          </p:cNvPr>
          <p:cNvSpPr>
            <a:spLocks noChangeShapeType="1"/>
          </p:cNvSpPr>
          <p:nvPr/>
        </p:nvSpPr>
        <p:spPr bwMode="auto">
          <a:xfrm>
            <a:off x="3984112" y="4931808"/>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4" name="Line 203">
            <a:extLst>
              <a:ext uri="{FF2B5EF4-FFF2-40B4-BE49-F238E27FC236}">
                <a16:creationId xmlns:a16="http://schemas.microsoft.com/office/drawing/2014/main" id="{CD694A43-DA86-624F-A2C9-AA9B66C3F145}"/>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5" name="Line 204">
            <a:extLst>
              <a:ext uri="{FF2B5EF4-FFF2-40B4-BE49-F238E27FC236}">
                <a16:creationId xmlns:a16="http://schemas.microsoft.com/office/drawing/2014/main" id="{931B1EFA-CC53-1346-8C50-4EFA0DEEF7E6}"/>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6" name="Line 205">
            <a:extLst>
              <a:ext uri="{FF2B5EF4-FFF2-40B4-BE49-F238E27FC236}">
                <a16:creationId xmlns:a16="http://schemas.microsoft.com/office/drawing/2014/main" id="{633FE639-62B7-1347-AA36-C1F05948FE9F}"/>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7" name="Line 206">
            <a:extLst>
              <a:ext uri="{FF2B5EF4-FFF2-40B4-BE49-F238E27FC236}">
                <a16:creationId xmlns:a16="http://schemas.microsoft.com/office/drawing/2014/main" id="{F1976E61-D615-694A-B424-3F59790DBC77}"/>
              </a:ext>
            </a:extLst>
          </p:cNvPr>
          <p:cNvSpPr>
            <a:spLocks noChangeShapeType="1"/>
          </p:cNvSpPr>
          <p:nvPr/>
        </p:nvSpPr>
        <p:spPr bwMode="auto">
          <a:xfrm>
            <a:off x="5791758" y="5867739"/>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8" name="Text Box 220">
            <a:extLst>
              <a:ext uri="{FF2B5EF4-FFF2-40B4-BE49-F238E27FC236}">
                <a16:creationId xmlns:a16="http://schemas.microsoft.com/office/drawing/2014/main" id="{10B0BA7A-4046-594E-9324-93010B04549D}"/>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p:spTree>
    <p:extLst>
      <p:ext uri="{BB962C8B-B14F-4D97-AF65-F5344CB8AC3E}">
        <p14:creationId xmlns:p14="http://schemas.microsoft.com/office/powerpoint/2010/main" val="12630003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11</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4</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
        <p:nvSpPr>
          <p:cNvPr id="29" name="Line 196">
            <a:extLst>
              <a:ext uri="{FF2B5EF4-FFF2-40B4-BE49-F238E27FC236}">
                <a16:creationId xmlns:a16="http://schemas.microsoft.com/office/drawing/2014/main" id="{160A2217-01CA-E34E-ABB5-A66733D6A00B}"/>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3" name="Line 197">
            <a:extLst>
              <a:ext uri="{FF2B5EF4-FFF2-40B4-BE49-F238E27FC236}">
                <a16:creationId xmlns:a16="http://schemas.microsoft.com/office/drawing/2014/main" id="{9E2FB74E-890B-B540-9181-D9E8313CC0A6}"/>
              </a:ext>
            </a:extLst>
          </p:cNvPr>
          <p:cNvSpPr>
            <a:spLocks noChangeShapeType="1"/>
          </p:cNvSpPr>
          <p:nvPr/>
        </p:nvSpPr>
        <p:spPr bwMode="auto">
          <a:xfrm>
            <a:off x="3102334" y="3787893"/>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4" name="Line 198">
            <a:extLst>
              <a:ext uri="{FF2B5EF4-FFF2-40B4-BE49-F238E27FC236}">
                <a16:creationId xmlns:a16="http://schemas.microsoft.com/office/drawing/2014/main" id="{3E56EAAC-C184-684E-8090-362E0F4AAD75}"/>
              </a:ext>
            </a:extLst>
          </p:cNvPr>
          <p:cNvSpPr>
            <a:spLocks noChangeShapeType="1"/>
          </p:cNvSpPr>
          <p:nvPr/>
        </p:nvSpPr>
        <p:spPr bwMode="auto">
          <a:xfrm>
            <a:off x="2176466" y="3995878"/>
            <a:ext cx="1807646" cy="0"/>
          </a:xfrm>
          <a:prstGeom prst="line">
            <a:avLst/>
          </a:prstGeom>
          <a:noFill/>
          <a:ln w="57150">
            <a:solidFill>
              <a:schemeClr val="bg1">
                <a:lumMod val="85000"/>
              </a:schemeClr>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45" name="Line 199">
            <a:extLst>
              <a:ext uri="{FF2B5EF4-FFF2-40B4-BE49-F238E27FC236}">
                <a16:creationId xmlns:a16="http://schemas.microsoft.com/office/drawing/2014/main" id="{EA6F61E7-27AB-9848-B8AC-1A2454DD04C1}"/>
              </a:ext>
            </a:extLst>
          </p:cNvPr>
          <p:cNvSpPr>
            <a:spLocks noChangeShapeType="1"/>
          </p:cNvSpPr>
          <p:nvPr/>
        </p:nvSpPr>
        <p:spPr bwMode="auto">
          <a:xfrm>
            <a:off x="3675490" y="4238526"/>
            <a:ext cx="881779"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6" name="Line 200">
            <a:extLst>
              <a:ext uri="{FF2B5EF4-FFF2-40B4-BE49-F238E27FC236}">
                <a16:creationId xmlns:a16="http://schemas.microsoft.com/office/drawing/2014/main" id="{3ABA1209-8B22-EC46-89C0-4A7CB8F43DD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7" name="Line 201">
            <a:extLst>
              <a:ext uri="{FF2B5EF4-FFF2-40B4-BE49-F238E27FC236}">
                <a16:creationId xmlns:a16="http://schemas.microsoft.com/office/drawing/2014/main" id="{593D5661-7EC7-514D-8AE5-C9832B454067}"/>
              </a:ext>
            </a:extLst>
          </p:cNvPr>
          <p:cNvSpPr>
            <a:spLocks noChangeShapeType="1"/>
          </p:cNvSpPr>
          <p:nvPr/>
        </p:nvSpPr>
        <p:spPr bwMode="auto">
          <a:xfrm>
            <a:off x="3675490" y="4689160"/>
            <a:ext cx="1190401" cy="0"/>
          </a:xfrm>
          <a:prstGeom prst="line">
            <a:avLst/>
          </a:prstGeom>
          <a:noFill/>
          <a:ln w="57150">
            <a:solidFill>
              <a:schemeClr val="tx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8" name="Line 202">
            <a:extLst>
              <a:ext uri="{FF2B5EF4-FFF2-40B4-BE49-F238E27FC236}">
                <a16:creationId xmlns:a16="http://schemas.microsoft.com/office/drawing/2014/main" id="{EE5EB41C-368D-7C41-802A-9ABD00A2D3CD}"/>
              </a:ext>
            </a:extLst>
          </p:cNvPr>
          <p:cNvSpPr>
            <a:spLocks noChangeShapeType="1"/>
          </p:cNvSpPr>
          <p:nvPr/>
        </p:nvSpPr>
        <p:spPr bwMode="auto">
          <a:xfrm>
            <a:off x="3984112" y="4931808"/>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9" name="Line 203">
            <a:extLst>
              <a:ext uri="{FF2B5EF4-FFF2-40B4-BE49-F238E27FC236}">
                <a16:creationId xmlns:a16="http://schemas.microsoft.com/office/drawing/2014/main" id="{8A1B027B-DA44-984F-A4DD-44B907DBBAF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0" name="Line 204">
            <a:extLst>
              <a:ext uri="{FF2B5EF4-FFF2-40B4-BE49-F238E27FC236}">
                <a16:creationId xmlns:a16="http://schemas.microsoft.com/office/drawing/2014/main" id="{C1D84810-43EA-824E-BB0B-AA2C311E4F0E}"/>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1" name="Line 205">
            <a:extLst>
              <a:ext uri="{FF2B5EF4-FFF2-40B4-BE49-F238E27FC236}">
                <a16:creationId xmlns:a16="http://schemas.microsoft.com/office/drawing/2014/main" id="{8AF3B976-96C3-2647-B73E-D6733553270D}"/>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2" name="Line 206">
            <a:extLst>
              <a:ext uri="{FF2B5EF4-FFF2-40B4-BE49-F238E27FC236}">
                <a16:creationId xmlns:a16="http://schemas.microsoft.com/office/drawing/2014/main" id="{913A6E23-6A6D-A149-8841-C2481182C4BB}"/>
              </a:ext>
            </a:extLst>
          </p:cNvPr>
          <p:cNvSpPr>
            <a:spLocks noChangeShapeType="1"/>
          </p:cNvSpPr>
          <p:nvPr/>
        </p:nvSpPr>
        <p:spPr bwMode="auto">
          <a:xfrm>
            <a:off x="5791758" y="5867739"/>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3" name="Text Box 220">
            <a:extLst>
              <a:ext uri="{FF2B5EF4-FFF2-40B4-BE49-F238E27FC236}">
                <a16:creationId xmlns:a16="http://schemas.microsoft.com/office/drawing/2014/main" id="{6E027410-3B01-BE42-95A3-783210D9F124}"/>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p:spTree>
    <p:extLst>
      <p:ext uri="{BB962C8B-B14F-4D97-AF65-F5344CB8AC3E}">
        <p14:creationId xmlns:p14="http://schemas.microsoft.com/office/powerpoint/2010/main" val="5631362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10" y="3131435"/>
                <a:ext cx="2520280"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11</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4</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10" y="3131435"/>
                <a:ext cx="2520280" cy="461665"/>
              </a:xfrm>
              <a:prstGeom prst="rect">
                <a:avLst/>
              </a:prstGeom>
              <a:blipFill>
                <a:blip r:embed="rId2"/>
                <a:stretch>
                  <a:fillRect l="-503" b="-24324"/>
                </a:stretch>
              </a:blipFill>
            </p:spPr>
            <p:txBody>
              <a:bodyPr/>
              <a:lstStyle/>
              <a:p>
                <a:r>
                  <a:rPr lang="en-US">
                    <a:noFill/>
                  </a:rPr>
                  <a:t> </a:t>
                </a:r>
              </a:p>
            </p:txBody>
          </p:sp>
        </mc:Fallback>
      </mc:AlternateContent>
      <p:sp>
        <p:nvSpPr>
          <p:cNvPr id="29" name="Line 196">
            <a:extLst>
              <a:ext uri="{FF2B5EF4-FFF2-40B4-BE49-F238E27FC236}">
                <a16:creationId xmlns:a16="http://schemas.microsoft.com/office/drawing/2014/main" id="{160A2217-01CA-E34E-ABB5-A66733D6A00B}"/>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3" name="Line 197">
            <a:extLst>
              <a:ext uri="{FF2B5EF4-FFF2-40B4-BE49-F238E27FC236}">
                <a16:creationId xmlns:a16="http://schemas.microsoft.com/office/drawing/2014/main" id="{9E2FB74E-890B-B540-9181-D9E8313CC0A6}"/>
              </a:ext>
            </a:extLst>
          </p:cNvPr>
          <p:cNvSpPr>
            <a:spLocks noChangeShapeType="1"/>
          </p:cNvSpPr>
          <p:nvPr/>
        </p:nvSpPr>
        <p:spPr bwMode="auto">
          <a:xfrm>
            <a:off x="3102334" y="3787893"/>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4" name="Line 198">
            <a:extLst>
              <a:ext uri="{FF2B5EF4-FFF2-40B4-BE49-F238E27FC236}">
                <a16:creationId xmlns:a16="http://schemas.microsoft.com/office/drawing/2014/main" id="{3E56EAAC-C184-684E-8090-362E0F4AAD75}"/>
              </a:ext>
            </a:extLst>
          </p:cNvPr>
          <p:cNvSpPr>
            <a:spLocks noChangeShapeType="1"/>
          </p:cNvSpPr>
          <p:nvPr/>
        </p:nvSpPr>
        <p:spPr bwMode="auto">
          <a:xfrm>
            <a:off x="2176466" y="3995878"/>
            <a:ext cx="1807646" cy="0"/>
          </a:xfrm>
          <a:prstGeom prst="line">
            <a:avLst/>
          </a:prstGeom>
          <a:noFill/>
          <a:ln w="57150">
            <a:solidFill>
              <a:schemeClr val="bg1">
                <a:lumMod val="85000"/>
              </a:schemeClr>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45" name="Line 199">
            <a:extLst>
              <a:ext uri="{FF2B5EF4-FFF2-40B4-BE49-F238E27FC236}">
                <a16:creationId xmlns:a16="http://schemas.microsoft.com/office/drawing/2014/main" id="{EA6F61E7-27AB-9848-B8AC-1A2454DD04C1}"/>
              </a:ext>
            </a:extLst>
          </p:cNvPr>
          <p:cNvSpPr>
            <a:spLocks noChangeShapeType="1"/>
          </p:cNvSpPr>
          <p:nvPr/>
        </p:nvSpPr>
        <p:spPr bwMode="auto">
          <a:xfrm>
            <a:off x="3675490" y="4238526"/>
            <a:ext cx="881779"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6" name="Line 200">
            <a:extLst>
              <a:ext uri="{FF2B5EF4-FFF2-40B4-BE49-F238E27FC236}">
                <a16:creationId xmlns:a16="http://schemas.microsoft.com/office/drawing/2014/main" id="{3ABA1209-8B22-EC46-89C0-4A7CB8F43DD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7" name="Line 201">
            <a:extLst>
              <a:ext uri="{FF2B5EF4-FFF2-40B4-BE49-F238E27FC236}">
                <a16:creationId xmlns:a16="http://schemas.microsoft.com/office/drawing/2014/main" id="{593D5661-7EC7-514D-8AE5-C9832B454067}"/>
              </a:ext>
            </a:extLst>
          </p:cNvPr>
          <p:cNvSpPr>
            <a:spLocks noChangeShapeType="1"/>
          </p:cNvSpPr>
          <p:nvPr/>
        </p:nvSpPr>
        <p:spPr bwMode="auto">
          <a:xfrm>
            <a:off x="3675490" y="4689160"/>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8" name="Line 202">
            <a:extLst>
              <a:ext uri="{FF2B5EF4-FFF2-40B4-BE49-F238E27FC236}">
                <a16:creationId xmlns:a16="http://schemas.microsoft.com/office/drawing/2014/main" id="{EE5EB41C-368D-7C41-802A-9ABD00A2D3CD}"/>
              </a:ext>
            </a:extLst>
          </p:cNvPr>
          <p:cNvSpPr>
            <a:spLocks noChangeShapeType="1"/>
          </p:cNvSpPr>
          <p:nvPr/>
        </p:nvSpPr>
        <p:spPr bwMode="auto">
          <a:xfrm>
            <a:off x="3984112" y="4931808"/>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9" name="Line 203">
            <a:extLst>
              <a:ext uri="{FF2B5EF4-FFF2-40B4-BE49-F238E27FC236}">
                <a16:creationId xmlns:a16="http://schemas.microsoft.com/office/drawing/2014/main" id="{8A1B027B-DA44-984F-A4DD-44B907DBBAF0}"/>
              </a:ext>
            </a:extLst>
          </p:cNvPr>
          <p:cNvSpPr>
            <a:spLocks noChangeShapeType="1"/>
          </p:cNvSpPr>
          <p:nvPr/>
        </p:nvSpPr>
        <p:spPr bwMode="auto">
          <a:xfrm>
            <a:off x="4557268" y="5174457"/>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0" name="Line 204">
            <a:extLst>
              <a:ext uri="{FF2B5EF4-FFF2-40B4-BE49-F238E27FC236}">
                <a16:creationId xmlns:a16="http://schemas.microsoft.com/office/drawing/2014/main" id="{C1D84810-43EA-824E-BB0B-AA2C311E4F0E}"/>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1" name="Line 205">
            <a:extLst>
              <a:ext uri="{FF2B5EF4-FFF2-40B4-BE49-F238E27FC236}">
                <a16:creationId xmlns:a16="http://schemas.microsoft.com/office/drawing/2014/main" id="{8AF3B976-96C3-2647-B73E-D6733553270D}"/>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2" name="Line 206">
            <a:extLst>
              <a:ext uri="{FF2B5EF4-FFF2-40B4-BE49-F238E27FC236}">
                <a16:creationId xmlns:a16="http://schemas.microsoft.com/office/drawing/2014/main" id="{913A6E23-6A6D-A149-8841-C2481182C4BB}"/>
              </a:ext>
            </a:extLst>
          </p:cNvPr>
          <p:cNvSpPr>
            <a:spLocks noChangeShapeType="1"/>
          </p:cNvSpPr>
          <p:nvPr/>
        </p:nvSpPr>
        <p:spPr bwMode="auto">
          <a:xfrm>
            <a:off x="5791758" y="5867739"/>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3" name="Text Box 220">
            <a:extLst>
              <a:ext uri="{FF2B5EF4-FFF2-40B4-BE49-F238E27FC236}">
                <a16:creationId xmlns:a16="http://schemas.microsoft.com/office/drawing/2014/main" id="{6E027410-3B01-BE42-95A3-783210D9F124}"/>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p:spTree>
    <p:extLst>
      <p:ext uri="{BB962C8B-B14F-4D97-AF65-F5344CB8AC3E}">
        <p14:creationId xmlns:p14="http://schemas.microsoft.com/office/powerpoint/2010/main" val="1325517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09" y="3131435"/>
                <a:ext cx="2857399"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11</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4</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8</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09" y="3131435"/>
                <a:ext cx="2857399" cy="461665"/>
              </a:xfrm>
              <a:prstGeom prst="rect">
                <a:avLst/>
              </a:prstGeom>
              <a:blipFill>
                <a:blip r:embed="rId2"/>
                <a:stretch>
                  <a:fillRect l="-442" b="-24324"/>
                </a:stretch>
              </a:blipFill>
            </p:spPr>
            <p:txBody>
              <a:bodyPr/>
              <a:lstStyle/>
              <a:p>
                <a:r>
                  <a:rPr lang="en-US">
                    <a:noFill/>
                  </a:rPr>
                  <a:t> </a:t>
                </a:r>
              </a:p>
            </p:txBody>
          </p:sp>
        </mc:Fallback>
      </mc:AlternateContent>
      <p:sp>
        <p:nvSpPr>
          <p:cNvPr id="29" name="Line 196">
            <a:extLst>
              <a:ext uri="{FF2B5EF4-FFF2-40B4-BE49-F238E27FC236}">
                <a16:creationId xmlns:a16="http://schemas.microsoft.com/office/drawing/2014/main" id="{160A2217-01CA-E34E-ABB5-A66733D6A00B}"/>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3" name="Line 197">
            <a:extLst>
              <a:ext uri="{FF2B5EF4-FFF2-40B4-BE49-F238E27FC236}">
                <a16:creationId xmlns:a16="http://schemas.microsoft.com/office/drawing/2014/main" id="{9E2FB74E-890B-B540-9181-D9E8313CC0A6}"/>
              </a:ext>
            </a:extLst>
          </p:cNvPr>
          <p:cNvSpPr>
            <a:spLocks noChangeShapeType="1"/>
          </p:cNvSpPr>
          <p:nvPr/>
        </p:nvSpPr>
        <p:spPr bwMode="auto">
          <a:xfrm>
            <a:off x="3102334" y="3787893"/>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4" name="Line 198">
            <a:extLst>
              <a:ext uri="{FF2B5EF4-FFF2-40B4-BE49-F238E27FC236}">
                <a16:creationId xmlns:a16="http://schemas.microsoft.com/office/drawing/2014/main" id="{3E56EAAC-C184-684E-8090-362E0F4AAD75}"/>
              </a:ext>
            </a:extLst>
          </p:cNvPr>
          <p:cNvSpPr>
            <a:spLocks noChangeShapeType="1"/>
          </p:cNvSpPr>
          <p:nvPr/>
        </p:nvSpPr>
        <p:spPr bwMode="auto">
          <a:xfrm>
            <a:off x="2176466" y="3995878"/>
            <a:ext cx="1807646" cy="0"/>
          </a:xfrm>
          <a:prstGeom prst="line">
            <a:avLst/>
          </a:prstGeom>
          <a:noFill/>
          <a:ln w="57150">
            <a:solidFill>
              <a:schemeClr val="bg1">
                <a:lumMod val="85000"/>
              </a:schemeClr>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45" name="Line 199">
            <a:extLst>
              <a:ext uri="{FF2B5EF4-FFF2-40B4-BE49-F238E27FC236}">
                <a16:creationId xmlns:a16="http://schemas.microsoft.com/office/drawing/2014/main" id="{EA6F61E7-27AB-9848-B8AC-1A2454DD04C1}"/>
              </a:ext>
            </a:extLst>
          </p:cNvPr>
          <p:cNvSpPr>
            <a:spLocks noChangeShapeType="1"/>
          </p:cNvSpPr>
          <p:nvPr/>
        </p:nvSpPr>
        <p:spPr bwMode="auto">
          <a:xfrm>
            <a:off x="3675490" y="4238526"/>
            <a:ext cx="881779"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6" name="Line 200">
            <a:extLst>
              <a:ext uri="{FF2B5EF4-FFF2-40B4-BE49-F238E27FC236}">
                <a16:creationId xmlns:a16="http://schemas.microsoft.com/office/drawing/2014/main" id="{3ABA1209-8B22-EC46-89C0-4A7CB8F43DD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7" name="Line 201">
            <a:extLst>
              <a:ext uri="{FF2B5EF4-FFF2-40B4-BE49-F238E27FC236}">
                <a16:creationId xmlns:a16="http://schemas.microsoft.com/office/drawing/2014/main" id="{593D5661-7EC7-514D-8AE5-C9832B454067}"/>
              </a:ext>
            </a:extLst>
          </p:cNvPr>
          <p:cNvSpPr>
            <a:spLocks noChangeShapeType="1"/>
          </p:cNvSpPr>
          <p:nvPr/>
        </p:nvSpPr>
        <p:spPr bwMode="auto">
          <a:xfrm>
            <a:off x="3675490" y="4689160"/>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8" name="Line 202">
            <a:extLst>
              <a:ext uri="{FF2B5EF4-FFF2-40B4-BE49-F238E27FC236}">
                <a16:creationId xmlns:a16="http://schemas.microsoft.com/office/drawing/2014/main" id="{EE5EB41C-368D-7C41-802A-9ABD00A2D3CD}"/>
              </a:ext>
            </a:extLst>
          </p:cNvPr>
          <p:cNvSpPr>
            <a:spLocks noChangeShapeType="1"/>
          </p:cNvSpPr>
          <p:nvPr/>
        </p:nvSpPr>
        <p:spPr bwMode="auto">
          <a:xfrm>
            <a:off x="3984112" y="4931808"/>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9" name="Line 203">
            <a:extLst>
              <a:ext uri="{FF2B5EF4-FFF2-40B4-BE49-F238E27FC236}">
                <a16:creationId xmlns:a16="http://schemas.microsoft.com/office/drawing/2014/main" id="{8A1B027B-DA44-984F-A4DD-44B907DBBAF0}"/>
              </a:ext>
            </a:extLst>
          </p:cNvPr>
          <p:cNvSpPr>
            <a:spLocks noChangeShapeType="1"/>
          </p:cNvSpPr>
          <p:nvPr/>
        </p:nvSpPr>
        <p:spPr bwMode="auto">
          <a:xfrm>
            <a:off x="4557268" y="5174457"/>
            <a:ext cx="881779"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0" name="Line 204">
            <a:extLst>
              <a:ext uri="{FF2B5EF4-FFF2-40B4-BE49-F238E27FC236}">
                <a16:creationId xmlns:a16="http://schemas.microsoft.com/office/drawing/2014/main" id="{C1D84810-43EA-824E-BB0B-AA2C311E4F0E}"/>
              </a:ext>
            </a:extLst>
          </p:cNvPr>
          <p:cNvSpPr>
            <a:spLocks noChangeShapeType="1"/>
          </p:cNvSpPr>
          <p:nvPr/>
        </p:nvSpPr>
        <p:spPr bwMode="auto">
          <a:xfrm>
            <a:off x="4557268" y="5417106"/>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1" name="Line 205">
            <a:extLst>
              <a:ext uri="{FF2B5EF4-FFF2-40B4-BE49-F238E27FC236}">
                <a16:creationId xmlns:a16="http://schemas.microsoft.com/office/drawing/2014/main" id="{8AF3B976-96C3-2647-B73E-D6733553270D}"/>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2" name="Line 206">
            <a:extLst>
              <a:ext uri="{FF2B5EF4-FFF2-40B4-BE49-F238E27FC236}">
                <a16:creationId xmlns:a16="http://schemas.microsoft.com/office/drawing/2014/main" id="{913A6E23-6A6D-A149-8841-C2481182C4BB}"/>
              </a:ext>
            </a:extLst>
          </p:cNvPr>
          <p:cNvSpPr>
            <a:spLocks noChangeShapeType="1"/>
          </p:cNvSpPr>
          <p:nvPr/>
        </p:nvSpPr>
        <p:spPr bwMode="auto">
          <a:xfrm>
            <a:off x="5791758" y="5867739"/>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3" name="Text Box 220">
            <a:extLst>
              <a:ext uri="{FF2B5EF4-FFF2-40B4-BE49-F238E27FC236}">
                <a16:creationId xmlns:a16="http://schemas.microsoft.com/office/drawing/2014/main" id="{6E027410-3B01-BE42-95A3-783210D9F124}"/>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p:spTree>
    <p:extLst>
      <p:ext uri="{BB962C8B-B14F-4D97-AF65-F5344CB8AC3E}">
        <p14:creationId xmlns:p14="http://schemas.microsoft.com/office/powerpoint/2010/main" val="1075901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09" y="3131435"/>
                <a:ext cx="2857399"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11</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4</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8</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09" y="3131435"/>
                <a:ext cx="2857399" cy="461665"/>
              </a:xfrm>
              <a:prstGeom prst="rect">
                <a:avLst/>
              </a:prstGeom>
              <a:blipFill>
                <a:blip r:embed="rId2"/>
                <a:stretch>
                  <a:fillRect l="-442" b="-24324"/>
                </a:stretch>
              </a:blipFill>
            </p:spPr>
            <p:txBody>
              <a:bodyPr/>
              <a:lstStyle/>
              <a:p>
                <a:r>
                  <a:rPr lang="en-US">
                    <a:noFill/>
                  </a:rPr>
                  <a:t> </a:t>
                </a:r>
              </a:p>
            </p:txBody>
          </p:sp>
        </mc:Fallback>
      </mc:AlternateContent>
      <p:sp>
        <p:nvSpPr>
          <p:cNvPr id="29" name="Line 196">
            <a:extLst>
              <a:ext uri="{FF2B5EF4-FFF2-40B4-BE49-F238E27FC236}">
                <a16:creationId xmlns:a16="http://schemas.microsoft.com/office/drawing/2014/main" id="{160A2217-01CA-E34E-ABB5-A66733D6A00B}"/>
              </a:ext>
            </a:extLst>
          </p:cNvPr>
          <p:cNvSpPr>
            <a:spLocks noChangeShapeType="1"/>
          </p:cNvSpPr>
          <p:nvPr/>
        </p:nvSpPr>
        <p:spPr bwMode="auto">
          <a:xfrm>
            <a:off x="2485089" y="3545245"/>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3" name="Line 197">
            <a:extLst>
              <a:ext uri="{FF2B5EF4-FFF2-40B4-BE49-F238E27FC236}">
                <a16:creationId xmlns:a16="http://schemas.microsoft.com/office/drawing/2014/main" id="{9E2FB74E-890B-B540-9181-D9E8313CC0A6}"/>
              </a:ext>
            </a:extLst>
          </p:cNvPr>
          <p:cNvSpPr>
            <a:spLocks noChangeShapeType="1"/>
          </p:cNvSpPr>
          <p:nvPr/>
        </p:nvSpPr>
        <p:spPr bwMode="auto">
          <a:xfrm>
            <a:off x="3102334" y="3787893"/>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4" name="Line 198">
            <a:extLst>
              <a:ext uri="{FF2B5EF4-FFF2-40B4-BE49-F238E27FC236}">
                <a16:creationId xmlns:a16="http://schemas.microsoft.com/office/drawing/2014/main" id="{3E56EAAC-C184-684E-8090-362E0F4AAD75}"/>
              </a:ext>
            </a:extLst>
          </p:cNvPr>
          <p:cNvSpPr>
            <a:spLocks noChangeShapeType="1"/>
          </p:cNvSpPr>
          <p:nvPr/>
        </p:nvSpPr>
        <p:spPr bwMode="auto">
          <a:xfrm>
            <a:off x="2176466" y="3995878"/>
            <a:ext cx="1807646" cy="0"/>
          </a:xfrm>
          <a:prstGeom prst="line">
            <a:avLst/>
          </a:prstGeom>
          <a:noFill/>
          <a:ln w="57150">
            <a:solidFill>
              <a:schemeClr val="bg1">
                <a:lumMod val="85000"/>
              </a:schemeClr>
            </a:solidFill>
            <a:round/>
            <a:headEnd type="triangle" w="med" len="med"/>
            <a:tailEnd type="triangle" w="med" len="med"/>
          </a:ln>
          <a:effectLst/>
        </p:spPr>
        <p:txBody>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45" name="Line 199">
            <a:extLst>
              <a:ext uri="{FF2B5EF4-FFF2-40B4-BE49-F238E27FC236}">
                <a16:creationId xmlns:a16="http://schemas.microsoft.com/office/drawing/2014/main" id="{EA6F61E7-27AB-9848-B8AC-1A2454DD04C1}"/>
              </a:ext>
            </a:extLst>
          </p:cNvPr>
          <p:cNvSpPr>
            <a:spLocks noChangeShapeType="1"/>
          </p:cNvSpPr>
          <p:nvPr/>
        </p:nvSpPr>
        <p:spPr bwMode="auto">
          <a:xfrm>
            <a:off x="3675490" y="4238526"/>
            <a:ext cx="881779"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6" name="Line 200">
            <a:extLst>
              <a:ext uri="{FF2B5EF4-FFF2-40B4-BE49-F238E27FC236}">
                <a16:creationId xmlns:a16="http://schemas.microsoft.com/office/drawing/2014/main" id="{3ABA1209-8B22-EC46-89C0-4A7CB8F43DDD}"/>
              </a:ext>
            </a:extLst>
          </p:cNvPr>
          <p:cNvSpPr>
            <a:spLocks noChangeShapeType="1"/>
          </p:cNvSpPr>
          <p:nvPr/>
        </p:nvSpPr>
        <p:spPr bwMode="auto">
          <a:xfrm>
            <a:off x="3102334" y="4481175"/>
            <a:ext cx="1454935"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7" name="Line 201">
            <a:extLst>
              <a:ext uri="{FF2B5EF4-FFF2-40B4-BE49-F238E27FC236}">
                <a16:creationId xmlns:a16="http://schemas.microsoft.com/office/drawing/2014/main" id="{593D5661-7EC7-514D-8AE5-C9832B454067}"/>
              </a:ext>
            </a:extLst>
          </p:cNvPr>
          <p:cNvSpPr>
            <a:spLocks noChangeShapeType="1"/>
          </p:cNvSpPr>
          <p:nvPr/>
        </p:nvSpPr>
        <p:spPr bwMode="auto">
          <a:xfrm>
            <a:off x="3675490" y="4689160"/>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8" name="Line 202">
            <a:extLst>
              <a:ext uri="{FF2B5EF4-FFF2-40B4-BE49-F238E27FC236}">
                <a16:creationId xmlns:a16="http://schemas.microsoft.com/office/drawing/2014/main" id="{EE5EB41C-368D-7C41-802A-9ABD00A2D3CD}"/>
              </a:ext>
            </a:extLst>
          </p:cNvPr>
          <p:cNvSpPr>
            <a:spLocks noChangeShapeType="1"/>
          </p:cNvSpPr>
          <p:nvPr/>
        </p:nvSpPr>
        <p:spPr bwMode="auto">
          <a:xfrm>
            <a:off x="3984112" y="4931808"/>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49" name="Line 203">
            <a:extLst>
              <a:ext uri="{FF2B5EF4-FFF2-40B4-BE49-F238E27FC236}">
                <a16:creationId xmlns:a16="http://schemas.microsoft.com/office/drawing/2014/main" id="{8A1B027B-DA44-984F-A4DD-44B907DBBAF0}"/>
              </a:ext>
            </a:extLst>
          </p:cNvPr>
          <p:cNvSpPr>
            <a:spLocks noChangeShapeType="1"/>
          </p:cNvSpPr>
          <p:nvPr/>
        </p:nvSpPr>
        <p:spPr bwMode="auto">
          <a:xfrm>
            <a:off x="4557268" y="5174457"/>
            <a:ext cx="881779"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0" name="Line 204">
            <a:extLst>
              <a:ext uri="{FF2B5EF4-FFF2-40B4-BE49-F238E27FC236}">
                <a16:creationId xmlns:a16="http://schemas.microsoft.com/office/drawing/2014/main" id="{C1D84810-43EA-824E-BB0B-AA2C311E4F0E}"/>
              </a:ext>
            </a:extLst>
          </p:cNvPr>
          <p:cNvSpPr>
            <a:spLocks noChangeShapeType="1"/>
          </p:cNvSpPr>
          <p:nvPr/>
        </p:nvSpPr>
        <p:spPr bwMode="auto">
          <a:xfrm>
            <a:off x="4557268" y="5417106"/>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1" name="Line 205">
            <a:extLst>
              <a:ext uri="{FF2B5EF4-FFF2-40B4-BE49-F238E27FC236}">
                <a16:creationId xmlns:a16="http://schemas.microsoft.com/office/drawing/2014/main" id="{8AF3B976-96C3-2647-B73E-D6733553270D}"/>
              </a:ext>
            </a:extLst>
          </p:cNvPr>
          <p:cNvSpPr>
            <a:spLocks noChangeShapeType="1"/>
          </p:cNvSpPr>
          <p:nvPr/>
        </p:nvSpPr>
        <p:spPr bwMode="auto">
          <a:xfrm>
            <a:off x="2793711" y="5659754"/>
            <a:ext cx="326258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2" name="Line 206">
            <a:extLst>
              <a:ext uri="{FF2B5EF4-FFF2-40B4-BE49-F238E27FC236}">
                <a16:creationId xmlns:a16="http://schemas.microsoft.com/office/drawing/2014/main" id="{913A6E23-6A6D-A149-8841-C2481182C4BB}"/>
              </a:ext>
            </a:extLst>
          </p:cNvPr>
          <p:cNvSpPr>
            <a:spLocks noChangeShapeType="1"/>
          </p:cNvSpPr>
          <p:nvPr/>
        </p:nvSpPr>
        <p:spPr bwMode="auto">
          <a:xfrm>
            <a:off x="5791758" y="5867739"/>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53" name="Text Box 220">
            <a:extLst>
              <a:ext uri="{FF2B5EF4-FFF2-40B4-BE49-F238E27FC236}">
                <a16:creationId xmlns:a16="http://schemas.microsoft.com/office/drawing/2014/main" id="{6E027410-3B01-BE42-95A3-783210D9F124}"/>
              </a:ext>
            </a:extLst>
          </p:cNvPr>
          <p:cNvSpPr txBox="1">
            <a:spLocks noChangeArrowheads="1"/>
          </p:cNvSpPr>
          <p:nvPr/>
        </p:nvSpPr>
        <p:spPr bwMode="auto">
          <a:xfrm>
            <a:off x="1744418" y="3275451"/>
            <a:ext cx="430887" cy="2872573"/>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lumMod val="95000"/>
                    <a:lumOff val="5000"/>
                  </a:srgbClr>
                </a:solidFill>
                <a:latin typeface="Tahoma" pitchFamily="34" charset="0"/>
                <a:cs typeface="Arial" charset="0"/>
              </a:rPr>
              <a:t> 11 10 9  8  7  6  5  4  3  2  1</a:t>
            </a:r>
          </a:p>
        </p:txBody>
      </p:sp>
      <p:grpSp>
        <p:nvGrpSpPr>
          <p:cNvPr id="17" name="Group 16">
            <a:extLst>
              <a:ext uri="{FF2B5EF4-FFF2-40B4-BE49-F238E27FC236}">
                <a16:creationId xmlns:a16="http://schemas.microsoft.com/office/drawing/2014/main" id="{F41F41F5-3E45-5E49-B596-74898FFB7B68}"/>
              </a:ext>
            </a:extLst>
          </p:cNvPr>
          <p:cNvGrpSpPr/>
          <p:nvPr/>
        </p:nvGrpSpPr>
        <p:grpSpPr>
          <a:xfrm>
            <a:off x="7607417" y="4196427"/>
            <a:ext cx="2972428" cy="985465"/>
            <a:chOff x="4716016" y="3429000"/>
            <a:chExt cx="2736304" cy="985465"/>
          </a:xfrm>
        </p:grpSpPr>
        <p:sp>
          <p:nvSpPr>
            <p:cNvPr id="18" name="Rounded Rectangular Callout 17">
              <a:extLst>
                <a:ext uri="{FF2B5EF4-FFF2-40B4-BE49-F238E27FC236}">
                  <a16:creationId xmlns:a16="http://schemas.microsoft.com/office/drawing/2014/main" id="{8214F68D-309B-734C-876A-A0096404D057}"/>
                </a:ext>
              </a:extLst>
            </p:cNvPr>
            <p:cNvSpPr/>
            <p:nvPr/>
          </p:nvSpPr>
          <p:spPr bwMode="auto">
            <a:xfrm>
              <a:off x="4716016" y="3429000"/>
              <a:ext cx="2736304" cy="985465"/>
            </a:xfrm>
            <a:prstGeom prst="wedgeRoundRectCallout">
              <a:avLst>
                <a:gd name="adj1" fmla="val -74280"/>
                <a:gd name="adj2" fmla="val -100960"/>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19" name="TextBox 18">
              <a:extLst>
                <a:ext uri="{FF2B5EF4-FFF2-40B4-BE49-F238E27FC236}">
                  <a16:creationId xmlns:a16="http://schemas.microsoft.com/office/drawing/2014/main" id="{3553540D-7682-3D4C-BE34-DC0EFD5E6F86}"/>
                </a:ext>
              </a:extLst>
            </p:cNvPr>
            <p:cNvSpPr txBox="1"/>
            <p:nvPr/>
          </p:nvSpPr>
          <p:spPr>
            <a:xfrm>
              <a:off x="4716016" y="3523655"/>
              <a:ext cx="2736304" cy="769441"/>
            </a:xfrm>
            <a:prstGeom prst="rect">
              <a:avLst/>
            </a:prstGeom>
            <a:noFill/>
          </p:spPr>
          <p:txBody>
            <a:bodyPr wrap="square" rtlCol="0">
              <a:spAutoFit/>
            </a:bodyPr>
            <a:lstStyle/>
            <a:p>
              <a:pPr algn="ctr" fontAlgn="base">
                <a:spcBef>
                  <a:spcPct val="0"/>
                </a:spcBef>
                <a:spcAft>
                  <a:spcPct val="0"/>
                </a:spcAft>
              </a:pPr>
              <a:r>
                <a:rPr lang="en-US" sz="2200" dirty="0">
                  <a:solidFill>
                    <a:srgbClr val="FF0000"/>
                  </a:solidFill>
                  <a:latin typeface="Times New Roman"/>
                  <a:cs typeface="Arial" charset="0"/>
                </a:rPr>
                <a:t>Gives optimal solution in this example</a:t>
              </a:r>
            </a:p>
          </p:txBody>
        </p:sp>
      </p:grpSp>
    </p:spTree>
    <p:extLst>
      <p:ext uri="{BB962C8B-B14F-4D97-AF65-F5344CB8AC3E}">
        <p14:creationId xmlns:p14="http://schemas.microsoft.com/office/powerpoint/2010/main" val="284647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09" y="3131435"/>
                <a:ext cx="2857399"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09" y="3131435"/>
                <a:ext cx="2857399" cy="461665"/>
              </a:xfrm>
              <a:prstGeom prst="rect">
                <a:avLst/>
              </a:prstGeom>
              <a:blipFill>
                <a:blip r:embed="rId2"/>
                <a:stretch>
                  <a:fillRect l="-442" b="-24324"/>
                </a:stretch>
              </a:blipFill>
            </p:spPr>
            <p:txBody>
              <a:bodyPr/>
              <a:lstStyle/>
              <a:p>
                <a:r>
                  <a:rPr lang="en-US">
                    <a:noFill/>
                  </a:rPr>
                  <a:t> </a:t>
                </a:r>
              </a:p>
            </p:txBody>
          </p:sp>
        </mc:Fallback>
      </mc:AlternateContent>
      <p:sp>
        <p:nvSpPr>
          <p:cNvPr id="20" name="Line 196">
            <a:extLst>
              <a:ext uri="{FF2B5EF4-FFF2-40B4-BE49-F238E27FC236}">
                <a16:creationId xmlns:a16="http://schemas.microsoft.com/office/drawing/2014/main" id="{EB3DCCD3-2EF3-A340-A802-A9BDE2C147E0}"/>
              </a:ext>
            </a:extLst>
          </p:cNvPr>
          <p:cNvSpPr>
            <a:spLocks noChangeShapeType="1"/>
          </p:cNvSpPr>
          <p:nvPr/>
        </p:nvSpPr>
        <p:spPr bwMode="auto">
          <a:xfrm>
            <a:off x="2494068" y="4121848"/>
            <a:ext cx="881779"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1" name="Line 197">
            <a:extLst>
              <a:ext uri="{FF2B5EF4-FFF2-40B4-BE49-F238E27FC236}">
                <a16:creationId xmlns:a16="http://schemas.microsoft.com/office/drawing/2014/main" id="{4F31D825-FD9B-344B-8DBC-AB3E1D845A36}"/>
              </a:ext>
            </a:extLst>
          </p:cNvPr>
          <p:cNvSpPr>
            <a:spLocks noChangeShapeType="1"/>
          </p:cNvSpPr>
          <p:nvPr/>
        </p:nvSpPr>
        <p:spPr bwMode="auto">
          <a:xfrm>
            <a:off x="3111313" y="4364496"/>
            <a:ext cx="57315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2" name="Line 198">
            <a:extLst>
              <a:ext uri="{FF2B5EF4-FFF2-40B4-BE49-F238E27FC236}">
                <a16:creationId xmlns:a16="http://schemas.microsoft.com/office/drawing/2014/main" id="{05E51D66-912D-6E4A-B90A-C7AA6EC38ABC}"/>
              </a:ext>
            </a:extLst>
          </p:cNvPr>
          <p:cNvSpPr>
            <a:spLocks noChangeShapeType="1"/>
          </p:cNvSpPr>
          <p:nvPr/>
        </p:nvSpPr>
        <p:spPr bwMode="auto">
          <a:xfrm>
            <a:off x="3431587" y="4572481"/>
            <a:ext cx="1807646"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3" name="Line 199">
            <a:extLst>
              <a:ext uri="{FF2B5EF4-FFF2-40B4-BE49-F238E27FC236}">
                <a16:creationId xmlns:a16="http://schemas.microsoft.com/office/drawing/2014/main" id="{DFD1017B-AAD5-B642-AF3E-8B8F9DDFA57F}"/>
              </a:ext>
            </a:extLst>
          </p:cNvPr>
          <p:cNvSpPr>
            <a:spLocks noChangeShapeType="1"/>
          </p:cNvSpPr>
          <p:nvPr/>
        </p:nvSpPr>
        <p:spPr bwMode="auto">
          <a:xfrm>
            <a:off x="5951867" y="4815129"/>
            <a:ext cx="779157"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4" name="Line 200">
            <a:extLst>
              <a:ext uri="{FF2B5EF4-FFF2-40B4-BE49-F238E27FC236}">
                <a16:creationId xmlns:a16="http://schemas.microsoft.com/office/drawing/2014/main" id="{882D3869-42D8-D342-94CB-22027B1820A8}"/>
              </a:ext>
            </a:extLst>
          </p:cNvPr>
          <p:cNvSpPr>
            <a:spLocks noChangeShapeType="1"/>
          </p:cNvSpPr>
          <p:nvPr/>
        </p:nvSpPr>
        <p:spPr bwMode="auto">
          <a:xfrm>
            <a:off x="5433036" y="5057778"/>
            <a:ext cx="940857"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5" name="Line 201">
            <a:extLst>
              <a:ext uri="{FF2B5EF4-FFF2-40B4-BE49-F238E27FC236}">
                <a16:creationId xmlns:a16="http://schemas.microsoft.com/office/drawing/2014/main" id="{D805BB01-0578-E743-A297-AA12D338E8E0}"/>
              </a:ext>
            </a:extLst>
          </p:cNvPr>
          <p:cNvSpPr>
            <a:spLocks noChangeShapeType="1"/>
          </p:cNvSpPr>
          <p:nvPr/>
        </p:nvSpPr>
        <p:spPr bwMode="auto">
          <a:xfrm>
            <a:off x="6468813" y="5265763"/>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6" name="Text Box 220">
            <a:extLst>
              <a:ext uri="{FF2B5EF4-FFF2-40B4-BE49-F238E27FC236}">
                <a16:creationId xmlns:a16="http://schemas.microsoft.com/office/drawing/2014/main" id="{854DB24D-3304-6447-98CE-558DEC77F9CF}"/>
              </a:ext>
            </a:extLst>
          </p:cNvPr>
          <p:cNvSpPr txBox="1">
            <a:spLocks noChangeArrowheads="1"/>
          </p:cNvSpPr>
          <p:nvPr/>
        </p:nvSpPr>
        <p:spPr bwMode="auto">
          <a:xfrm>
            <a:off x="1754558" y="3867343"/>
            <a:ext cx="430887" cy="1682138"/>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solidFill>
                <a:latin typeface="Tahoma" pitchFamily="34" charset="0"/>
                <a:cs typeface="Arial" charset="0"/>
              </a:rPr>
              <a:t>  6  5  4  3  2  1</a:t>
            </a:r>
          </a:p>
        </p:txBody>
      </p:sp>
    </p:spTree>
    <p:extLst>
      <p:ext uri="{BB962C8B-B14F-4D97-AF65-F5344CB8AC3E}">
        <p14:creationId xmlns:p14="http://schemas.microsoft.com/office/powerpoint/2010/main" val="2280073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09" y="3131435"/>
                <a:ext cx="2857399"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2</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09" y="3131435"/>
                <a:ext cx="2857399" cy="461665"/>
              </a:xfrm>
              <a:prstGeom prst="rect">
                <a:avLst/>
              </a:prstGeom>
              <a:blipFill>
                <a:blip r:embed="rId2"/>
                <a:stretch>
                  <a:fillRect l="-442" b="-24324"/>
                </a:stretch>
              </a:blipFill>
            </p:spPr>
            <p:txBody>
              <a:bodyPr/>
              <a:lstStyle/>
              <a:p>
                <a:r>
                  <a:rPr lang="en-US">
                    <a:noFill/>
                  </a:rPr>
                  <a:t> </a:t>
                </a:r>
              </a:p>
            </p:txBody>
          </p:sp>
        </mc:Fallback>
      </mc:AlternateContent>
      <p:sp>
        <p:nvSpPr>
          <p:cNvPr id="20" name="Line 196">
            <a:extLst>
              <a:ext uri="{FF2B5EF4-FFF2-40B4-BE49-F238E27FC236}">
                <a16:creationId xmlns:a16="http://schemas.microsoft.com/office/drawing/2014/main" id="{EB3DCCD3-2EF3-A340-A802-A9BDE2C147E0}"/>
              </a:ext>
            </a:extLst>
          </p:cNvPr>
          <p:cNvSpPr>
            <a:spLocks noChangeShapeType="1"/>
          </p:cNvSpPr>
          <p:nvPr/>
        </p:nvSpPr>
        <p:spPr bwMode="auto">
          <a:xfrm>
            <a:off x="2494068" y="4121848"/>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1" name="Line 197">
            <a:extLst>
              <a:ext uri="{FF2B5EF4-FFF2-40B4-BE49-F238E27FC236}">
                <a16:creationId xmlns:a16="http://schemas.microsoft.com/office/drawing/2014/main" id="{4F31D825-FD9B-344B-8DBC-AB3E1D845A36}"/>
              </a:ext>
            </a:extLst>
          </p:cNvPr>
          <p:cNvSpPr>
            <a:spLocks noChangeShapeType="1"/>
          </p:cNvSpPr>
          <p:nvPr/>
        </p:nvSpPr>
        <p:spPr bwMode="auto">
          <a:xfrm>
            <a:off x="3111313" y="4364496"/>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2" name="Line 198">
            <a:extLst>
              <a:ext uri="{FF2B5EF4-FFF2-40B4-BE49-F238E27FC236}">
                <a16:creationId xmlns:a16="http://schemas.microsoft.com/office/drawing/2014/main" id="{05E51D66-912D-6E4A-B90A-C7AA6EC38ABC}"/>
              </a:ext>
            </a:extLst>
          </p:cNvPr>
          <p:cNvSpPr>
            <a:spLocks noChangeShapeType="1"/>
          </p:cNvSpPr>
          <p:nvPr/>
        </p:nvSpPr>
        <p:spPr bwMode="auto">
          <a:xfrm>
            <a:off x="3431587" y="4572481"/>
            <a:ext cx="180764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3" name="Line 199">
            <a:extLst>
              <a:ext uri="{FF2B5EF4-FFF2-40B4-BE49-F238E27FC236}">
                <a16:creationId xmlns:a16="http://schemas.microsoft.com/office/drawing/2014/main" id="{DFD1017B-AAD5-B642-AF3E-8B8F9DDFA57F}"/>
              </a:ext>
            </a:extLst>
          </p:cNvPr>
          <p:cNvSpPr>
            <a:spLocks noChangeShapeType="1"/>
          </p:cNvSpPr>
          <p:nvPr/>
        </p:nvSpPr>
        <p:spPr bwMode="auto">
          <a:xfrm>
            <a:off x="5951867" y="4815129"/>
            <a:ext cx="779157"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4" name="Line 200">
            <a:extLst>
              <a:ext uri="{FF2B5EF4-FFF2-40B4-BE49-F238E27FC236}">
                <a16:creationId xmlns:a16="http://schemas.microsoft.com/office/drawing/2014/main" id="{882D3869-42D8-D342-94CB-22027B1820A8}"/>
              </a:ext>
            </a:extLst>
          </p:cNvPr>
          <p:cNvSpPr>
            <a:spLocks noChangeShapeType="1"/>
          </p:cNvSpPr>
          <p:nvPr/>
        </p:nvSpPr>
        <p:spPr bwMode="auto">
          <a:xfrm>
            <a:off x="5433036" y="5057778"/>
            <a:ext cx="940857"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5" name="Line 201">
            <a:extLst>
              <a:ext uri="{FF2B5EF4-FFF2-40B4-BE49-F238E27FC236}">
                <a16:creationId xmlns:a16="http://schemas.microsoft.com/office/drawing/2014/main" id="{D805BB01-0578-E743-A297-AA12D338E8E0}"/>
              </a:ext>
            </a:extLst>
          </p:cNvPr>
          <p:cNvSpPr>
            <a:spLocks noChangeShapeType="1"/>
          </p:cNvSpPr>
          <p:nvPr/>
        </p:nvSpPr>
        <p:spPr bwMode="auto">
          <a:xfrm>
            <a:off x="6468813" y="5265763"/>
            <a:ext cx="1190401" cy="0"/>
          </a:xfrm>
          <a:prstGeom prst="line">
            <a:avLst/>
          </a:prstGeom>
          <a:noFill/>
          <a:ln w="57150">
            <a:solidFill>
              <a:srgbClr val="000000"/>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6" name="Text Box 220">
            <a:extLst>
              <a:ext uri="{FF2B5EF4-FFF2-40B4-BE49-F238E27FC236}">
                <a16:creationId xmlns:a16="http://schemas.microsoft.com/office/drawing/2014/main" id="{854DB24D-3304-6447-98CE-558DEC77F9CF}"/>
              </a:ext>
            </a:extLst>
          </p:cNvPr>
          <p:cNvSpPr txBox="1">
            <a:spLocks noChangeArrowheads="1"/>
          </p:cNvSpPr>
          <p:nvPr/>
        </p:nvSpPr>
        <p:spPr bwMode="auto">
          <a:xfrm>
            <a:off x="1754558" y="3867343"/>
            <a:ext cx="430887" cy="1682138"/>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solidFill>
                <a:latin typeface="Tahoma" pitchFamily="34" charset="0"/>
                <a:cs typeface="Arial" charset="0"/>
              </a:rPr>
              <a:t>  6  5  4  3  2  1</a:t>
            </a:r>
          </a:p>
        </p:txBody>
      </p:sp>
    </p:spTree>
    <p:extLst>
      <p:ext uri="{BB962C8B-B14F-4D97-AF65-F5344CB8AC3E}">
        <p14:creationId xmlns:p14="http://schemas.microsoft.com/office/powerpoint/2010/main" val="18497874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09" y="3131435"/>
                <a:ext cx="2857399"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2</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4</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09" y="3131435"/>
                <a:ext cx="2857399" cy="461665"/>
              </a:xfrm>
              <a:prstGeom prst="rect">
                <a:avLst/>
              </a:prstGeom>
              <a:blipFill>
                <a:blip r:embed="rId2"/>
                <a:stretch>
                  <a:fillRect l="-442" b="-24324"/>
                </a:stretch>
              </a:blipFill>
            </p:spPr>
            <p:txBody>
              <a:bodyPr/>
              <a:lstStyle/>
              <a:p>
                <a:r>
                  <a:rPr lang="en-US">
                    <a:noFill/>
                  </a:rPr>
                  <a:t> </a:t>
                </a:r>
              </a:p>
            </p:txBody>
          </p:sp>
        </mc:Fallback>
      </mc:AlternateContent>
      <p:sp>
        <p:nvSpPr>
          <p:cNvPr id="20" name="Line 196">
            <a:extLst>
              <a:ext uri="{FF2B5EF4-FFF2-40B4-BE49-F238E27FC236}">
                <a16:creationId xmlns:a16="http://schemas.microsoft.com/office/drawing/2014/main" id="{EB3DCCD3-2EF3-A340-A802-A9BDE2C147E0}"/>
              </a:ext>
            </a:extLst>
          </p:cNvPr>
          <p:cNvSpPr>
            <a:spLocks noChangeShapeType="1"/>
          </p:cNvSpPr>
          <p:nvPr/>
        </p:nvSpPr>
        <p:spPr bwMode="auto">
          <a:xfrm>
            <a:off x="2494068" y="4121848"/>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1" name="Line 197">
            <a:extLst>
              <a:ext uri="{FF2B5EF4-FFF2-40B4-BE49-F238E27FC236}">
                <a16:creationId xmlns:a16="http://schemas.microsoft.com/office/drawing/2014/main" id="{4F31D825-FD9B-344B-8DBC-AB3E1D845A36}"/>
              </a:ext>
            </a:extLst>
          </p:cNvPr>
          <p:cNvSpPr>
            <a:spLocks noChangeShapeType="1"/>
          </p:cNvSpPr>
          <p:nvPr/>
        </p:nvSpPr>
        <p:spPr bwMode="auto">
          <a:xfrm>
            <a:off x="3111313" y="4364496"/>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2" name="Line 198">
            <a:extLst>
              <a:ext uri="{FF2B5EF4-FFF2-40B4-BE49-F238E27FC236}">
                <a16:creationId xmlns:a16="http://schemas.microsoft.com/office/drawing/2014/main" id="{05E51D66-912D-6E4A-B90A-C7AA6EC38ABC}"/>
              </a:ext>
            </a:extLst>
          </p:cNvPr>
          <p:cNvSpPr>
            <a:spLocks noChangeShapeType="1"/>
          </p:cNvSpPr>
          <p:nvPr/>
        </p:nvSpPr>
        <p:spPr bwMode="auto">
          <a:xfrm>
            <a:off x="3431587" y="4572481"/>
            <a:ext cx="180764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3" name="Line 199">
            <a:extLst>
              <a:ext uri="{FF2B5EF4-FFF2-40B4-BE49-F238E27FC236}">
                <a16:creationId xmlns:a16="http://schemas.microsoft.com/office/drawing/2014/main" id="{DFD1017B-AAD5-B642-AF3E-8B8F9DDFA57F}"/>
              </a:ext>
            </a:extLst>
          </p:cNvPr>
          <p:cNvSpPr>
            <a:spLocks noChangeShapeType="1"/>
          </p:cNvSpPr>
          <p:nvPr/>
        </p:nvSpPr>
        <p:spPr bwMode="auto">
          <a:xfrm>
            <a:off x="5951867" y="4815129"/>
            <a:ext cx="779157"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4" name="Line 200">
            <a:extLst>
              <a:ext uri="{FF2B5EF4-FFF2-40B4-BE49-F238E27FC236}">
                <a16:creationId xmlns:a16="http://schemas.microsoft.com/office/drawing/2014/main" id="{882D3869-42D8-D342-94CB-22027B1820A8}"/>
              </a:ext>
            </a:extLst>
          </p:cNvPr>
          <p:cNvSpPr>
            <a:spLocks noChangeShapeType="1"/>
          </p:cNvSpPr>
          <p:nvPr/>
        </p:nvSpPr>
        <p:spPr bwMode="auto">
          <a:xfrm>
            <a:off x="5433036" y="5057778"/>
            <a:ext cx="940857"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5" name="Line 201">
            <a:extLst>
              <a:ext uri="{FF2B5EF4-FFF2-40B4-BE49-F238E27FC236}">
                <a16:creationId xmlns:a16="http://schemas.microsoft.com/office/drawing/2014/main" id="{D805BB01-0578-E743-A297-AA12D338E8E0}"/>
              </a:ext>
            </a:extLst>
          </p:cNvPr>
          <p:cNvSpPr>
            <a:spLocks noChangeShapeType="1"/>
          </p:cNvSpPr>
          <p:nvPr/>
        </p:nvSpPr>
        <p:spPr bwMode="auto">
          <a:xfrm>
            <a:off x="6468813" y="5265763"/>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6" name="Text Box 220">
            <a:extLst>
              <a:ext uri="{FF2B5EF4-FFF2-40B4-BE49-F238E27FC236}">
                <a16:creationId xmlns:a16="http://schemas.microsoft.com/office/drawing/2014/main" id="{854DB24D-3304-6447-98CE-558DEC77F9CF}"/>
              </a:ext>
            </a:extLst>
          </p:cNvPr>
          <p:cNvSpPr txBox="1">
            <a:spLocks noChangeArrowheads="1"/>
          </p:cNvSpPr>
          <p:nvPr/>
        </p:nvSpPr>
        <p:spPr bwMode="auto">
          <a:xfrm>
            <a:off x="1754558" y="3867343"/>
            <a:ext cx="430887" cy="1682138"/>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solidFill>
                <a:latin typeface="Tahoma" pitchFamily="34" charset="0"/>
                <a:cs typeface="Arial" charset="0"/>
              </a:rPr>
              <a:t>  6  5  4  3  2  1</a:t>
            </a:r>
          </a:p>
        </p:txBody>
      </p:sp>
    </p:spTree>
    <p:extLst>
      <p:ext uri="{BB962C8B-B14F-4D97-AF65-F5344CB8AC3E}">
        <p14:creationId xmlns:p14="http://schemas.microsoft.com/office/powerpoint/2010/main" val="4403875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09" y="3131435"/>
                <a:ext cx="2857399"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2</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4</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09" y="3131435"/>
                <a:ext cx="2857399" cy="461665"/>
              </a:xfrm>
              <a:prstGeom prst="rect">
                <a:avLst/>
              </a:prstGeom>
              <a:blipFill>
                <a:blip r:embed="rId2"/>
                <a:stretch>
                  <a:fillRect l="-442" b="-24324"/>
                </a:stretch>
              </a:blipFill>
            </p:spPr>
            <p:txBody>
              <a:bodyPr/>
              <a:lstStyle/>
              <a:p>
                <a:r>
                  <a:rPr lang="en-US">
                    <a:noFill/>
                  </a:rPr>
                  <a:t> </a:t>
                </a:r>
              </a:p>
            </p:txBody>
          </p:sp>
        </mc:Fallback>
      </mc:AlternateContent>
      <p:sp>
        <p:nvSpPr>
          <p:cNvPr id="20" name="Line 196">
            <a:extLst>
              <a:ext uri="{FF2B5EF4-FFF2-40B4-BE49-F238E27FC236}">
                <a16:creationId xmlns:a16="http://schemas.microsoft.com/office/drawing/2014/main" id="{EB3DCCD3-2EF3-A340-A802-A9BDE2C147E0}"/>
              </a:ext>
            </a:extLst>
          </p:cNvPr>
          <p:cNvSpPr>
            <a:spLocks noChangeShapeType="1"/>
          </p:cNvSpPr>
          <p:nvPr/>
        </p:nvSpPr>
        <p:spPr bwMode="auto">
          <a:xfrm>
            <a:off x="2494068" y="4121848"/>
            <a:ext cx="881779"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1" name="Line 197">
            <a:extLst>
              <a:ext uri="{FF2B5EF4-FFF2-40B4-BE49-F238E27FC236}">
                <a16:creationId xmlns:a16="http://schemas.microsoft.com/office/drawing/2014/main" id="{4F31D825-FD9B-344B-8DBC-AB3E1D845A36}"/>
              </a:ext>
            </a:extLst>
          </p:cNvPr>
          <p:cNvSpPr>
            <a:spLocks noChangeShapeType="1"/>
          </p:cNvSpPr>
          <p:nvPr/>
        </p:nvSpPr>
        <p:spPr bwMode="auto">
          <a:xfrm>
            <a:off x="3111313" y="4364496"/>
            <a:ext cx="57315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2" name="Line 198">
            <a:extLst>
              <a:ext uri="{FF2B5EF4-FFF2-40B4-BE49-F238E27FC236}">
                <a16:creationId xmlns:a16="http://schemas.microsoft.com/office/drawing/2014/main" id="{05E51D66-912D-6E4A-B90A-C7AA6EC38ABC}"/>
              </a:ext>
            </a:extLst>
          </p:cNvPr>
          <p:cNvSpPr>
            <a:spLocks noChangeShapeType="1"/>
          </p:cNvSpPr>
          <p:nvPr/>
        </p:nvSpPr>
        <p:spPr bwMode="auto">
          <a:xfrm>
            <a:off x="3431587" y="4572481"/>
            <a:ext cx="180764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3" name="Line 199">
            <a:extLst>
              <a:ext uri="{FF2B5EF4-FFF2-40B4-BE49-F238E27FC236}">
                <a16:creationId xmlns:a16="http://schemas.microsoft.com/office/drawing/2014/main" id="{DFD1017B-AAD5-B642-AF3E-8B8F9DDFA57F}"/>
              </a:ext>
            </a:extLst>
          </p:cNvPr>
          <p:cNvSpPr>
            <a:spLocks noChangeShapeType="1"/>
          </p:cNvSpPr>
          <p:nvPr/>
        </p:nvSpPr>
        <p:spPr bwMode="auto">
          <a:xfrm>
            <a:off x="5951867" y="4815129"/>
            <a:ext cx="779157"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4" name="Line 200">
            <a:extLst>
              <a:ext uri="{FF2B5EF4-FFF2-40B4-BE49-F238E27FC236}">
                <a16:creationId xmlns:a16="http://schemas.microsoft.com/office/drawing/2014/main" id="{882D3869-42D8-D342-94CB-22027B1820A8}"/>
              </a:ext>
            </a:extLst>
          </p:cNvPr>
          <p:cNvSpPr>
            <a:spLocks noChangeShapeType="1"/>
          </p:cNvSpPr>
          <p:nvPr/>
        </p:nvSpPr>
        <p:spPr bwMode="auto">
          <a:xfrm>
            <a:off x="5433036" y="5057778"/>
            <a:ext cx="940857"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5" name="Line 201">
            <a:extLst>
              <a:ext uri="{FF2B5EF4-FFF2-40B4-BE49-F238E27FC236}">
                <a16:creationId xmlns:a16="http://schemas.microsoft.com/office/drawing/2014/main" id="{D805BB01-0578-E743-A297-AA12D338E8E0}"/>
              </a:ext>
            </a:extLst>
          </p:cNvPr>
          <p:cNvSpPr>
            <a:spLocks noChangeShapeType="1"/>
          </p:cNvSpPr>
          <p:nvPr/>
        </p:nvSpPr>
        <p:spPr bwMode="auto">
          <a:xfrm>
            <a:off x="6468813" y="5265763"/>
            <a:ext cx="1190401"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6" name="Text Box 220">
            <a:extLst>
              <a:ext uri="{FF2B5EF4-FFF2-40B4-BE49-F238E27FC236}">
                <a16:creationId xmlns:a16="http://schemas.microsoft.com/office/drawing/2014/main" id="{854DB24D-3304-6447-98CE-558DEC77F9CF}"/>
              </a:ext>
            </a:extLst>
          </p:cNvPr>
          <p:cNvSpPr txBox="1">
            <a:spLocks noChangeArrowheads="1"/>
          </p:cNvSpPr>
          <p:nvPr/>
        </p:nvSpPr>
        <p:spPr bwMode="auto">
          <a:xfrm>
            <a:off x="1754558" y="3867343"/>
            <a:ext cx="430887" cy="1682138"/>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solidFill>
                <a:latin typeface="Tahoma" pitchFamily="34" charset="0"/>
                <a:cs typeface="Arial" charset="0"/>
              </a:rPr>
              <a:t>  6  5  4  3  2  1</a:t>
            </a:r>
          </a:p>
        </p:txBody>
      </p:sp>
      <p:grpSp>
        <p:nvGrpSpPr>
          <p:cNvPr id="18" name="Group 17">
            <a:extLst>
              <a:ext uri="{FF2B5EF4-FFF2-40B4-BE49-F238E27FC236}">
                <a16:creationId xmlns:a16="http://schemas.microsoft.com/office/drawing/2014/main" id="{C102DB78-9014-BF44-BBE1-599D407BCC94}"/>
              </a:ext>
            </a:extLst>
          </p:cNvPr>
          <p:cNvGrpSpPr/>
          <p:nvPr/>
        </p:nvGrpSpPr>
        <p:grpSpPr>
          <a:xfrm>
            <a:off x="7659214" y="3973720"/>
            <a:ext cx="2221904" cy="985465"/>
            <a:chOff x="4716016" y="3429000"/>
            <a:chExt cx="2736304" cy="985465"/>
          </a:xfrm>
        </p:grpSpPr>
        <p:sp>
          <p:nvSpPr>
            <p:cNvPr id="19" name="Rounded Rectangular Callout 18">
              <a:extLst>
                <a:ext uri="{FF2B5EF4-FFF2-40B4-BE49-F238E27FC236}">
                  <a16:creationId xmlns:a16="http://schemas.microsoft.com/office/drawing/2014/main" id="{6C9C01B6-E596-F447-B3B3-6F731C26136F}"/>
                </a:ext>
              </a:extLst>
            </p:cNvPr>
            <p:cNvSpPr/>
            <p:nvPr/>
          </p:nvSpPr>
          <p:spPr bwMode="auto">
            <a:xfrm>
              <a:off x="4716016" y="3429000"/>
              <a:ext cx="2736304" cy="985465"/>
            </a:xfrm>
            <a:prstGeom prst="wedgeRoundRectCallout">
              <a:avLst>
                <a:gd name="adj1" fmla="val -74280"/>
                <a:gd name="adj2" fmla="val -100960"/>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27" name="TextBox 26">
              <a:extLst>
                <a:ext uri="{FF2B5EF4-FFF2-40B4-BE49-F238E27FC236}">
                  <a16:creationId xmlns:a16="http://schemas.microsoft.com/office/drawing/2014/main" id="{33C5DE07-1A39-AB45-A557-AC9BDA3FAD33}"/>
                </a:ext>
              </a:extLst>
            </p:cNvPr>
            <p:cNvSpPr txBox="1"/>
            <p:nvPr/>
          </p:nvSpPr>
          <p:spPr>
            <a:xfrm>
              <a:off x="4716016" y="3523655"/>
              <a:ext cx="2736304" cy="769441"/>
            </a:xfrm>
            <a:prstGeom prst="rect">
              <a:avLst/>
            </a:prstGeom>
            <a:noFill/>
          </p:spPr>
          <p:txBody>
            <a:bodyPr wrap="square" rtlCol="0">
              <a:spAutoFit/>
            </a:bodyPr>
            <a:lstStyle/>
            <a:p>
              <a:pPr algn="ctr" fontAlgn="base">
                <a:spcBef>
                  <a:spcPct val="0"/>
                </a:spcBef>
                <a:spcAft>
                  <a:spcPct val="0"/>
                </a:spcAft>
              </a:pPr>
              <a:r>
                <a:rPr lang="en-US" sz="2200" dirty="0">
                  <a:solidFill>
                    <a:srgbClr val="FF0000"/>
                  </a:solidFill>
                  <a:latin typeface="Times New Roman"/>
                  <a:cs typeface="Arial" charset="0"/>
                </a:rPr>
                <a:t>Not an optimal solution</a:t>
              </a:r>
            </a:p>
          </p:txBody>
        </p:sp>
      </p:grpSp>
    </p:spTree>
    <p:extLst>
      <p:ext uri="{BB962C8B-B14F-4D97-AF65-F5344CB8AC3E}">
        <p14:creationId xmlns:p14="http://schemas.microsoft.com/office/powerpoint/2010/main" val="23408237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Start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1823235"/>
            <a:ext cx="10360152" cy="4527870"/>
          </a:xfrm>
        </p:spPr>
        <p:txBody>
          <a:bodyPr>
            <a:normAutofit/>
          </a:bodyPr>
          <a:lstStyle/>
          <a:p>
            <a:r>
              <a:rPr lang="en-US" dirty="0"/>
              <a:t>Select the activity with the earliest start</a:t>
            </a:r>
          </a:p>
          <a:p>
            <a:r>
              <a:rPr lang="en-US" dirty="0"/>
              <a:t>Eliminate the activities that could not be scheduled</a:t>
            </a:r>
          </a:p>
          <a:p>
            <a:r>
              <a:rPr lang="en-US" dirty="0"/>
              <a:t>Repeat!</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92C77CF-952A-6A46-88E3-8F6201E43017}"/>
                  </a:ext>
                </a:extLst>
              </p:cNvPr>
              <p:cNvSpPr/>
              <p:nvPr/>
            </p:nvSpPr>
            <p:spPr>
              <a:xfrm>
                <a:off x="5272809" y="3131435"/>
                <a:ext cx="2857399" cy="461665"/>
              </a:xfrm>
              <a:prstGeom prst="rect">
                <a:avLst/>
              </a:prstGeom>
            </p:spPr>
            <p:txBody>
              <a:bodyPr wrap="square">
                <a:spAutoFit/>
              </a:bodyPr>
              <a:lstStyle/>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smtClean="0">
                          <a:solidFill>
                            <a:srgbClr val="0000CC"/>
                          </a:solidFill>
                          <a:latin typeface="Cambria Math" panose="02040503050406030204" pitchFamily="18" charset="0"/>
                          <a:cs typeface="Arial"/>
                        </a:rPr>
                        <m:t>𝐴</m:t>
                      </m:r>
                      <m:r>
                        <a:rPr lang="en-US" sz="2400" i="1" kern="0" dirty="0" smtClean="0">
                          <a:solidFill>
                            <a:srgbClr val="0000CC"/>
                          </a:solidFill>
                          <a:latin typeface="Cambria Math" panose="02040503050406030204" pitchFamily="18" charset="0"/>
                          <a:cs typeface="Arial"/>
                        </a:rPr>
                        <m:t> ={</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2</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4</m:t>
                          </m:r>
                        </m:sub>
                      </m:sSub>
                      <m:r>
                        <a:rPr lang="en-US" sz="2400" b="0" i="1" kern="0" dirty="0" smtClean="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42" name="Rectangle 41">
                <a:extLst>
                  <a:ext uri="{FF2B5EF4-FFF2-40B4-BE49-F238E27FC236}">
                    <a16:creationId xmlns:a16="http://schemas.microsoft.com/office/drawing/2014/main" id="{D92C77CF-952A-6A46-88E3-8F6201E43017}"/>
                  </a:ext>
                </a:extLst>
              </p:cNvPr>
              <p:cNvSpPr>
                <a:spLocks noRot="1" noChangeAspect="1" noMove="1" noResize="1" noEditPoints="1" noAdjustHandles="1" noChangeArrowheads="1" noChangeShapeType="1" noTextEdit="1"/>
              </p:cNvSpPr>
              <p:nvPr/>
            </p:nvSpPr>
            <p:spPr>
              <a:xfrm>
                <a:off x="5272809" y="3131435"/>
                <a:ext cx="2857399" cy="461665"/>
              </a:xfrm>
              <a:prstGeom prst="rect">
                <a:avLst/>
              </a:prstGeom>
              <a:blipFill>
                <a:blip r:embed="rId2"/>
                <a:stretch>
                  <a:fillRect l="-442" b="-24324"/>
                </a:stretch>
              </a:blipFill>
            </p:spPr>
            <p:txBody>
              <a:bodyPr/>
              <a:lstStyle/>
              <a:p>
                <a:r>
                  <a:rPr lang="en-US">
                    <a:noFill/>
                  </a:rPr>
                  <a:t> </a:t>
                </a:r>
              </a:p>
            </p:txBody>
          </p:sp>
        </mc:Fallback>
      </mc:AlternateContent>
      <p:sp>
        <p:nvSpPr>
          <p:cNvPr id="20" name="Line 196">
            <a:extLst>
              <a:ext uri="{FF2B5EF4-FFF2-40B4-BE49-F238E27FC236}">
                <a16:creationId xmlns:a16="http://schemas.microsoft.com/office/drawing/2014/main" id="{EB3DCCD3-2EF3-A340-A802-A9BDE2C147E0}"/>
              </a:ext>
            </a:extLst>
          </p:cNvPr>
          <p:cNvSpPr>
            <a:spLocks noChangeShapeType="1"/>
          </p:cNvSpPr>
          <p:nvPr/>
        </p:nvSpPr>
        <p:spPr bwMode="auto">
          <a:xfrm>
            <a:off x="2494068" y="4121848"/>
            <a:ext cx="881779"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1" name="Line 197">
            <a:extLst>
              <a:ext uri="{FF2B5EF4-FFF2-40B4-BE49-F238E27FC236}">
                <a16:creationId xmlns:a16="http://schemas.microsoft.com/office/drawing/2014/main" id="{4F31D825-FD9B-344B-8DBC-AB3E1D845A36}"/>
              </a:ext>
            </a:extLst>
          </p:cNvPr>
          <p:cNvSpPr>
            <a:spLocks noChangeShapeType="1"/>
          </p:cNvSpPr>
          <p:nvPr/>
        </p:nvSpPr>
        <p:spPr bwMode="auto">
          <a:xfrm>
            <a:off x="3111313" y="4364496"/>
            <a:ext cx="573156"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2" name="Line 198">
            <a:extLst>
              <a:ext uri="{FF2B5EF4-FFF2-40B4-BE49-F238E27FC236}">
                <a16:creationId xmlns:a16="http://schemas.microsoft.com/office/drawing/2014/main" id="{05E51D66-912D-6E4A-B90A-C7AA6EC38ABC}"/>
              </a:ext>
            </a:extLst>
          </p:cNvPr>
          <p:cNvSpPr>
            <a:spLocks noChangeShapeType="1"/>
          </p:cNvSpPr>
          <p:nvPr/>
        </p:nvSpPr>
        <p:spPr bwMode="auto">
          <a:xfrm>
            <a:off x="3431587" y="4572481"/>
            <a:ext cx="1807646"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3" name="Line 199">
            <a:extLst>
              <a:ext uri="{FF2B5EF4-FFF2-40B4-BE49-F238E27FC236}">
                <a16:creationId xmlns:a16="http://schemas.microsoft.com/office/drawing/2014/main" id="{DFD1017B-AAD5-B642-AF3E-8B8F9DDFA57F}"/>
              </a:ext>
            </a:extLst>
          </p:cNvPr>
          <p:cNvSpPr>
            <a:spLocks noChangeShapeType="1"/>
          </p:cNvSpPr>
          <p:nvPr/>
        </p:nvSpPr>
        <p:spPr bwMode="auto">
          <a:xfrm>
            <a:off x="5951867" y="4815129"/>
            <a:ext cx="779157" cy="0"/>
          </a:xfrm>
          <a:prstGeom prst="line">
            <a:avLst/>
          </a:prstGeom>
          <a:noFill/>
          <a:ln w="57150">
            <a:solidFill>
              <a:schemeClr val="bg1">
                <a:lumMod val="85000"/>
              </a:schemeClr>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4" name="Line 200">
            <a:extLst>
              <a:ext uri="{FF2B5EF4-FFF2-40B4-BE49-F238E27FC236}">
                <a16:creationId xmlns:a16="http://schemas.microsoft.com/office/drawing/2014/main" id="{882D3869-42D8-D342-94CB-22027B1820A8}"/>
              </a:ext>
            </a:extLst>
          </p:cNvPr>
          <p:cNvSpPr>
            <a:spLocks noChangeShapeType="1"/>
          </p:cNvSpPr>
          <p:nvPr/>
        </p:nvSpPr>
        <p:spPr bwMode="auto">
          <a:xfrm>
            <a:off x="5433036" y="5057778"/>
            <a:ext cx="940857"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5" name="Line 201">
            <a:extLst>
              <a:ext uri="{FF2B5EF4-FFF2-40B4-BE49-F238E27FC236}">
                <a16:creationId xmlns:a16="http://schemas.microsoft.com/office/drawing/2014/main" id="{D805BB01-0578-E743-A297-AA12D338E8E0}"/>
              </a:ext>
            </a:extLst>
          </p:cNvPr>
          <p:cNvSpPr>
            <a:spLocks noChangeShapeType="1"/>
          </p:cNvSpPr>
          <p:nvPr/>
        </p:nvSpPr>
        <p:spPr bwMode="auto">
          <a:xfrm>
            <a:off x="6468813" y="5265763"/>
            <a:ext cx="1190401" cy="0"/>
          </a:xfrm>
          <a:prstGeom prst="line">
            <a:avLst/>
          </a:prstGeom>
          <a:noFill/>
          <a:ln w="57150">
            <a:solidFill>
              <a:schemeClr val="accent1"/>
            </a:solidFill>
            <a:round/>
            <a:headEnd type="triangle" w="med" len="med"/>
            <a:tailEnd type="triangl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itchFamily="34" charset="0"/>
              <a:cs typeface="Arial" charset="0"/>
            </a:endParaRPr>
          </a:p>
        </p:txBody>
      </p:sp>
      <p:sp>
        <p:nvSpPr>
          <p:cNvPr id="26" name="Text Box 220">
            <a:extLst>
              <a:ext uri="{FF2B5EF4-FFF2-40B4-BE49-F238E27FC236}">
                <a16:creationId xmlns:a16="http://schemas.microsoft.com/office/drawing/2014/main" id="{854DB24D-3304-6447-98CE-558DEC77F9CF}"/>
              </a:ext>
            </a:extLst>
          </p:cNvPr>
          <p:cNvSpPr txBox="1">
            <a:spLocks noChangeArrowheads="1"/>
          </p:cNvSpPr>
          <p:nvPr/>
        </p:nvSpPr>
        <p:spPr bwMode="auto">
          <a:xfrm>
            <a:off x="1754558" y="3867343"/>
            <a:ext cx="430887" cy="1682138"/>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1600" dirty="0">
                <a:solidFill>
                  <a:srgbClr val="000000"/>
                </a:solidFill>
                <a:latin typeface="Tahoma" pitchFamily="34" charset="0"/>
                <a:cs typeface="Arial" charset="0"/>
              </a:rPr>
              <a:t>  6  5  4  3  2  1</a:t>
            </a:r>
          </a:p>
        </p:txBody>
      </p:sp>
      <p:grpSp>
        <p:nvGrpSpPr>
          <p:cNvPr id="18" name="Group 17">
            <a:extLst>
              <a:ext uri="{FF2B5EF4-FFF2-40B4-BE49-F238E27FC236}">
                <a16:creationId xmlns:a16="http://schemas.microsoft.com/office/drawing/2014/main" id="{C102DB78-9014-BF44-BBE1-599D407BCC94}"/>
              </a:ext>
            </a:extLst>
          </p:cNvPr>
          <p:cNvGrpSpPr/>
          <p:nvPr/>
        </p:nvGrpSpPr>
        <p:grpSpPr>
          <a:xfrm>
            <a:off x="7659214" y="3973720"/>
            <a:ext cx="2221904" cy="985465"/>
            <a:chOff x="4716016" y="3429000"/>
            <a:chExt cx="2736304" cy="985465"/>
          </a:xfrm>
        </p:grpSpPr>
        <p:sp>
          <p:nvSpPr>
            <p:cNvPr id="19" name="Rounded Rectangular Callout 18">
              <a:extLst>
                <a:ext uri="{FF2B5EF4-FFF2-40B4-BE49-F238E27FC236}">
                  <a16:creationId xmlns:a16="http://schemas.microsoft.com/office/drawing/2014/main" id="{6C9C01B6-E596-F447-B3B3-6F731C26136F}"/>
                </a:ext>
              </a:extLst>
            </p:cNvPr>
            <p:cNvSpPr/>
            <p:nvPr/>
          </p:nvSpPr>
          <p:spPr bwMode="auto">
            <a:xfrm>
              <a:off x="4716016" y="3429000"/>
              <a:ext cx="2736304" cy="985465"/>
            </a:xfrm>
            <a:prstGeom prst="wedgeRoundRectCallout">
              <a:avLst>
                <a:gd name="adj1" fmla="val -74280"/>
                <a:gd name="adj2" fmla="val -100960"/>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endParaRPr lang="en-US" sz="2400">
                <a:solidFill>
                  <a:srgbClr val="000000"/>
                </a:solidFill>
                <a:latin typeface="Tahoma" pitchFamily="34" charset="0"/>
                <a:cs typeface="Arial" charset="0"/>
              </a:endParaRPr>
            </a:p>
          </p:txBody>
        </p:sp>
        <p:sp>
          <p:nvSpPr>
            <p:cNvPr id="27" name="TextBox 26">
              <a:extLst>
                <a:ext uri="{FF2B5EF4-FFF2-40B4-BE49-F238E27FC236}">
                  <a16:creationId xmlns:a16="http://schemas.microsoft.com/office/drawing/2014/main" id="{33C5DE07-1A39-AB45-A557-AC9BDA3FAD33}"/>
                </a:ext>
              </a:extLst>
            </p:cNvPr>
            <p:cNvSpPr txBox="1"/>
            <p:nvPr/>
          </p:nvSpPr>
          <p:spPr>
            <a:xfrm>
              <a:off x="4716016" y="3523655"/>
              <a:ext cx="2736304" cy="769441"/>
            </a:xfrm>
            <a:prstGeom prst="rect">
              <a:avLst/>
            </a:prstGeom>
            <a:noFill/>
          </p:spPr>
          <p:txBody>
            <a:bodyPr wrap="square" rtlCol="0">
              <a:spAutoFit/>
            </a:bodyPr>
            <a:lstStyle/>
            <a:p>
              <a:pPr algn="ctr" fontAlgn="base">
                <a:spcBef>
                  <a:spcPct val="0"/>
                </a:spcBef>
                <a:spcAft>
                  <a:spcPct val="0"/>
                </a:spcAft>
              </a:pPr>
              <a:r>
                <a:rPr lang="en-US" sz="2200" dirty="0">
                  <a:solidFill>
                    <a:srgbClr val="FF0000"/>
                  </a:solidFill>
                  <a:latin typeface="Times New Roman"/>
                  <a:cs typeface="Arial" charset="0"/>
                </a:rPr>
                <a:t>Not an optimal solution</a:t>
              </a:r>
            </a:p>
          </p:txBody>
        </p:sp>
      </p:grpSp>
      <p:sp>
        <p:nvSpPr>
          <p:cNvPr id="15" name="Rounded Rectangular Callout 14">
            <a:extLst>
              <a:ext uri="{FF2B5EF4-FFF2-40B4-BE49-F238E27FC236}">
                <a16:creationId xmlns:a16="http://schemas.microsoft.com/office/drawing/2014/main" id="{9934A751-9A52-4E4B-963E-BCABB4BA95BD}"/>
              </a:ext>
            </a:extLst>
          </p:cNvPr>
          <p:cNvSpPr/>
          <p:nvPr/>
        </p:nvSpPr>
        <p:spPr bwMode="auto">
          <a:xfrm>
            <a:off x="2129327" y="5503049"/>
            <a:ext cx="2592288" cy="985465"/>
          </a:xfrm>
          <a:prstGeom prst="wedgeRoundRectCallout">
            <a:avLst>
              <a:gd name="adj1" fmla="val 46506"/>
              <a:gd name="adj2" fmla="val -81277"/>
              <a:gd name="adj3" fmla="val 16667"/>
            </a:avLst>
          </a:prstGeom>
          <a:noFill/>
          <a:ln w="25400" cap="flat" cmpd="sng" algn="ctr">
            <a:solidFill>
              <a:srgbClr val="16129E"/>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rgbClr val="0070C0"/>
              </a:solidFill>
              <a:effectLst/>
              <a:latin typeface="Tahoma" pitchFamily="34" charset="0"/>
            </a:endParaRP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CDD6485-2874-9940-A89B-CADBCD5150A9}"/>
                  </a:ext>
                </a:extLst>
              </p:cNvPr>
              <p:cNvSpPr/>
              <p:nvPr/>
            </p:nvSpPr>
            <p:spPr>
              <a:xfrm>
                <a:off x="2123929" y="5544614"/>
                <a:ext cx="2905269" cy="830997"/>
              </a:xfrm>
              <a:prstGeom prst="rect">
                <a:avLst/>
              </a:prstGeom>
            </p:spPr>
            <p:txBody>
              <a:bodyPr wrap="square">
                <a:spAutoFit/>
              </a:bodyPr>
              <a:lstStyle/>
              <a:p>
                <a:pPr fontAlgn="base">
                  <a:spcBef>
                    <a:spcPct val="0"/>
                  </a:spcBef>
                  <a:spcAft>
                    <a:spcPct val="0"/>
                  </a:spcAft>
                </a:pPr>
                <a:r>
                  <a:rPr lang="en-US" sz="2400" kern="0" dirty="0">
                    <a:solidFill>
                      <a:srgbClr val="0070C0"/>
                    </a:solidFill>
                    <a:latin typeface="Times New Roman"/>
                    <a:cs typeface="Arial"/>
                  </a:rPr>
                  <a:t>Optimal solution is</a:t>
                </a:r>
              </a:p>
              <a:p>
                <a:pPr fontAlgn="base">
                  <a:spcBef>
                    <a:spcPct val="0"/>
                  </a:spcBef>
                  <a:spcAft>
                    <a:spcPct val="0"/>
                  </a:spcAft>
                </a:pPr>
                <a14:m>
                  <m:oMathPara xmlns:m="http://schemas.openxmlformats.org/officeDocument/2006/math">
                    <m:oMathParaPr>
                      <m:jc m:val="left"/>
                    </m:oMathParaPr>
                    <m:oMath xmlns:m="http://schemas.openxmlformats.org/officeDocument/2006/math">
                      <m:r>
                        <a:rPr lang="en-US" sz="2400" i="1" kern="0" dirty="0">
                          <a:solidFill>
                            <a:srgbClr val="0000CC"/>
                          </a:solidFill>
                          <a:latin typeface="Cambria Math" panose="02040503050406030204" pitchFamily="18" charset="0"/>
                          <a:cs typeface="Arial"/>
                        </a:rPr>
                        <m:t>𝐴</m:t>
                      </m:r>
                      <m:r>
                        <a:rPr lang="en-US" sz="2400" i="1" kern="0" dirty="0">
                          <a:solidFill>
                            <a:srgbClr val="0000CC"/>
                          </a:solidFill>
                          <a:latin typeface="Cambria Math" panose="02040503050406030204" pitchFamily="18" charset="0"/>
                          <a:cs typeface="Arial"/>
                        </a:rPr>
                        <m:t> ={</m:t>
                      </m:r>
                      <m:sSub>
                        <m:sSubPr>
                          <m:ctrlPr>
                            <a:rPr lang="en-US" sz="2400" i="1" kern="0" dirty="0">
                              <a:solidFill>
                                <a:srgbClr val="0000CC"/>
                              </a:solidFill>
                              <a:latin typeface="Cambria Math" panose="02040503050406030204" pitchFamily="18" charset="0"/>
                              <a:cs typeface="Arial"/>
                            </a:rPr>
                          </m:ctrlPr>
                        </m:sSubPr>
                        <m:e>
                          <m:r>
                            <a:rPr lang="en-US" sz="2400" i="1" kern="0" dirty="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1</m:t>
                          </m:r>
                        </m:sub>
                      </m:sSub>
                      <m:r>
                        <a:rPr lang="en-US" sz="2400" i="1" kern="0" dirty="0">
                          <a:solidFill>
                            <a:srgbClr val="0000CC"/>
                          </a:solidFill>
                          <a:latin typeface="Cambria Math" panose="02040503050406030204" pitchFamily="18" charset="0"/>
                          <a:cs typeface="Arial"/>
                        </a:rPr>
                        <m:t>,</m:t>
                      </m:r>
                      <m:sSub>
                        <m:sSubPr>
                          <m:ctrlPr>
                            <a:rPr lang="en-US" sz="2400" i="1" kern="0" dirty="0">
                              <a:solidFill>
                                <a:srgbClr val="0000CC"/>
                              </a:solidFill>
                              <a:latin typeface="Cambria Math" panose="02040503050406030204" pitchFamily="18" charset="0"/>
                              <a:cs typeface="Arial"/>
                            </a:rPr>
                          </m:ctrlPr>
                        </m:sSubPr>
                        <m:e>
                          <m:r>
                            <a:rPr lang="en-US" sz="2400" i="1" kern="0" dirty="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3</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5</m:t>
                          </m:r>
                        </m:sub>
                      </m:sSub>
                      <m:r>
                        <a:rPr lang="en-US" sz="2400" b="0" i="1" kern="0" dirty="0" smtClean="0">
                          <a:solidFill>
                            <a:srgbClr val="0000CC"/>
                          </a:solidFill>
                          <a:latin typeface="Cambria Math" panose="02040503050406030204" pitchFamily="18" charset="0"/>
                          <a:cs typeface="Arial"/>
                        </a:rPr>
                        <m:t>,</m:t>
                      </m:r>
                      <m:sSub>
                        <m:sSubPr>
                          <m:ctrlPr>
                            <a:rPr lang="en-US" sz="2400" b="0" i="1" kern="0" dirty="0" smtClean="0">
                              <a:solidFill>
                                <a:srgbClr val="0000CC"/>
                              </a:solidFill>
                              <a:latin typeface="Cambria Math" panose="02040503050406030204" pitchFamily="18" charset="0"/>
                              <a:cs typeface="Arial"/>
                            </a:rPr>
                          </m:ctrlPr>
                        </m:sSubPr>
                        <m:e>
                          <m:r>
                            <a:rPr lang="en-US" sz="2400" b="0" i="1" kern="0" dirty="0" smtClean="0">
                              <a:solidFill>
                                <a:srgbClr val="0000CC"/>
                              </a:solidFill>
                              <a:latin typeface="Cambria Math" panose="02040503050406030204" pitchFamily="18" charset="0"/>
                              <a:cs typeface="Arial"/>
                            </a:rPr>
                            <m:t>𝑎</m:t>
                          </m:r>
                        </m:e>
                        <m:sub>
                          <m:r>
                            <a:rPr lang="en-US" sz="2400" b="0" i="1" kern="0" dirty="0" smtClean="0">
                              <a:solidFill>
                                <a:srgbClr val="0000CC"/>
                              </a:solidFill>
                              <a:latin typeface="Cambria Math" panose="02040503050406030204" pitchFamily="18" charset="0"/>
                              <a:cs typeface="Arial"/>
                            </a:rPr>
                            <m:t>6</m:t>
                          </m:r>
                        </m:sub>
                      </m:sSub>
                      <m:r>
                        <a:rPr lang="en-US" sz="2400" i="1" kern="0" dirty="0">
                          <a:solidFill>
                            <a:srgbClr val="0000CC"/>
                          </a:solidFill>
                          <a:latin typeface="Cambria Math" panose="02040503050406030204" pitchFamily="18" charset="0"/>
                          <a:cs typeface="Arial"/>
                        </a:rPr>
                        <m:t>}</m:t>
                      </m:r>
                    </m:oMath>
                  </m:oMathPara>
                </a14:m>
                <a:endParaRPr lang="en-US" sz="2400" dirty="0">
                  <a:solidFill>
                    <a:srgbClr val="000000"/>
                  </a:solidFill>
                  <a:latin typeface="Tahoma" pitchFamily="34" charset="0"/>
                  <a:cs typeface="Arial" charset="0"/>
                </a:endParaRPr>
              </a:p>
            </p:txBody>
          </p:sp>
        </mc:Choice>
        <mc:Fallback xmlns="">
          <p:sp>
            <p:nvSpPr>
              <p:cNvPr id="28" name="Rectangle 27">
                <a:extLst>
                  <a:ext uri="{FF2B5EF4-FFF2-40B4-BE49-F238E27FC236}">
                    <a16:creationId xmlns:a16="http://schemas.microsoft.com/office/drawing/2014/main" id="{0CDD6485-2874-9940-A89B-CADBCD5150A9}"/>
                  </a:ext>
                </a:extLst>
              </p:cNvPr>
              <p:cNvSpPr>
                <a:spLocks noRot="1" noChangeAspect="1" noMove="1" noResize="1" noEditPoints="1" noAdjustHandles="1" noChangeArrowheads="1" noChangeShapeType="1" noTextEdit="1"/>
              </p:cNvSpPr>
              <p:nvPr/>
            </p:nvSpPr>
            <p:spPr>
              <a:xfrm>
                <a:off x="2123929" y="5544614"/>
                <a:ext cx="2905269" cy="830997"/>
              </a:xfrm>
              <a:prstGeom prst="rect">
                <a:avLst/>
              </a:prstGeom>
              <a:blipFill>
                <a:blip r:embed="rId3"/>
                <a:stretch>
                  <a:fillRect l="-3493" t="-5970" b="-10448"/>
                </a:stretch>
              </a:blipFill>
            </p:spPr>
            <p:txBody>
              <a:bodyPr/>
              <a:lstStyle/>
              <a:p>
                <a:r>
                  <a:rPr lang="en-US">
                    <a:noFill/>
                  </a:rPr>
                  <a:t> </a:t>
                </a:r>
              </a:p>
            </p:txBody>
          </p:sp>
        </mc:Fallback>
      </mc:AlternateContent>
    </p:spTree>
    <p:extLst>
      <p:ext uri="{BB962C8B-B14F-4D97-AF65-F5344CB8AC3E}">
        <p14:creationId xmlns:p14="http://schemas.microsoft.com/office/powerpoint/2010/main" val="41822968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9A0D-9D99-994D-800A-6954271B496D}"/>
              </a:ext>
            </a:extLst>
          </p:cNvPr>
          <p:cNvSpPr>
            <a:spLocks noGrp="1"/>
          </p:cNvSpPr>
          <p:nvPr>
            <p:ph type="title"/>
          </p:nvPr>
        </p:nvSpPr>
        <p:spPr/>
        <p:txBody>
          <a:bodyPr/>
          <a:lstStyle/>
          <a:p>
            <a:r>
              <a:rPr lang="en-US" dirty="0"/>
              <a:t>Content Courtesy</a:t>
            </a:r>
          </a:p>
        </p:txBody>
      </p:sp>
      <p:sp>
        <p:nvSpPr>
          <p:cNvPr id="3" name="Content Placeholder 2">
            <a:extLst>
              <a:ext uri="{FF2B5EF4-FFF2-40B4-BE49-F238E27FC236}">
                <a16:creationId xmlns:a16="http://schemas.microsoft.com/office/drawing/2014/main" id="{280B3B19-E083-D341-903B-A1024A9DC968}"/>
              </a:ext>
            </a:extLst>
          </p:cNvPr>
          <p:cNvSpPr>
            <a:spLocks noGrp="1"/>
          </p:cNvSpPr>
          <p:nvPr>
            <p:ph idx="1"/>
          </p:nvPr>
        </p:nvSpPr>
        <p:spPr/>
        <p:txBody>
          <a:bodyPr/>
          <a:lstStyle/>
          <a:p>
            <a:r>
              <a:rPr lang="en-US" dirty="0"/>
              <a:t>Dr. Abul </a:t>
            </a:r>
            <a:r>
              <a:rPr lang="en-US" dirty="0" err="1"/>
              <a:t>Kashem</a:t>
            </a:r>
            <a:r>
              <a:rPr lang="en-US" dirty="0"/>
              <a:t> Mia, Professor, CSE, BUET</a:t>
            </a:r>
          </a:p>
          <a:p>
            <a:r>
              <a:rPr lang="en-US" dirty="0" err="1"/>
              <a:t>Sukarna</a:t>
            </a:r>
            <a:r>
              <a:rPr lang="en-US" dirty="0"/>
              <a:t> </a:t>
            </a:r>
            <a:r>
              <a:rPr lang="en-US" dirty="0" err="1"/>
              <a:t>Barua</a:t>
            </a:r>
            <a:r>
              <a:rPr lang="en-US" dirty="0"/>
              <a:t>, Assistant Professor, CSE, BUET</a:t>
            </a:r>
          </a:p>
        </p:txBody>
      </p:sp>
    </p:spTree>
    <p:extLst>
      <p:ext uri="{BB962C8B-B14F-4D97-AF65-F5344CB8AC3E}">
        <p14:creationId xmlns:p14="http://schemas.microsoft.com/office/powerpoint/2010/main" val="33619246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4069</TotalTime>
  <Words>2919</Words>
  <Application>Microsoft Macintosh PowerPoint</Application>
  <PresentationFormat>Widescreen</PresentationFormat>
  <Paragraphs>840</Paragraphs>
  <Slides>50</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50</vt:i4>
      </vt:variant>
    </vt:vector>
  </HeadingPairs>
  <TitlesOfParts>
    <vt:vector size="66" baseType="lpstr">
      <vt:lpstr>Angsana New</vt:lpstr>
      <vt:lpstr>Arial</vt:lpstr>
      <vt:lpstr>Calibri</vt:lpstr>
      <vt:lpstr>Cambria</vt:lpstr>
      <vt:lpstr>Cambria Math</vt:lpstr>
      <vt:lpstr>Consolas</vt:lpstr>
      <vt:lpstr>Courier New</vt:lpstr>
      <vt:lpstr>Rockwell</vt:lpstr>
      <vt:lpstr>Rockwell Condensed</vt:lpstr>
      <vt:lpstr>Rockwell Extra Bold</vt:lpstr>
      <vt:lpstr>Tahoma</vt:lpstr>
      <vt:lpstr>Times</vt:lpstr>
      <vt:lpstr>Times New Roman</vt:lpstr>
      <vt:lpstr>Times New Roman Bold Italic</vt:lpstr>
      <vt:lpstr>Wingdings</vt:lpstr>
      <vt:lpstr>Wood Type</vt:lpstr>
      <vt:lpstr>Greedy Algorithms</vt:lpstr>
      <vt:lpstr>Greedy</vt:lpstr>
      <vt:lpstr>Greedy Algorithm: Principles</vt:lpstr>
      <vt:lpstr>Do all problems have greedy algorithm? </vt:lpstr>
      <vt:lpstr>Do all problems have greedy algorithm? </vt:lpstr>
      <vt:lpstr>Activity Scheduling Problem</vt:lpstr>
      <vt:lpstr>Activity Scheduling Problem</vt:lpstr>
      <vt:lpstr>Activity Scheduling Problem</vt:lpstr>
      <vt:lpstr>Activity Scheduling Problem</vt:lpstr>
      <vt:lpstr>PowerPoint Presentation</vt:lpstr>
      <vt:lpstr>PowerPoint Presentation</vt:lpstr>
      <vt:lpstr>PowerPoint Presentation</vt:lpstr>
      <vt:lpstr>PowerPoint Presentation</vt:lpstr>
      <vt:lpstr>Activity Scheduling Problem</vt:lpstr>
      <vt:lpstr>Activity Scheduling Problem</vt:lpstr>
      <vt:lpstr>Activity Scheduling Problem</vt:lpstr>
      <vt:lpstr>Activity Scheduling: Early Finish Time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 Scheduling: Early Finish Time</vt:lpstr>
      <vt:lpstr>Activity Scheduling: Early Finish Time</vt:lpstr>
      <vt:lpstr>Activity Scheduling: Early Finish Time</vt:lpstr>
      <vt:lpstr>Activity Scheduling: Early Finish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Shortest interval</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Activity Scheduling: Early Start Time</vt:lpstr>
      <vt:lpstr>Content Courtesy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Divide and Conquer</dc:title>
  <dc:creator>T.M. Tariq  Adnan</dc:creator>
  <cp:lastModifiedBy>T.M. Tariq  Adnan</cp:lastModifiedBy>
  <cp:revision>8</cp:revision>
  <dcterms:created xsi:type="dcterms:W3CDTF">2022-01-16T09:32:07Z</dcterms:created>
  <dcterms:modified xsi:type="dcterms:W3CDTF">2022-01-24T06:04:19Z</dcterms:modified>
</cp:coreProperties>
</file>